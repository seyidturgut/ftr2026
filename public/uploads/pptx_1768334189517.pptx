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88"/>
  </p:notesMasterIdLst>
  <p:sldIdLst>
    <p:sldId id="256" r:id="rId2"/>
    <p:sldId id="384" r:id="rId3"/>
    <p:sldId id="385" r:id="rId4"/>
    <p:sldId id="386" r:id="rId5"/>
    <p:sldId id="449" r:id="rId6"/>
    <p:sldId id="450" r:id="rId7"/>
    <p:sldId id="451" r:id="rId8"/>
    <p:sldId id="387" r:id="rId9"/>
    <p:sldId id="448" r:id="rId10"/>
    <p:sldId id="452" r:id="rId11"/>
    <p:sldId id="435" r:id="rId12"/>
    <p:sldId id="388" r:id="rId13"/>
    <p:sldId id="389" r:id="rId14"/>
    <p:sldId id="436" r:id="rId15"/>
    <p:sldId id="392" r:id="rId16"/>
    <p:sldId id="471" r:id="rId17"/>
    <p:sldId id="391" r:id="rId18"/>
    <p:sldId id="393" r:id="rId19"/>
    <p:sldId id="390" r:id="rId20"/>
    <p:sldId id="394" r:id="rId21"/>
    <p:sldId id="395" r:id="rId22"/>
    <p:sldId id="472" r:id="rId23"/>
    <p:sldId id="473" r:id="rId24"/>
    <p:sldId id="474" r:id="rId25"/>
    <p:sldId id="475" r:id="rId26"/>
    <p:sldId id="476" r:id="rId27"/>
    <p:sldId id="477" r:id="rId28"/>
    <p:sldId id="478" r:id="rId29"/>
    <p:sldId id="479" r:id="rId30"/>
    <p:sldId id="480" r:id="rId31"/>
    <p:sldId id="481" r:id="rId32"/>
    <p:sldId id="482" r:id="rId33"/>
    <p:sldId id="483" r:id="rId34"/>
    <p:sldId id="484" r:id="rId35"/>
    <p:sldId id="485" r:id="rId36"/>
    <p:sldId id="486" r:id="rId37"/>
    <p:sldId id="487" r:id="rId38"/>
    <p:sldId id="488" r:id="rId39"/>
    <p:sldId id="489" r:id="rId40"/>
    <p:sldId id="441" r:id="rId41"/>
    <p:sldId id="490" r:id="rId42"/>
    <p:sldId id="491" r:id="rId43"/>
    <p:sldId id="492" r:id="rId44"/>
    <p:sldId id="493" r:id="rId45"/>
    <p:sldId id="494" r:id="rId46"/>
    <p:sldId id="495" r:id="rId47"/>
    <p:sldId id="496" r:id="rId48"/>
    <p:sldId id="497" r:id="rId49"/>
    <p:sldId id="498" r:id="rId50"/>
    <p:sldId id="499" r:id="rId51"/>
    <p:sldId id="500" r:id="rId52"/>
    <p:sldId id="501" r:id="rId53"/>
    <p:sldId id="502" r:id="rId54"/>
    <p:sldId id="503" r:id="rId55"/>
    <p:sldId id="504" r:id="rId56"/>
    <p:sldId id="505" r:id="rId57"/>
    <p:sldId id="507" r:id="rId58"/>
    <p:sldId id="506" r:id="rId59"/>
    <p:sldId id="508" r:id="rId60"/>
    <p:sldId id="509" r:id="rId61"/>
    <p:sldId id="510" r:id="rId62"/>
    <p:sldId id="511" r:id="rId63"/>
    <p:sldId id="512" r:id="rId64"/>
    <p:sldId id="445" r:id="rId65"/>
    <p:sldId id="513" r:id="rId66"/>
    <p:sldId id="514" r:id="rId67"/>
    <p:sldId id="515" r:id="rId68"/>
    <p:sldId id="516" r:id="rId69"/>
    <p:sldId id="517" r:id="rId70"/>
    <p:sldId id="518" r:id="rId71"/>
    <p:sldId id="519" r:id="rId72"/>
    <p:sldId id="520" r:id="rId73"/>
    <p:sldId id="521" r:id="rId74"/>
    <p:sldId id="522" r:id="rId75"/>
    <p:sldId id="523" r:id="rId76"/>
    <p:sldId id="524" r:id="rId77"/>
    <p:sldId id="469" r:id="rId78"/>
    <p:sldId id="428" r:id="rId79"/>
    <p:sldId id="429" r:id="rId80"/>
    <p:sldId id="431" r:id="rId81"/>
    <p:sldId id="432" r:id="rId82"/>
    <p:sldId id="430" r:id="rId83"/>
    <p:sldId id="433" r:id="rId84"/>
    <p:sldId id="464" r:id="rId85"/>
    <p:sldId id="525" r:id="rId86"/>
    <p:sldId id="526" r:id="rId87"/>
  </p:sldIdLst>
  <p:sldSz cx="9144000" cy="6858000" type="screen4x3"/>
  <p:notesSz cx="6858000" cy="9144000"/>
  <p:defaultTextStyle>
    <a:defPPr>
      <a:defRPr lang="tr-T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22A2F"/>
    <a:srgbClr val="EE5458"/>
    <a:srgbClr val="7759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66" autoAdjust="0"/>
    <p:restoredTop sz="86347" autoAdjust="0"/>
  </p:normalViewPr>
  <p:slideViewPr>
    <p:cSldViewPr>
      <p:cViewPr>
        <p:scale>
          <a:sx n="66" d="100"/>
          <a:sy n="66" d="100"/>
        </p:scale>
        <p:origin x="-1140" y="-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Üstbilgi Yer Tutucusu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DD9965B7-D964-42B8-BC5E-8B37A84E2B5D}" type="datetimeFigureOut">
              <a:rPr lang="tr-TR"/>
              <a:pPr>
                <a:defRPr/>
              </a:pPr>
              <a:t>14.02.2020</a:t>
            </a:fld>
            <a:endParaRPr lang="tr-TR"/>
          </a:p>
        </p:txBody>
      </p:sp>
      <p:sp>
        <p:nvSpPr>
          <p:cNvPr id="4" name="3 Slayt Görüntüsü Yer Tutucusu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tr-TR" noProof="0"/>
          </a:p>
        </p:txBody>
      </p:sp>
      <p:sp>
        <p:nvSpPr>
          <p:cNvPr id="5" name="4 Not Yer Tutucusu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tr-TR" noProof="0" smtClean="0"/>
              <a:t>Asıl metin stillerini düzenlemek için tıklatın</a:t>
            </a:r>
          </a:p>
          <a:p>
            <a:pPr lvl="1"/>
            <a:r>
              <a:rPr lang="tr-TR" noProof="0" smtClean="0"/>
              <a:t>İkinci düzey</a:t>
            </a:r>
          </a:p>
          <a:p>
            <a:pPr lvl="2"/>
            <a:r>
              <a:rPr lang="tr-TR" noProof="0" smtClean="0"/>
              <a:t>Üçüncü düzey</a:t>
            </a:r>
          </a:p>
          <a:p>
            <a:pPr lvl="3"/>
            <a:r>
              <a:rPr lang="tr-TR" noProof="0" smtClean="0"/>
              <a:t>Dördüncü düzey</a:t>
            </a:r>
          </a:p>
          <a:p>
            <a:pPr lvl="4"/>
            <a:r>
              <a:rPr lang="tr-TR" noProof="0" smtClean="0"/>
              <a:t>Beşinci düzey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43EDF0C-CF9E-4C06-8408-C4991466B145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417384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43EDF0C-CF9E-4C06-8408-C4991466B145}" type="slidenum">
              <a:rPr lang="tr-TR" smtClean="0"/>
              <a:pPr>
                <a:defRPr/>
              </a:pPr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68205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27584" y="5157192"/>
            <a:ext cx="7681913" cy="461665"/>
          </a:xfr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300"/>
              </a:spcBef>
              <a:buNone/>
              <a:defRPr sz="2700" b="1" baseline="0">
                <a:solidFill>
                  <a:schemeClr val="bg1">
                    <a:lumMod val="65000"/>
                    <a:lumOff val="35000"/>
                  </a:schemeClr>
                </a:solidFill>
                <a:latin typeface="+mj-lt"/>
                <a:ea typeface="Segoe UI" pitchFamily="34" charset="0"/>
                <a:cs typeface="Segoe UI" pitchFamily="34" charset="0"/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dirty="0" smtClean="0"/>
              <a:t>Yazar Adını Yazınız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323528" y="764704"/>
            <a:ext cx="8424936" cy="3600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>
              <a:lnSpc>
                <a:spcPct val="110000"/>
              </a:lnSpc>
              <a:defRPr sz="6600" b="1" baseline="0">
                <a:latin typeface="+mj-lt"/>
              </a:defRPr>
            </a:lvl1pPr>
          </a:lstStyle>
          <a:p>
            <a:r>
              <a:rPr lang="tr-TR" dirty="0" smtClean="0"/>
              <a:t>SEMİNER BAŞLIĞINI YAZINIZ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teratürKap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9552" y="6021288"/>
            <a:ext cx="8136904" cy="461665"/>
          </a:xfr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baseline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Segoe UI" pitchFamily="34" charset="0"/>
                <a:cs typeface="Segoe UI" pitchFamily="34" charset="0"/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dirty="0" smtClean="0"/>
              <a:t>Yazar Adını Yazın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539552" y="3789040"/>
            <a:ext cx="8136904" cy="136815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>
              <a:lnSpc>
                <a:spcPct val="90000"/>
              </a:lnSpc>
              <a:defRPr sz="4500" b="1">
                <a:latin typeface="+mj-lt"/>
              </a:defRPr>
            </a:lvl1pPr>
          </a:lstStyle>
          <a:p>
            <a:r>
              <a:rPr lang="tr-TR" dirty="0" smtClean="0"/>
              <a:t>Literatürün Adını Yazın</a:t>
            </a:r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85176" y="260647"/>
            <a:ext cx="7043208" cy="57606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ctr" defTabSz="91436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1" kern="1200" cap="none" spc="-150">
                <a:ln w="3175">
                  <a:solidFill>
                    <a:schemeClr val="bg2">
                      <a:lumMod val="75000"/>
                      <a:lumOff val="25000"/>
                      <a:alpha val="75000"/>
                    </a:schemeClr>
                  </a:solidFill>
                </a:ln>
                <a:gradFill flip="none" rotWithShape="1">
                  <a:gsLst>
                    <a:gs pos="0">
                      <a:schemeClr val="tx1"/>
                    </a:gs>
                    <a:gs pos="61000">
                      <a:schemeClr val="accent2">
                        <a:lumMod val="20000"/>
                        <a:lumOff val="80000"/>
                      </a:schemeClr>
                    </a:gs>
                    <a:gs pos="86000">
                      <a:schemeClr val="tx1"/>
                    </a:gs>
                  </a:gsLst>
                  <a:lin ang="5400000" scaled="0"/>
                  <a:tileRect/>
                </a:gradFill>
                <a:effectLst/>
                <a:latin typeface="Futura XBlk BT" pitchFamily="34" charset="0"/>
                <a:ea typeface="+mn-ea"/>
                <a:cs typeface="Arial" charset="0"/>
              </a:defRPr>
            </a:lvl1pPr>
          </a:lstStyle>
          <a:p>
            <a:r>
              <a:rPr lang="tr-TR" sz="5400" b="0" dirty="0" smtClean="0"/>
              <a:t>Literatür</a:t>
            </a:r>
            <a:endParaRPr lang="tr-TR" sz="5400" b="0" dirty="0"/>
          </a:p>
        </p:txBody>
      </p:sp>
    </p:spTree>
    <p:extLst>
      <p:ext uri="{BB962C8B-B14F-4D97-AF65-F5344CB8AC3E}">
        <p14:creationId xmlns:p14="http://schemas.microsoft.com/office/powerpoint/2010/main" val="16784431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1-01055_Templat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-955678" y="-99392"/>
            <a:ext cx="10099675" cy="75608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528" y="2420888"/>
            <a:ext cx="8175906" cy="152349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>
              <a:lnSpc>
                <a:spcPct val="90000"/>
              </a:lnSpc>
              <a:defRPr sz="66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5843" y="5373216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lang="en-US" sz="12000" b="1" kern="1200" spc="-770" dirty="0" smtClean="0">
                <a:ln w="11430">
                  <a:solidFill>
                    <a:schemeClr val="bg2">
                      <a:lumMod val="50000"/>
                      <a:lumOff val="50000"/>
                    </a:schemeClr>
                  </a:solidFill>
                </a:ln>
                <a:gradFill>
                  <a:gsLst>
                    <a:gs pos="0">
                      <a:schemeClr val="accent2">
                        <a:lumMod val="20000"/>
                        <a:lumOff val="80000"/>
                      </a:schemeClr>
                    </a:gs>
                    <a:gs pos="37000">
                      <a:schemeClr val="tx1"/>
                    </a:gs>
                    <a:gs pos="85000">
                      <a:srgbClr val="2D8499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marL="0" lvl="0" indent="0" algn="r" defTabSz="109537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Arial" pitchFamily="34" charset="0"/>
              <a:buNone/>
            </a:pPr>
            <a:r>
              <a:rPr lang="tr-TR" dirty="0" err="1" smtClean="0"/>
              <a:t>ftronline</a:t>
            </a:r>
            <a:r>
              <a:rPr lang="en-US" dirty="0" smtClean="0"/>
              <a:t>…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tr-TR" dirty="0" smtClean="0"/>
              <a:t>Asıl Başlık Stili İçin Tıklatın</a:t>
            </a:r>
            <a:endParaRPr lang="tr-TR" dirty="0"/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395536" y="1196752"/>
            <a:ext cx="8424936" cy="22380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spcBef>
                <a:spcPts val="1200"/>
              </a:spcBef>
              <a:defRPr/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 sz="2200"/>
            </a:lvl3pPr>
            <a:lvl4pPr>
              <a:defRPr sz="1900"/>
            </a:lvl4pPr>
            <a:lvl5pPr>
              <a:defRPr sz="1800"/>
            </a:lvl5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838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lasikdü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2114483"/>
            <a:ext cx="8382000" cy="2158027"/>
          </a:xfrm>
        </p:spPr>
        <p:txBody>
          <a:bodyPr/>
          <a:lstStyle>
            <a:lvl1pPr marL="360000" indent="-360000">
              <a:lnSpc>
                <a:spcPct val="100000"/>
              </a:lnSpc>
              <a:spcBef>
                <a:spcPts val="1200"/>
              </a:spcBef>
              <a:spcAft>
                <a:spcPts val="400"/>
              </a:spcAft>
              <a:defRPr sz="2600">
                <a:solidFill>
                  <a:schemeClr val="bg1"/>
                </a:solidFill>
                <a:latin typeface="+mj-lt"/>
              </a:defRPr>
            </a:lvl1pPr>
            <a:lvl2pPr marL="93600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defRPr sz="2400" b="0">
                <a:solidFill>
                  <a:schemeClr val="bg1"/>
                </a:solidFill>
                <a:latin typeface="+mj-lt"/>
              </a:defRPr>
            </a:lvl2pPr>
            <a:lvl3pPr marL="1332000">
              <a:lnSpc>
                <a:spcPct val="90000"/>
              </a:lnSpc>
              <a:spcBef>
                <a:spcPts val="700"/>
              </a:spcBef>
              <a:defRPr sz="2300" b="0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90000"/>
              </a:lnSpc>
              <a:spcBef>
                <a:spcPts val="700"/>
              </a:spcBef>
              <a:defRPr sz="2200" b="0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90000"/>
              </a:lnSpc>
              <a:spcBef>
                <a:spcPts val="700"/>
              </a:spcBef>
              <a:defRPr sz="21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nkl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476672"/>
            <a:ext cx="8382000" cy="55399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500" b="1">
                <a:latin typeface="+mj-lt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tr-TR" dirty="0" smtClean="0"/>
              <a:t>Asıl Başlık Stili İçin Tıklatın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2159566"/>
          </a:xfrm>
        </p:spPr>
        <p:txBody>
          <a:bodyPr/>
          <a:lstStyle>
            <a:lvl1pPr marL="360000" indent="-360000">
              <a:lnSpc>
                <a:spcPct val="100000"/>
              </a:lnSpc>
              <a:spcBef>
                <a:spcPts val="1400"/>
              </a:spcBef>
              <a:spcAft>
                <a:spcPts val="600"/>
              </a:spcAft>
              <a:defRPr sz="2700" b="1" i="1">
                <a:solidFill>
                  <a:schemeClr val="accent5">
                    <a:lumMod val="75000"/>
                  </a:schemeClr>
                </a:solidFill>
                <a:latin typeface="+mj-lt"/>
              </a:defRPr>
            </a:lvl1pPr>
            <a:lvl2pPr marL="936000"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defRPr sz="2400" b="0">
                <a:solidFill>
                  <a:schemeClr val="bg1"/>
                </a:solidFill>
                <a:latin typeface="+mj-lt"/>
              </a:defRPr>
            </a:lvl2pPr>
            <a:lvl3pPr marL="1332000">
              <a:lnSpc>
                <a:spcPct val="90000"/>
              </a:lnSpc>
              <a:spcBef>
                <a:spcPts val="700"/>
              </a:spcBef>
              <a:defRPr sz="2300" b="0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90000"/>
              </a:lnSpc>
              <a:spcBef>
                <a:spcPts val="700"/>
              </a:spcBef>
              <a:defRPr sz="2200" b="0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90000"/>
              </a:lnSpc>
              <a:spcBef>
                <a:spcPts val="700"/>
              </a:spcBef>
              <a:defRPr sz="20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002871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nkli YarıDo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1441474"/>
            <a:ext cx="8382000" cy="55399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500" b="1">
                <a:latin typeface="+mj-lt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tr-TR" dirty="0" smtClean="0"/>
              <a:t>Asıl Başlık Stili İçin Tıklatın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2376354"/>
            <a:ext cx="8382000" cy="2159566"/>
          </a:xfrm>
        </p:spPr>
        <p:txBody>
          <a:bodyPr/>
          <a:lstStyle>
            <a:lvl1pPr marL="360000" indent="-360000">
              <a:lnSpc>
                <a:spcPct val="100000"/>
              </a:lnSpc>
              <a:spcBef>
                <a:spcPts val="1400"/>
              </a:spcBef>
              <a:spcAft>
                <a:spcPts val="600"/>
              </a:spcAft>
              <a:defRPr sz="2700" b="1" i="1">
                <a:solidFill>
                  <a:schemeClr val="accent5">
                    <a:lumMod val="75000"/>
                  </a:schemeClr>
                </a:solidFill>
                <a:latin typeface="+mj-lt"/>
              </a:defRPr>
            </a:lvl1pPr>
            <a:lvl2pPr marL="936000"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defRPr sz="2400" b="0">
                <a:solidFill>
                  <a:schemeClr val="bg1"/>
                </a:solidFill>
                <a:latin typeface="+mj-lt"/>
              </a:defRPr>
            </a:lvl2pPr>
            <a:lvl3pPr marL="1332000">
              <a:lnSpc>
                <a:spcPct val="90000"/>
              </a:lnSpc>
              <a:spcBef>
                <a:spcPts val="700"/>
              </a:spcBef>
              <a:defRPr sz="2300" b="0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90000"/>
              </a:lnSpc>
              <a:spcBef>
                <a:spcPts val="700"/>
              </a:spcBef>
              <a:defRPr sz="2200" b="0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90000"/>
              </a:lnSpc>
              <a:spcBef>
                <a:spcPts val="700"/>
              </a:spcBef>
              <a:defRPr sz="20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229557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nkli YariDo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1441474"/>
            <a:ext cx="8382000" cy="55399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500" b="1">
                <a:latin typeface="+mj-lt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tr-TR" dirty="0" smtClean="0"/>
              <a:t>Asıl Başlık Stili İçin Tıklatın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2376354"/>
            <a:ext cx="8382000" cy="2159566"/>
          </a:xfrm>
        </p:spPr>
        <p:txBody>
          <a:bodyPr/>
          <a:lstStyle>
            <a:lvl1pPr marL="360000" indent="-360000">
              <a:lnSpc>
                <a:spcPct val="100000"/>
              </a:lnSpc>
              <a:spcBef>
                <a:spcPts val="1400"/>
              </a:spcBef>
              <a:spcAft>
                <a:spcPts val="600"/>
              </a:spcAft>
              <a:defRPr sz="2700" b="1" i="1">
                <a:solidFill>
                  <a:schemeClr val="accent5">
                    <a:lumMod val="75000"/>
                  </a:schemeClr>
                </a:solidFill>
                <a:latin typeface="+mj-lt"/>
              </a:defRPr>
            </a:lvl1pPr>
            <a:lvl2pPr marL="936000"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defRPr sz="2400" b="0">
                <a:solidFill>
                  <a:schemeClr val="bg1"/>
                </a:solidFill>
                <a:latin typeface="+mj-lt"/>
              </a:defRPr>
            </a:lvl2pPr>
            <a:lvl3pPr marL="1332000">
              <a:lnSpc>
                <a:spcPct val="90000"/>
              </a:lnSpc>
              <a:spcBef>
                <a:spcPts val="700"/>
              </a:spcBef>
              <a:defRPr sz="2300" b="0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90000"/>
              </a:lnSpc>
              <a:spcBef>
                <a:spcPts val="700"/>
              </a:spcBef>
              <a:defRPr sz="2200" b="0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90000"/>
              </a:lnSpc>
              <a:spcBef>
                <a:spcPts val="700"/>
              </a:spcBef>
              <a:defRPr sz="20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277544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rıDo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1488477"/>
            <a:ext cx="8382000" cy="55399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500" b="1">
                <a:latin typeface="+mj-lt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tr-TR" dirty="0" smtClean="0"/>
              <a:t>Asıl Başlık Stili İçin Tıklatın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95536" y="2258499"/>
            <a:ext cx="8382000" cy="2044149"/>
          </a:xfrm>
        </p:spPr>
        <p:txBody>
          <a:bodyPr/>
          <a:lstStyle>
            <a:lvl1pPr marL="360000" indent="-360000">
              <a:lnSpc>
                <a:spcPct val="100000"/>
              </a:lnSpc>
              <a:spcBef>
                <a:spcPts val="1400"/>
              </a:spcBef>
              <a:spcAft>
                <a:spcPts val="600"/>
              </a:spcAft>
              <a:defRPr sz="2500">
                <a:solidFill>
                  <a:schemeClr val="bg1"/>
                </a:solidFill>
                <a:latin typeface="+mj-lt"/>
              </a:defRPr>
            </a:lvl1pPr>
            <a:lvl2pPr marL="936000"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defRPr sz="2300" b="0">
                <a:solidFill>
                  <a:schemeClr val="bg1"/>
                </a:solidFill>
                <a:latin typeface="+mj-lt"/>
              </a:defRPr>
            </a:lvl2pPr>
            <a:lvl3pPr marL="1332000">
              <a:lnSpc>
                <a:spcPct val="90000"/>
              </a:lnSpc>
              <a:spcBef>
                <a:spcPts val="700"/>
              </a:spcBef>
              <a:defRPr sz="2200" b="0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90000"/>
              </a:lnSpc>
              <a:spcBef>
                <a:spcPts val="700"/>
              </a:spcBef>
              <a:defRPr sz="2000" b="0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90000"/>
              </a:lnSpc>
              <a:spcBef>
                <a:spcPts val="700"/>
              </a:spcBef>
              <a:defRPr sz="19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250396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282714"/>
            <a:ext cx="8382000" cy="55399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500">
                <a:latin typeface="+mj-lt"/>
              </a:defRPr>
            </a:lvl1pPr>
          </a:lstStyle>
          <a:p>
            <a:r>
              <a:rPr lang="tr-TR" dirty="0" smtClean="0"/>
              <a:t>Asıl Başlık Stili İçin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1553"/>
            <a:ext cx="4114800" cy="2262158"/>
          </a:xfrm>
        </p:spPr>
        <p:txBody>
          <a:bodyPr/>
          <a:lstStyle>
            <a:lvl1pPr marL="339976" indent="-339976">
              <a:lnSpc>
                <a:spcPct val="100000"/>
              </a:lnSpc>
              <a:spcBef>
                <a:spcPts val="1500"/>
              </a:spcBef>
              <a:defRPr sz="2200">
                <a:latin typeface="+mj-lt"/>
              </a:defRPr>
            </a:lvl1pPr>
            <a:lvl2pPr marL="673338" indent="-325424">
              <a:lnSpc>
                <a:spcPct val="90000"/>
              </a:lnSpc>
              <a:spcBef>
                <a:spcPts val="1200"/>
              </a:spcBef>
              <a:defRPr sz="2000">
                <a:latin typeface="+mj-lt"/>
              </a:defRPr>
            </a:lvl2pPr>
            <a:lvl3pPr marL="953785" indent="-288384">
              <a:lnSpc>
                <a:spcPct val="90000"/>
              </a:lnSpc>
              <a:spcBef>
                <a:spcPts val="1200"/>
              </a:spcBef>
              <a:defRPr sz="1800">
                <a:latin typeface="+mj-lt"/>
              </a:defRPr>
            </a:lvl3pPr>
            <a:lvl4pPr marL="1227618" indent="-273833">
              <a:lnSpc>
                <a:spcPct val="90000"/>
              </a:lnSpc>
              <a:spcBef>
                <a:spcPts val="1200"/>
              </a:spcBef>
              <a:defRPr sz="1600" b="0">
                <a:latin typeface="+mj-lt"/>
              </a:defRPr>
            </a:lvl4pPr>
            <a:lvl5pPr marL="1516002" indent="-280447">
              <a:lnSpc>
                <a:spcPct val="90000"/>
              </a:lnSpc>
              <a:spcBef>
                <a:spcPts val="1200"/>
              </a:spcBef>
              <a:defRPr sz="1600" b="0">
                <a:latin typeface="+mj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1553"/>
            <a:ext cx="4114800" cy="2262158"/>
          </a:xfrm>
        </p:spPr>
        <p:txBody>
          <a:bodyPr/>
          <a:lstStyle>
            <a:lvl1pPr marL="347914" indent="-347914">
              <a:lnSpc>
                <a:spcPct val="100000"/>
              </a:lnSpc>
              <a:spcBef>
                <a:spcPts val="1500"/>
              </a:spcBef>
              <a:defRPr sz="2200">
                <a:latin typeface="+mj-lt"/>
              </a:defRPr>
            </a:lvl1pPr>
            <a:lvl2pPr marL="673338" indent="-339976">
              <a:lnSpc>
                <a:spcPct val="90000"/>
              </a:lnSpc>
              <a:spcBef>
                <a:spcPts val="1200"/>
              </a:spcBef>
              <a:defRPr sz="2000">
                <a:latin typeface="+mj-lt"/>
              </a:defRPr>
            </a:lvl2pPr>
            <a:lvl3pPr marL="961722" indent="-302936">
              <a:lnSpc>
                <a:spcPct val="90000"/>
              </a:lnSpc>
              <a:spcBef>
                <a:spcPts val="1200"/>
              </a:spcBef>
              <a:defRPr sz="1800">
                <a:latin typeface="+mj-lt"/>
              </a:defRPr>
            </a:lvl3pPr>
            <a:lvl4pPr marL="1227618" indent="-265896">
              <a:lnSpc>
                <a:spcPct val="90000"/>
              </a:lnSpc>
              <a:spcBef>
                <a:spcPts val="1200"/>
              </a:spcBef>
              <a:defRPr sz="1600">
                <a:latin typeface="+mj-lt"/>
              </a:defRPr>
            </a:lvl4pPr>
            <a:lvl5pPr marL="1516002" indent="-273833">
              <a:lnSpc>
                <a:spcPct val="90000"/>
              </a:lnSpc>
              <a:spcBef>
                <a:spcPts val="1200"/>
              </a:spcBef>
              <a:defRPr sz="1600">
                <a:latin typeface="+mj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Sol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282714"/>
            <a:ext cx="8382000" cy="55399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500">
                <a:latin typeface="+mj-lt"/>
              </a:defRPr>
            </a:lvl1pPr>
          </a:lstStyle>
          <a:p>
            <a:r>
              <a:rPr lang="tr-TR" dirty="0" smtClean="0"/>
              <a:t>Asıl Başlık Stili İçin Tıklatın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3528" y="1340768"/>
            <a:ext cx="4191000" cy="2416046"/>
          </a:xfrm>
        </p:spPr>
        <p:txBody>
          <a:bodyPr/>
          <a:lstStyle>
            <a:lvl1pPr marL="347914" indent="-347914">
              <a:lnSpc>
                <a:spcPct val="90000"/>
              </a:lnSpc>
              <a:spcBef>
                <a:spcPts val="1200"/>
              </a:spcBef>
              <a:defRPr sz="2400">
                <a:latin typeface="+mj-lt"/>
              </a:defRPr>
            </a:lvl1pPr>
            <a:lvl2pPr marL="673338" indent="-339976">
              <a:lnSpc>
                <a:spcPct val="90000"/>
              </a:lnSpc>
              <a:spcBef>
                <a:spcPts val="1200"/>
              </a:spcBef>
              <a:defRPr sz="2300">
                <a:latin typeface="+mj-lt"/>
              </a:defRPr>
            </a:lvl2pPr>
            <a:lvl3pPr marL="961722" indent="-302936">
              <a:lnSpc>
                <a:spcPct val="90000"/>
              </a:lnSpc>
              <a:spcBef>
                <a:spcPts val="1200"/>
              </a:spcBef>
              <a:defRPr sz="2200">
                <a:latin typeface="+mj-lt"/>
              </a:defRPr>
            </a:lvl3pPr>
            <a:lvl4pPr marL="1227618" indent="-265896">
              <a:lnSpc>
                <a:spcPct val="90000"/>
              </a:lnSpc>
              <a:spcBef>
                <a:spcPts val="1200"/>
              </a:spcBef>
              <a:defRPr sz="2000">
                <a:latin typeface="+mj-lt"/>
              </a:defRPr>
            </a:lvl4pPr>
            <a:lvl5pPr marL="1516002" indent="-273833">
              <a:lnSpc>
                <a:spcPct val="90000"/>
              </a:lnSpc>
              <a:spcBef>
                <a:spcPts val="1200"/>
              </a:spcBef>
              <a:defRPr sz="1800">
                <a:latin typeface="+mj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114245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188640"/>
            <a:ext cx="8382000" cy="553998"/>
          </a:xfrm>
          <a:prstGeom prst="rect">
            <a:avLst/>
          </a:prstGeo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tr-TR" dirty="0" smtClean="0"/>
              <a:t>Asıl Başlık Stili İçin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268760"/>
            <a:ext cx="4114800" cy="581698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  <a:defRPr sz="2100" b="0">
                <a:latin typeface="+mj-lt"/>
              </a:defRPr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174875"/>
            <a:ext cx="4114800" cy="2579168"/>
          </a:xfrm>
        </p:spPr>
        <p:txBody>
          <a:bodyPr/>
          <a:lstStyle>
            <a:lvl1pPr marL="281770" indent="-281770">
              <a:spcBef>
                <a:spcPts val="1600"/>
              </a:spcBef>
              <a:defRPr sz="2100">
                <a:latin typeface="+mj-lt"/>
              </a:defRPr>
            </a:lvl1pPr>
            <a:lvl2pPr marL="562218" indent="-265896">
              <a:spcBef>
                <a:spcPts val="1200"/>
              </a:spcBef>
              <a:defRPr sz="2000">
                <a:latin typeface="+mj-lt"/>
              </a:defRPr>
            </a:lvl2pPr>
            <a:lvl3pPr marL="813562" indent="-243407">
              <a:spcBef>
                <a:spcPts val="1200"/>
              </a:spcBef>
              <a:defRPr sz="1800">
                <a:latin typeface="+mj-lt"/>
              </a:defRPr>
            </a:lvl3pPr>
            <a:lvl4pPr marL="1050354" indent="-228856">
              <a:spcBef>
                <a:spcPts val="1200"/>
              </a:spcBef>
              <a:defRPr sz="1800">
                <a:latin typeface="+mj-lt"/>
              </a:defRPr>
            </a:lvl4pPr>
            <a:lvl5pPr marL="1279210" indent="-206367">
              <a:spcBef>
                <a:spcPts val="1200"/>
              </a:spcBef>
              <a:defRPr sz="1800">
                <a:latin typeface="+mj-l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981" y="1268760"/>
            <a:ext cx="4117019" cy="581698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sz="2100" b="0">
                <a:latin typeface="+mj-lt"/>
              </a:defRPr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117974" cy="2579168"/>
          </a:xfrm>
        </p:spPr>
        <p:txBody>
          <a:bodyPr/>
          <a:lstStyle>
            <a:lvl1pPr marL="296321" indent="-296321">
              <a:spcBef>
                <a:spcPts val="1600"/>
              </a:spcBef>
              <a:defRPr sz="2100">
                <a:latin typeface="+mj-lt"/>
              </a:defRPr>
            </a:lvl1pPr>
            <a:lvl2pPr marL="570155" indent="-273833">
              <a:spcBef>
                <a:spcPts val="1200"/>
              </a:spcBef>
              <a:defRPr sz="2000">
                <a:latin typeface="+mj-lt"/>
              </a:defRPr>
            </a:lvl2pPr>
            <a:lvl3pPr marL="821499" indent="-244730">
              <a:spcBef>
                <a:spcPts val="1200"/>
              </a:spcBef>
              <a:defRPr sz="1800">
                <a:latin typeface="+mj-lt"/>
              </a:defRPr>
            </a:lvl3pPr>
            <a:lvl4pPr marL="1050354" indent="-236793">
              <a:spcBef>
                <a:spcPts val="1200"/>
              </a:spcBef>
              <a:defRPr sz="1800">
                <a:latin typeface="+mj-lt"/>
              </a:defRPr>
            </a:lvl4pPr>
            <a:lvl5pPr marL="1279210" indent="-220919">
              <a:spcBef>
                <a:spcPts val="1200"/>
              </a:spcBef>
              <a:defRPr sz="1800">
                <a:latin typeface="+mj-l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nSlay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260648"/>
            <a:ext cx="9144000" cy="6552728"/>
          </a:xfrm>
          <a:prstGeom prst="rect">
            <a:avLst/>
          </a:prstGeom>
        </p:spPr>
      </p:pic>
      <p:sp>
        <p:nvSpPr>
          <p:cNvPr id="4" name="Dikdörtgen 3"/>
          <p:cNvSpPr/>
          <p:nvPr/>
        </p:nvSpPr>
        <p:spPr>
          <a:xfrm>
            <a:off x="2843808" y="5085184"/>
            <a:ext cx="3384376" cy="1569660"/>
          </a:xfrm>
          <a:prstGeom prst="rect">
            <a:avLst/>
          </a:prstGeom>
          <a:noFill/>
          <a:effectLst>
            <a:outerShdw blurRad="330200" dist="38100" dir="192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tr-TR" sz="9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Exo 2 Extra Bold" pitchFamily="2" charset="-94"/>
              </a:rPr>
              <a:t>2020</a:t>
            </a:r>
            <a:endParaRPr lang="tr-TR" sz="96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Exo 2 Extra Bold" pitchFamily="2" charset="-94"/>
            </a:endParaRPr>
          </a:p>
        </p:txBody>
      </p:sp>
    </p:spTree>
    <p:extLst>
      <p:ext uri="{BB962C8B-B14F-4D97-AF65-F5344CB8AC3E}">
        <p14:creationId xmlns:p14="http://schemas.microsoft.com/office/powerpoint/2010/main" val="884600407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şekkürSlay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1-01055_Templat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-955675" y="1905000"/>
            <a:ext cx="10099675" cy="22816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55576" y="4365104"/>
            <a:ext cx="7992888" cy="152349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>
              <a:lnSpc>
                <a:spcPct val="90000"/>
              </a:lnSpc>
              <a:defRPr sz="6000" b="1" i="1">
                <a:solidFill>
                  <a:schemeClr val="bg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tr-TR" dirty="0" smtClean="0"/>
              <a:t>Sabrınız için teşekkürler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55576" y="2072174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lang="en-US" sz="12000" b="1" kern="1200" spc="-770" dirty="0" smtClean="0">
                <a:ln w="11430">
                  <a:solidFill>
                    <a:schemeClr val="bg2">
                      <a:lumMod val="50000"/>
                      <a:lumOff val="50000"/>
                    </a:schemeClr>
                  </a:solidFill>
                </a:ln>
                <a:gradFill>
                  <a:gsLst>
                    <a:gs pos="0">
                      <a:schemeClr val="accent2">
                        <a:lumMod val="20000"/>
                        <a:lumOff val="80000"/>
                      </a:schemeClr>
                    </a:gs>
                    <a:gs pos="37000">
                      <a:schemeClr val="tx1"/>
                    </a:gs>
                    <a:gs pos="85000">
                      <a:srgbClr val="2D8499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tr-TR" dirty="0" smtClean="0"/>
              <a:t>ftronline.com</a:t>
            </a:r>
            <a:endParaRPr lang="tr-TR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971600" y="548680"/>
            <a:ext cx="7043208" cy="15234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ctr" defTabSz="91436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b="1" kern="1200" cap="none" spc="-150">
                <a:ln w="3175">
                  <a:solidFill>
                    <a:schemeClr val="bg2">
                      <a:lumMod val="75000"/>
                      <a:lumOff val="25000"/>
                      <a:alpha val="75000"/>
                    </a:schemeClr>
                  </a:solidFill>
                </a:ln>
                <a:gradFill flip="none" rotWithShape="1">
                  <a:gsLst>
                    <a:gs pos="0">
                      <a:schemeClr val="tx1"/>
                    </a:gs>
                    <a:gs pos="61000">
                      <a:schemeClr val="accent2">
                        <a:lumMod val="20000"/>
                        <a:lumOff val="80000"/>
                      </a:schemeClr>
                    </a:gs>
                    <a:gs pos="86000">
                      <a:schemeClr val="tx1"/>
                    </a:gs>
                  </a:gsLst>
                  <a:lin ang="5400000" scaled="0"/>
                  <a:tileRect/>
                </a:gradFill>
                <a:effectLst>
                  <a:outerShdw blurRad="114300" dir="2700000" algn="tl" rotWithShape="0">
                    <a:prstClr val="black">
                      <a:alpha val="51000"/>
                    </a:prstClr>
                  </a:outerShdw>
                </a:effectLst>
                <a:latin typeface="+mj-lt"/>
                <a:ea typeface="+mn-ea"/>
                <a:cs typeface="Arial" charset="0"/>
              </a:defRPr>
            </a:lvl1pPr>
          </a:lstStyle>
          <a:p>
            <a:endParaRPr lang="tr-TR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187624" y="381506"/>
            <a:ext cx="7043208" cy="15234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ctr" defTabSz="91436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b="1" kern="1200" cap="none" spc="-150">
                <a:ln w="3175">
                  <a:solidFill>
                    <a:schemeClr val="bg2">
                      <a:lumMod val="75000"/>
                      <a:lumOff val="25000"/>
                      <a:alpha val="75000"/>
                    </a:schemeClr>
                  </a:solidFill>
                </a:ln>
                <a:gradFill flip="none" rotWithShape="1">
                  <a:gsLst>
                    <a:gs pos="0">
                      <a:schemeClr val="tx1"/>
                    </a:gs>
                    <a:gs pos="61000">
                      <a:schemeClr val="accent2">
                        <a:lumMod val="20000"/>
                        <a:lumOff val="80000"/>
                      </a:schemeClr>
                    </a:gs>
                    <a:gs pos="86000">
                      <a:schemeClr val="tx1"/>
                    </a:gs>
                  </a:gsLst>
                  <a:lin ang="5400000" scaled="0"/>
                  <a:tileRect/>
                </a:gradFill>
                <a:effectLst/>
                <a:latin typeface="+mj-lt"/>
                <a:ea typeface="+mn-ea"/>
                <a:cs typeface="Arial" charset="0"/>
              </a:defRPr>
            </a:lvl1pPr>
          </a:lstStyle>
          <a:p>
            <a:r>
              <a:rPr lang="tr-TR" sz="7200" b="0" dirty="0" smtClean="0">
                <a:latin typeface="Futura XBlk BT" panose="020B0903020204020204" pitchFamily="34" charset="0"/>
              </a:rPr>
              <a:t>Teşekkürler</a:t>
            </a:r>
            <a:endParaRPr lang="tr-TR" sz="7200" b="0" dirty="0">
              <a:latin typeface="Futura XBlk BT" panose="020B0903020204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5536" y="1224168"/>
            <a:ext cx="8424936" cy="23488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tr-TR" dirty="0" smtClean="0"/>
              <a:t>Asıl metin stillerini düzenlemek için tıklatın</a:t>
            </a:r>
          </a:p>
          <a:p>
            <a:pPr lvl="1"/>
            <a:r>
              <a:rPr lang="tr-TR" dirty="0" smtClean="0"/>
              <a:t>İkinci düzey</a:t>
            </a:r>
          </a:p>
          <a:p>
            <a:pPr lvl="2"/>
            <a:r>
              <a:rPr lang="tr-TR" dirty="0" smtClean="0"/>
              <a:t>Üçüncü düzey</a:t>
            </a:r>
          </a:p>
          <a:p>
            <a:pPr lvl="3"/>
            <a:r>
              <a:rPr lang="tr-TR" dirty="0" smtClean="0"/>
              <a:t>Dördüncü düzey</a:t>
            </a:r>
          </a:p>
          <a:p>
            <a:pPr lvl="4"/>
            <a:r>
              <a:rPr lang="tr-TR" dirty="0" smtClean="0"/>
              <a:t>Beşinci düzey</a:t>
            </a:r>
            <a:endParaRPr lang="en-US" dirty="0"/>
          </a:p>
        </p:txBody>
      </p:sp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tr-TR" dirty="0" smtClean="0"/>
              <a:t>Asıl Başlık Stili İçin Tıklatın</a:t>
            </a:r>
            <a:endParaRPr lang="tr-TR" dirty="0"/>
          </a:p>
        </p:txBody>
      </p:sp>
      <p:sp>
        <p:nvSpPr>
          <p:cNvPr id="4" name="Dikdörtgen 3"/>
          <p:cNvSpPr/>
          <p:nvPr/>
        </p:nvSpPr>
        <p:spPr bwMode="auto">
          <a:xfrm>
            <a:off x="179512" y="6552728"/>
            <a:ext cx="8784976" cy="332656"/>
          </a:xfrm>
          <a:prstGeom prst="rect">
            <a:avLst/>
          </a:prstGeom>
          <a:solidFill>
            <a:srgbClr val="FF7F00"/>
          </a:solidFill>
          <a:ln>
            <a:noFill/>
            <a:headEnd type="none" w="med" len="med"/>
            <a:tailEnd type="none" w="med" len="med"/>
          </a:ln>
          <a:effectLst>
            <a:glow>
              <a:schemeClr val="accent1">
                <a:alpha val="48000"/>
              </a:schemeClr>
            </a:glow>
            <a:outerShdw blurRad="50800" dist="38100" dir="16200000" rotWithShape="0">
              <a:prstClr val="black">
                <a:alpha val="40000"/>
              </a:prstClr>
            </a:outerShdw>
            <a:softEdge rad="12700"/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>
            <a:prstTxWarp prst="textNoShape">
              <a:avLst/>
            </a:prstTxWarp>
          </a:bodyPr>
          <a:lstStyle/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r>
              <a:rPr lang="tr-TR" sz="1800" spc="1000" baseline="0" dirty="0" smtClean="0">
                <a:solidFill>
                  <a:srgbClr val="FF962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www.ftronline.com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</p:sldLayoutIdLst>
  <p:transition>
    <p:fade/>
  </p:transition>
  <p:txStyles>
    <p:titleStyle>
      <a:lvl1pPr algn="ctr" defTabSz="914363" rtl="0" eaLnBrk="1" latinLnBrk="0" hangingPunct="1">
        <a:lnSpc>
          <a:spcPct val="90000"/>
        </a:lnSpc>
        <a:spcBef>
          <a:spcPct val="0"/>
        </a:spcBef>
        <a:buNone/>
        <a:defRPr lang="en-US" sz="3500" b="0" kern="1200" cap="none" spc="0" dirty="0">
          <a:ln>
            <a:noFill/>
          </a:ln>
          <a:solidFill>
            <a:schemeClr val="bg1">
              <a:lumMod val="85000"/>
              <a:lumOff val="15000"/>
            </a:schemeClr>
          </a:solidFill>
          <a:effectLst/>
          <a:latin typeface="+mj-lt"/>
          <a:ea typeface="Segoe UI" pitchFamily="34" charset="0"/>
          <a:cs typeface="Segoe UI" pitchFamily="34" charset="0"/>
        </a:defRPr>
      </a:lvl1pPr>
    </p:titleStyle>
    <p:bodyStyle>
      <a:lvl1pPr marL="396875" indent="-396875" algn="l" defTabSz="914363" rtl="0" eaLnBrk="1" latinLnBrk="0" hangingPunct="1">
        <a:lnSpc>
          <a:spcPct val="100000"/>
        </a:lnSpc>
        <a:spcBef>
          <a:spcPts val="1400"/>
        </a:spcBef>
        <a:spcAft>
          <a:spcPts val="600"/>
        </a:spcAft>
        <a:buFontTx/>
        <a:buBlip>
          <a:blip r:embed="rId17"/>
        </a:buBlip>
        <a:defRPr sz="2500" kern="1200">
          <a:solidFill>
            <a:schemeClr val="bg1"/>
          </a:solidFill>
          <a:latin typeface="+mj-lt"/>
          <a:ea typeface="+mn-ea"/>
          <a:cs typeface="+mn-cs"/>
        </a:defRPr>
      </a:lvl1pPr>
      <a:lvl2pPr marL="914400" indent="-396875" algn="l" defTabSz="914363" rtl="0" eaLnBrk="1" latinLnBrk="0" hangingPunct="1">
        <a:lnSpc>
          <a:spcPct val="100000"/>
        </a:lnSpc>
        <a:spcBef>
          <a:spcPts val="800"/>
        </a:spcBef>
        <a:spcAft>
          <a:spcPts val="200"/>
        </a:spcAft>
        <a:buFontTx/>
        <a:buBlip>
          <a:blip r:embed="rId17"/>
        </a:buBlip>
        <a:defRPr sz="2400" kern="1200">
          <a:solidFill>
            <a:schemeClr val="bg1"/>
          </a:solidFill>
          <a:latin typeface="+mj-lt"/>
          <a:ea typeface="+mn-ea"/>
          <a:cs typeface="+mn-cs"/>
        </a:defRPr>
      </a:lvl2pPr>
      <a:lvl3pPr marL="1258888" indent="-344488" algn="l" defTabSz="914363" rtl="0" eaLnBrk="1" latinLnBrk="0" hangingPunct="1">
        <a:lnSpc>
          <a:spcPct val="100000"/>
        </a:lnSpc>
        <a:spcBef>
          <a:spcPts val="800"/>
        </a:spcBef>
        <a:buFontTx/>
        <a:buBlip>
          <a:blip r:embed="rId17"/>
        </a:buBlip>
        <a:defRPr sz="2300" kern="1200">
          <a:solidFill>
            <a:schemeClr val="bg1"/>
          </a:solidFill>
          <a:latin typeface="+mj-lt"/>
          <a:ea typeface="+mn-ea"/>
          <a:cs typeface="+mn-cs"/>
        </a:defRPr>
      </a:lvl3pPr>
      <a:lvl4pPr marL="1604963" indent="-346075" algn="l" defTabSz="914363" rtl="0" eaLnBrk="1" latinLnBrk="0" hangingPunct="1">
        <a:lnSpc>
          <a:spcPct val="110000"/>
        </a:lnSpc>
        <a:spcBef>
          <a:spcPts val="700"/>
        </a:spcBef>
        <a:buFontTx/>
        <a:buBlip>
          <a:blip r:embed="rId17"/>
        </a:buBlip>
        <a:defRPr sz="2100" kern="1200">
          <a:solidFill>
            <a:schemeClr val="bg1"/>
          </a:solidFill>
          <a:latin typeface="+mj-lt"/>
          <a:ea typeface="+mn-ea"/>
          <a:cs typeface="+mn-cs"/>
        </a:defRPr>
      </a:lvl4pPr>
      <a:lvl5pPr marL="1941513" indent="-336550" algn="l" defTabSz="914363" rtl="0" eaLnBrk="1" latinLnBrk="0" hangingPunct="1">
        <a:lnSpc>
          <a:spcPct val="110000"/>
        </a:lnSpc>
        <a:spcBef>
          <a:spcPts val="700"/>
        </a:spcBef>
        <a:buFontTx/>
        <a:buBlip>
          <a:blip r:embed="rId17"/>
        </a:buBlip>
        <a:defRPr sz="2000" kern="1200">
          <a:solidFill>
            <a:schemeClr val="bg1"/>
          </a:solidFill>
          <a:latin typeface="+mj-lt"/>
          <a:ea typeface="+mn-ea"/>
          <a:cs typeface="+mn-cs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2 Alt Başlık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sz="2400" dirty="0" smtClean="0"/>
              <a:t>Hazırlayan: </a:t>
            </a:r>
            <a:r>
              <a:rPr lang="tr-TR" dirty="0" smtClean="0"/>
              <a:t>Dr. Salim Mısırcı </a:t>
            </a:r>
            <a:r>
              <a:rPr lang="tr-TR" sz="2400" dirty="0" smtClean="0"/>
              <a:t>2019</a:t>
            </a:r>
            <a:endParaRPr lang="tr-TR" dirty="0" smtClean="0"/>
          </a:p>
        </p:txBody>
      </p:sp>
      <p:sp>
        <p:nvSpPr>
          <p:cNvPr id="17409" name="1 Başlık"/>
          <p:cNvSpPr>
            <a:spLocks noGrp="1"/>
          </p:cNvSpPr>
          <p:nvPr>
            <p:ph type="ctrTitle"/>
          </p:nvPr>
        </p:nvSpPr>
        <p:spPr>
          <a:xfrm>
            <a:off x="539552" y="2780928"/>
            <a:ext cx="8136904" cy="1368152"/>
          </a:xfrm>
        </p:spPr>
        <p:txBody>
          <a:bodyPr/>
          <a:lstStyle/>
          <a:p>
            <a:r>
              <a:rPr lang="tr-TR" sz="11500" dirty="0" smtClean="0"/>
              <a:t>SLE EULAR 2019 Önerileri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 smtClean="0"/>
          </a:p>
        </p:txBody>
      </p:sp>
      <p:pic>
        <p:nvPicPr>
          <p:cNvPr id="1026" name="Picture 2" descr="C:\Users\M\Desktop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836712"/>
            <a:ext cx="8656170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Giriş</a:t>
            </a:r>
          </a:p>
        </p:txBody>
      </p:sp>
      <p:sp>
        <p:nvSpPr>
          <p:cNvPr id="19458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1552"/>
            <a:ext cx="8382000" cy="4924425"/>
          </a:xfrm>
        </p:spPr>
        <p:txBody>
          <a:bodyPr/>
          <a:lstStyle/>
          <a:p>
            <a:r>
              <a:rPr lang="tr-TR" dirty="0" smtClean="0"/>
              <a:t>SLE değişken klinik bulguları, seyri ve prognozu olan bir hastalıktır.</a:t>
            </a:r>
          </a:p>
          <a:p>
            <a:r>
              <a:rPr lang="tr-TR" dirty="0" smtClean="0"/>
              <a:t>SLE ile ilgili ilk EULAR önerileri 2008 yılında yayınlanmıştır.</a:t>
            </a:r>
          </a:p>
          <a:p>
            <a:r>
              <a:rPr lang="tr-TR" dirty="0" smtClean="0"/>
              <a:t>Daha sonraki süreçlerde </a:t>
            </a:r>
            <a:r>
              <a:rPr lang="tr-TR" dirty="0" smtClean="0">
                <a:solidFill>
                  <a:srgbClr val="FF0000"/>
                </a:solidFill>
              </a:rPr>
              <a:t>gebelik döneminde takip, böbrek tutulumunun izlenmesi ve nöropsikiyatrik tutulumlarla ilgili </a:t>
            </a:r>
            <a:r>
              <a:rPr lang="tr-TR" dirty="0" smtClean="0"/>
              <a:t>yeni veriler ortaya çıkmıştır.</a:t>
            </a:r>
          </a:p>
          <a:p>
            <a:r>
              <a:rPr lang="tr-TR" dirty="0" smtClean="0"/>
              <a:t>Yeni yayınlarla birlikte </a:t>
            </a:r>
            <a:r>
              <a:rPr lang="tr-TR" dirty="0" smtClean="0">
                <a:solidFill>
                  <a:srgbClr val="FF0000"/>
                </a:solidFill>
              </a:rPr>
              <a:t>yeni glukokortikoid rejimleri , lupus nefritinde  kalsinörin inhibitörlerinin kullanımı ve biyolojik tedavilerin onaylanması </a:t>
            </a:r>
            <a:r>
              <a:rPr lang="tr-TR" dirty="0" smtClean="0"/>
              <a:t>ve kullanımı nedeniyle önceki önerilerin deneyimlerinden faydalanarak, SLE için EULAR önerilerinin güncellenmesi planlanmıştır.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Metot</a:t>
            </a:r>
            <a:endParaRPr lang="tr-TR" dirty="0" smtClean="0"/>
          </a:p>
        </p:txBody>
      </p:sp>
      <p:sp>
        <p:nvSpPr>
          <p:cNvPr id="20482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1552"/>
            <a:ext cx="8382000" cy="3154710"/>
          </a:xfrm>
        </p:spPr>
        <p:txBody>
          <a:bodyPr/>
          <a:lstStyle/>
          <a:p>
            <a:r>
              <a:rPr lang="tr-TR" dirty="0" smtClean="0"/>
              <a:t>PubMed 2007-2017 arasındaki tüm </a:t>
            </a:r>
            <a:r>
              <a:rPr lang="tr-TR" dirty="0" smtClean="0"/>
              <a:t>İngilizce </a:t>
            </a:r>
            <a:r>
              <a:rPr lang="tr-TR" dirty="0" smtClean="0"/>
              <a:t>yayınlar taranmıştır.(cilt hastalıkları tedavisi ve 2012-2017 lupus nefriti konuları dışında)</a:t>
            </a:r>
          </a:p>
          <a:p>
            <a:endParaRPr lang="tr-TR" dirty="0" smtClean="0"/>
          </a:p>
          <a:p>
            <a:r>
              <a:rPr lang="tr-TR" dirty="0" smtClean="0"/>
              <a:t>Son değerlendirme </a:t>
            </a:r>
            <a:r>
              <a:rPr lang="tr-TR" dirty="0" smtClean="0">
                <a:solidFill>
                  <a:srgbClr val="FF0000"/>
                </a:solidFill>
              </a:rPr>
              <a:t>olarak tedavi amaçları, SLE tedavisi, özel durumlar ve komorbiditeler olarak 4 alt gruba ayrılan 33 durum</a:t>
            </a:r>
            <a:r>
              <a:rPr lang="tr-TR" dirty="0" smtClean="0"/>
              <a:t> konusunda değerlendirmede bulunulmuş.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 smtClean="0"/>
          </a:p>
        </p:txBody>
      </p:sp>
      <p:pic>
        <p:nvPicPr>
          <p:cNvPr id="2050" name="Picture 2" descr="C:\Users\M\Desktop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332656"/>
            <a:ext cx="9048292" cy="5688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 smtClean="0"/>
          </a:p>
        </p:txBody>
      </p:sp>
      <p:pic>
        <p:nvPicPr>
          <p:cNvPr id="3074" name="Picture 2" descr="C:\Users\M\Desktop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62469"/>
            <a:ext cx="8842585" cy="5358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 smtClean="0"/>
          </a:p>
        </p:txBody>
      </p:sp>
      <p:pic>
        <p:nvPicPr>
          <p:cNvPr id="4098" name="Picture 2" descr="C:\Users\M\Desktop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764704"/>
            <a:ext cx="9135010" cy="489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Tartışma Ve Sonuç</a:t>
            </a:r>
          </a:p>
        </p:txBody>
      </p:sp>
      <p:sp>
        <p:nvSpPr>
          <p:cNvPr id="2" name="Metin Yer Tutucusu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122" name="Picture 2" descr="C:\Users\M\Desktop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72" y="1268760"/>
            <a:ext cx="8923424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Genel İlkeler</a:t>
            </a:r>
          </a:p>
        </p:txBody>
      </p:sp>
      <p:sp>
        <p:nvSpPr>
          <p:cNvPr id="25602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1552"/>
            <a:ext cx="8382000" cy="2990562"/>
          </a:xfrm>
        </p:spPr>
        <p:txBody>
          <a:bodyPr/>
          <a:lstStyle/>
          <a:p>
            <a:r>
              <a:rPr lang="tr-TR" dirty="0" smtClean="0"/>
              <a:t>SLE, karakteristik serolojik anormalliklerin varlığında klinik bulgularla teşhis edilen, bazen bir veya birkaç organla sınırlı, multisistemik bir hastalıktır. </a:t>
            </a:r>
          </a:p>
          <a:p>
            <a:endParaRPr lang="tr-TR" dirty="0" smtClean="0"/>
          </a:p>
          <a:p>
            <a:r>
              <a:rPr lang="tr-TR" dirty="0" smtClean="0"/>
              <a:t>SLE bakımı, bireysel, tıbbi ve sosyal maliyetleri göz önünde bulundurularak hasta ve doktorun ortak kararına dayanan multidisipliner bir yapıdan oluşmaktadır.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Genel İlkeler</a:t>
            </a:r>
          </a:p>
        </p:txBody>
      </p:sp>
      <p:sp>
        <p:nvSpPr>
          <p:cNvPr id="26626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1552"/>
            <a:ext cx="8382000" cy="4308872"/>
          </a:xfrm>
        </p:spPr>
        <p:txBody>
          <a:bodyPr/>
          <a:lstStyle/>
          <a:p>
            <a:r>
              <a:rPr lang="tr-TR" dirty="0" smtClean="0"/>
              <a:t>Organ tehdit edici / hayati tehlike içeren SLE tedavisinde, hastalık aktivitesini kontrol etmek için yüksek yoğunluklu immünosüpresif bir tedaviyi içeren başlangıç ​​dönemini uzun vadede tedaviye yanıtı pekiştirmek ve tekrarları önlemek için daha az yoğunluktaki immünosüpresif tedavi takip eder.</a:t>
            </a:r>
          </a:p>
          <a:p>
            <a:endParaRPr lang="tr-TR" dirty="0" smtClean="0"/>
          </a:p>
          <a:p>
            <a:r>
              <a:rPr lang="tr-TR" dirty="0" smtClean="0"/>
              <a:t>Tedavi hedefleri arasında uzun süreli hasta sağ kalımı, organ hasarının önlenmesi ve sağlıkla ilişkili yaşam kalitesinin iyileştirilmesi yer almaktadır.</a:t>
            </a:r>
          </a:p>
          <a:p>
            <a:endParaRPr lang="tr-TR" dirty="0" smtClean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Genel İlkeler Açıklamalar</a:t>
            </a:r>
          </a:p>
        </p:txBody>
      </p:sp>
      <p:sp>
        <p:nvSpPr>
          <p:cNvPr id="27650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1552"/>
            <a:ext cx="8382000" cy="3344505"/>
          </a:xfrm>
        </p:spPr>
        <p:txBody>
          <a:bodyPr/>
          <a:lstStyle/>
          <a:p>
            <a:r>
              <a:rPr lang="tr-TR" dirty="0" smtClean="0"/>
              <a:t>SLE, genellikle çoklu sistem olmakla birlikte, bazen birkaç veya tek bir organla sınırlı olan tutulumları nedeniyle  bazı klinisyenler tanı koymak ve tanı sonrası takipler açısından serolojik otoimmünite belirteçlerine odaklanmaktadırlar.</a:t>
            </a:r>
          </a:p>
          <a:p>
            <a:endParaRPr lang="tr-TR" dirty="0" smtClean="0"/>
          </a:p>
          <a:p>
            <a:r>
              <a:rPr lang="tr-TR" dirty="0" smtClean="0"/>
              <a:t>SLE tanı ve takibinde doktorun genel değerlendirmesi de dahil olmak üzere, onaylanmış hastalık aktivitesi ve </a:t>
            </a:r>
            <a:r>
              <a:rPr lang="tr-TR" dirty="0" err="1" smtClean="0"/>
              <a:t>kroniklik</a:t>
            </a:r>
            <a:r>
              <a:rPr lang="tr-TR" dirty="0" smtClean="0"/>
              <a:t> endeksleri yoluyla izlenmesi önerilmektedir. 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Genel İlkeler Açıklamalar </a:t>
            </a:r>
            <a:br>
              <a:rPr lang="tr-TR" smtClean="0"/>
            </a:br>
            <a:endParaRPr lang="tr-TR" smtClean="0"/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395536" y="2258499"/>
            <a:ext cx="8382000" cy="2282676"/>
          </a:xfrm>
        </p:spPr>
        <p:txBody>
          <a:bodyPr/>
          <a:lstStyle/>
          <a:p>
            <a:r>
              <a:rPr lang="tr-TR" dirty="0" smtClean="0"/>
              <a:t>Şiddetli hastalığı olan hastalar için, özel lupus merkezlerinde multidisipliner tedavi önerilmektedir. </a:t>
            </a:r>
          </a:p>
          <a:p>
            <a:endParaRPr lang="tr-TR" dirty="0" smtClean="0"/>
          </a:p>
          <a:p>
            <a:r>
              <a:rPr lang="tr-TR" dirty="0" smtClean="0"/>
              <a:t>İmmünosüpresif  tedavi (remisyonun indüksiyonu ve bakımı için) organı tehdit eden lupusta endikedir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1. Tedavinin hedefleri</a:t>
            </a:r>
          </a:p>
        </p:txBody>
      </p:sp>
      <p:sp>
        <p:nvSpPr>
          <p:cNvPr id="29698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tr-TR" smtClean="0"/>
              <a:t>SLE'deki tedavi, remisyon veya düşük hastalık aktivitesini (2b / B) ve olası en düşük glukokortikoid dozu ile tüm organlardaki alevlenmelerin (2b / B) önlenmesini hedeflemelidir. </a:t>
            </a:r>
          </a:p>
          <a:p>
            <a:endParaRPr lang="tr-TR" smtClean="0"/>
          </a:p>
          <a:p>
            <a:r>
              <a:rPr lang="tr-TR" smtClean="0"/>
              <a:t>SLE alevlenmeleri, organ / organların ciddiyetine göre devam eden tedavileri (glukokortikoidler, immüno-modüle edici ajanlar) daha yüksek dozlara ayarlayarak, değiştirerek veya yeni tedaviler ekleyerek (2b / C) tedavi edilebilir. 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1. Tedavinin hedefleri</a:t>
            </a:r>
            <a:br>
              <a:rPr lang="tr-TR" dirty="0" smtClean="0"/>
            </a:br>
            <a:r>
              <a:rPr lang="tr-TR" dirty="0" smtClean="0"/>
              <a:t>açıklamalar</a:t>
            </a:r>
          </a:p>
        </p:txBody>
      </p:sp>
      <p:sp>
        <p:nvSpPr>
          <p:cNvPr id="3072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tr-TR" dirty="0" smtClean="0"/>
          </a:p>
          <a:p>
            <a:r>
              <a:rPr lang="tr-TR" dirty="0" smtClean="0"/>
              <a:t>Uzun vadeli SLE yönetiminde amaç, hastalık semptomlarının ve belirtilerinin </a:t>
            </a:r>
            <a:r>
              <a:rPr lang="tr-TR" dirty="0" err="1" smtClean="0"/>
              <a:t>remisyonunu</a:t>
            </a:r>
            <a:r>
              <a:rPr lang="tr-TR" dirty="0" smtClean="0"/>
              <a:t>, olası hastalığa bağlı gelişebilecek hasarların önlenmesini, ilaç yan etkilerinin en aza indirilmesini ve yaşam kalitesinin iyileştirilmesi olmalıdır.</a:t>
            </a:r>
          </a:p>
          <a:p>
            <a:endParaRPr lang="tr-TR" dirty="0" smtClean="0"/>
          </a:p>
          <a:p>
            <a:r>
              <a:rPr lang="tr-TR" dirty="0" smtClean="0"/>
              <a:t>Tam remisyon (GC ve IS ilaç kullanmadan klinik aktivite olmaması) nadirdir.</a:t>
            </a:r>
          </a:p>
          <a:p>
            <a:endParaRPr lang="tr-TR" dirty="0" smtClean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1. Tedavinin hedefleri</a:t>
            </a:r>
            <a:br>
              <a:rPr lang="tr-TR" dirty="0" smtClean="0"/>
            </a:br>
            <a:r>
              <a:rPr lang="tr-TR" dirty="0" smtClean="0"/>
              <a:t>açıklamalar</a:t>
            </a:r>
          </a:p>
        </p:txBody>
      </p:sp>
      <p:sp>
        <p:nvSpPr>
          <p:cNvPr id="3174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tr-TR" smtClean="0"/>
              <a:t>Bu amaçla, yeni tanımlanmış düşük hastalık aktivitesi durumlarına odaklanılması, tahmin edilen hasarların durdurulması ve alevlenmelerin önlenmesinin daha uygun olacağı ifade edilmiştir.</a:t>
            </a:r>
          </a:p>
          <a:p>
            <a:endParaRPr lang="tr-TR" smtClean="0"/>
          </a:p>
          <a:p>
            <a:r>
              <a:rPr lang="tr-TR" smtClean="0"/>
              <a:t>Buna göre, SLE deki tedavi remisyonu hedeflemeli veya bu duruma ulaşılamazsa, tüm organ sistemlerinde düşük hastalık aktivitesini hedeflemelidir.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aşlık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tr-TR" dirty="0" smtClean="0"/>
              <a:t>LLDA Tanımı:</a:t>
            </a:r>
          </a:p>
          <a:p>
            <a:pPr lvl="1"/>
            <a:r>
              <a:rPr lang="tr-TR" dirty="0" smtClean="0"/>
              <a:t>SLEDAİ-2K≤4</a:t>
            </a:r>
          </a:p>
          <a:p>
            <a:pPr lvl="1"/>
            <a:r>
              <a:rPr lang="tr-TR" dirty="0" smtClean="0"/>
              <a:t>Majör organ aktivitesi veya alevlenme olmaması</a:t>
            </a:r>
          </a:p>
          <a:p>
            <a:pPr lvl="1"/>
            <a:r>
              <a:rPr lang="tr-TR" dirty="0" smtClean="0"/>
              <a:t>PGA≤1</a:t>
            </a:r>
          </a:p>
          <a:p>
            <a:pPr lvl="1"/>
            <a:r>
              <a:rPr lang="tr-TR" dirty="0" smtClean="0"/>
              <a:t>Prednisone≤7.5 </a:t>
            </a:r>
            <a:r>
              <a:rPr lang="tr-TR" dirty="0" err="1" smtClean="0"/>
              <a:t>mgr</a:t>
            </a:r>
            <a:r>
              <a:rPr lang="tr-TR" dirty="0" smtClean="0"/>
              <a:t>/gün</a:t>
            </a:r>
          </a:p>
          <a:p>
            <a:pPr lvl="1"/>
            <a:r>
              <a:rPr lang="tr-TR" dirty="0" smtClean="0"/>
              <a:t>İyi tolere edilen immünosüpresif tedavi ve biyolojik kullanımı</a:t>
            </a:r>
          </a:p>
          <a:p>
            <a:pPr lvl="1"/>
            <a:r>
              <a:rPr lang="tr-TR" dirty="0" smtClean="0"/>
              <a:t>&gt;12 ay</a:t>
            </a:r>
          </a:p>
        </p:txBody>
      </p:sp>
      <p:sp>
        <p:nvSpPr>
          <p:cNvPr id="10" name="Dikdörtgen 9"/>
          <p:cNvSpPr/>
          <p:nvPr/>
        </p:nvSpPr>
        <p:spPr>
          <a:xfrm>
            <a:off x="179512" y="5460220"/>
            <a:ext cx="882047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600" dirty="0" err="1">
                <a:latin typeface="+mj-lt"/>
              </a:rPr>
              <a:t>Ann</a:t>
            </a:r>
            <a:r>
              <a:rPr lang="tr-TR" sz="1600" dirty="0">
                <a:latin typeface="+mj-lt"/>
              </a:rPr>
              <a:t> </a:t>
            </a:r>
            <a:r>
              <a:rPr lang="tr-TR" sz="1600" dirty="0" err="1">
                <a:latin typeface="+mj-lt"/>
              </a:rPr>
              <a:t>Rheum</a:t>
            </a:r>
            <a:r>
              <a:rPr lang="tr-TR" sz="1600" dirty="0">
                <a:latin typeface="+mj-lt"/>
              </a:rPr>
              <a:t> </a:t>
            </a:r>
            <a:r>
              <a:rPr lang="tr-TR" sz="1600" dirty="0" err="1">
                <a:latin typeface="+mj-lt"/>
              </a:rPr>
              <a:t>Dis</a:t>
            </a:r>
            <a:r>
              <a:rPr lang="tr-TR" sz="1600" dirty="0">
                <a:latin typeface="+mj-lt"/>
              </a:rPr>
              <a:t>. 2016 Sep;75(9):1615-21. </a:t>
            </a:r>
            <a:r>
              <a:rPr lang="tr-TR" sz="1600" dirty="0" err="1">
                <a:latin typeface="+mj-lt"/>
              </a:rPr>
              <a:t>doi</a:t>
            </a:r>
            <a:r>
              <a:rPr lang="tr-TR" sz="1600" dirty="0">
                <a:latin typeface="+mj-lt"/>
              </a:rPr>
              <a:t>: 10.1136/annrheumdis-2015-207726. </a:t>
            </a:r>
            <a:r>
              <a:rPr lang="tr-TR" sz="1600" dirty="0" err="1">
                <a:latin typeface="+mj-lt"/>
              </a:rPr>
              <a:t>Epub</a:t>
            </a:r>
            <a:r>
              <a:rPr lang="tr-TR" sz="1600" dirty="0">
                <a:latin typeface="+mj-lt"/>
              </a:rPr>
              <a:t> 2015 </a:t>
            </a:r>
            <a:r>
              <a:rPr lang="tr-TR" sz="1600" dirty="0" err="1">
                <a:latin typeface="+mj-lt"/>
              </a:rPr>
              <a:t>Oct</a:t>
            </a:r>
            <a:r>
              <a:rPr lang="tr-TR" sz="1600" dirty="0">
                <a:latin typeface="+mj-lt"/>
              </a:rPr>
              <a:t> 12.</a:t>
            </a:r>
            <a:br>
              <a:rPr lang="tr-TR" sz="1600" dirty="0">
                <a:latin typeface="+mj-lt"/>
              </a:rPr>
            </a:br>
            <a:r>
              <a:rPr lang="tr-TR" sz="1600" dirty="0">
                <a:latin typeface="+mj-lt"/>
              </a:rPr>
              <a:t>Definition </a:t>
            </a:r>
            <a:r>
              <a:rPr lang="tr-TR" sz="1600" dirty="0" err="1">
                <a:latin typeface="+mj-lt"/>
              </a:rPr>
              <a:t>and</a:t>
            </a:r>
            <a:r>
              <a:rPr lang="tr-TR" sz="1600" dirty="0">
                <a:latin typeface="+mj-lt"/>
              </a:rPr>
              <a:t> </a:t>
            </a:r>
            <a:r>
              <a:rPr lang="tr-TR" sz="1600" dirty="0" err="1">
                <a:latin typeface="+mj-lt"/>
              </a:rPr>
              <a:t>initial</a:t>
            </a:r>
            <a:r>
              <a:rPr lang="tr-TR" sz="1600" dirty="0">
                <a:latin typeface="+mj-lt"/>
              </a:rPr>
              <a:t> </a:t>
            </a:r>
            <a:r>
              <a:rPr lang="tr-TR" sz="1600" dirty="0" err="1">
                <a:latin typeface="+mj-lt"/>
              </a:rPr>
              <a:t>validation</a:t>
            </a:r>
            <a:r>
              <a:rPr lang="tr-TR" sz="1600" dirty="0">
                <a:latin typeface="+mj-lt"/>
              </a:rPr>
              <a:t> of a Lupus </a:t>
            </a:r>
            <a:r>
              <a:rPr lang="tr-TR" sz="1600" dirty="0" err="1">
                <a:latin typeface="+mj-lt"/>
              </a:rPr>
              <a:t>Low</a:t>
            </a:r>
            <a:r>
              <a:rPr lang="tr-TR" sz="1600" dirty="0">
                <a:latin typeface="+mj-lt"/>
              </a:rPr>
              <a:t> </a:t>
            </a:r>
            <a:r>
              <a:rPr lang="tr-TR" sz="1600" dirty="0" err="1">
                <a:latin typeface="+mj-lt"/>
              </a:rPr>
              <a:t>Disease</a:t>
            </a:r>
            <a:r>
              <a:rPr lang="tr-TR" sz="1600" dirty="0">
                <a:latin typeface="+mj-lt"/>
              </a:rPr>
              <a:t> Activity </a:t>
            </a:r>
            <a:r>
              <a:rPr lang="tr-TR" sz="1600" dirty="0" err="1">
                <a:latin typeface="+mj-lt"/>
              </a:rPr>
              <a:t>State</a:t>
            </a:r>
            <a:r>
              <a:rPr lang="tr-TR" sz="1600" dirty="0">
                <a:latin typeface="+mj-lt"/>
              </a:rPr>
              <a:t> (LLDAS).</a:t>
            </a:r>
            <a:br>
              <a:rPr lang="tr-TR" sz="1600" dirty="0">
                <a:latin typeface="+mj-lt"/>
              </a:rPr>
            </a:br>
            <a:r>
              <a:rPr lang="tr-TR" sz="1600" dirty="0" err="1">
                <a:latin typeface="+mj-lt"/>
              </a:rPr>
              <a:t>Franklyn</a:t>
            </a:r>
            <a:r>
              <a:rPr lang="tr-TR" sz="1600" dirty="0">
                <a:latin typeface="+mj-lt"/>
              </a:rPr>
              <a:t> K1, </a:t>
            </a:r>
            <a:r>
              <a:rPr lang="tr-TR" sz="1600" dirty="0" err="1">
                <a:latin typeface="+mj-lt"/>
              </a:rPr>
              <a:t>Lau</a:t>
            </a:r>
            <a:r>
              <a:rPr lang="tr-TR" sz="1600" dirty="0">
                <a:latin typeface="+mj-lt"/>
              </a:rPr>
              <a:t> CS2, </a:t>
            </a:r>
            <a:r>
              <a:rPr lang="tr-TR" sz="1600" dirty="0" err="1">
                <a:latin typeface="+mj-lt"/>
              </a:rPr>
              <a:t>Navarra</a:t>
            </a:r>
            <a:r>
              <a:rPr lang="tr-TR" sz="1600" dirty="0">
                <a:latin typeface="+mj-lt"/>
              </a:rPr>
              <a:t> SV3, </a:t>
            </a:r>
            <a:r>
              <a:rPr lang="tr-TR" sz="1600" dirty="0" err="1">
                <a:latin typeface="+mj-lt"/>
              </a:rPr>
              <a:t>Louthrenoo</a:t>
            </a:r>
            <a:r>
              <a:rPr lang="tr-TR" sz="1600" dirty="0">
                <a:latin typeface="+mj-lt"/>
              </a:rPr>
              <a:t> W4, </a:t>
            </a:r>
            <a:r>
              <a:rPr lang="tr-TR" sz="1600" dirty="0" err="1">
                <a:latin typeface="+mj-lt"/>
              </a:rPr>
              <a:t>Lateef</a:t>
            </a:r>
            <a:r>
              <a:rPr lang="tr-TR" sz="1600" dirty="0">
                <a:latin typeface="+mj-lt"/>
              </a:rPr>
              <a:t> A5, </a:t>
            </a:r>
            <a:r>
              <a:rPr lang="tr-TR" sz="1600" dirty="0" err="1">
                <a:latin typeface="+mj-lt"/>
              </a:rPr>
              <a:t>Hamijoyo</a:t>
            </a:r>
            <a:r>
              <a:rPr lang="tr-TR" sz="1600" dirty="0">
                <a:latin typeface="+mj-lt"/>
              </a:rPr>
              <a:t> L6, </a:t>
            </a:r>
            <a:r>
              <a:rPr lang="tr-TR" sz="1600" dirty="0" err="1">
                <a:latin typeface="+mj-lt"/>
              </a:rPr>
              <a:t>Wahono</a:t>
            </a:r>
            <a:r>
              <a:rPr lang="tr-TR" sz="1600" dirty="0">
                <a:latin typeface="+mj-lt"/>
              </a:rPr>
              <a:t> CS7, </a:t>
            </a:r>
            <a:r>
              <a:rPr lang="tr-TR" sz="1600" dirty="0" err="1">
                <a:latin typeface="+mj-lt"/>
              </a:rPr>
              <a:t>Chen</a:t>
            </a:r>
            <a:r>
              <a:rPr lang="tr-TR" sz="1600" dirty="0">
                <a:latin typeface="+mj-lt"/>
              </a:rPr>
              <a:t> SL8, </a:t>
            </a:r>
            <a:r>
              <a:rPr lang="tr-TR" sz="1600" dirty="0" err="1">
                <a:latin typeface="+mj-lt"/>
              </a:rPr>
              <a:t>Jin</a:t>
            </a:r>
            <a:r>
              <a:rPr lang="tr-TR" sz="1600" dirty="0">
                <a:latin typeface="+mj-lt"/>
              </a:rPr>
              <a:t> O9, Morton S10, </a:t>
            </a:r>
            <a:r>
              <a:rPr lang="tr-TR" sz="1600" dirty="0" err="1">
                <a:latin typeface="+mj-lt"/>
              </a:rPr>
              <a:t>Hoi</a:t>
            </a:r>
            <a:r>
              <a:rPr lang="tr-TR" sz="1600" dirty="0">
                <a:latin typeface="+mj-lt"/>
              </a:rPr>
              <a:t> A1, </a:t>
            </a:r>
            <a:r>
              <a:rPr lang="tr-TR" sz="1600" dirty="0" err="1">
                <a:latin typeface="+mj-lt"/>
              </a:rPr>
              <a:t>Huq</a:t>
            </a:r>
            <a:r>
              <a:rPr lang="tr-TR" sz="1600" dirty="0">
                <a:latin typeface="+mj-lt"/>
              </a:rPr>
              <a:t> M11, </a:t>
            </a:r>
            <a:r>
              <a:rPr lang="tr-TR" sz="1600" dirty="0" err="1">
                <a:latin typeface="+mj-lt"/>
              </a:rPr>
              <a:t>Nikpour</a:t>
            </a:r>
            <a:r>
              <a:rPr lang="tr-TR" sz="1600" dirty="0">
                <a:latin typeface="+mj-lt"/>
              </a:rPr>
              <a:t> M11, </a:t>
            </a:r>
            <a:r>
              <a:rPr lang="tr-TR" sz="1600" dirty="0" err="1">
                <a:latin typeface="+mj-lt"/>
              </a:rPr>
              <a:t>Morand</a:t>
            </a:r>
            <a:r>
              <a:rPr lang="tr-TR" sz="1600" dirty="0">
                <a:latin typeface="+mj-lt"/>
              </a:rPr>
              <a:t> EF1; </a:t>
            </a:r>
            <a:r>
              <a:rPr lang="tr-TR" sz="1600" dirty="0" err="1">
                <a:latin typeface="+mj-lt"/>
              </a:rPr>
              <a:t>Asia</a:t>
            </a:r>
            <a:r>
              <a:rPr lang="tr-TR" sz="1600" dirty="0">
                <a:latin typeface="+mj-lt"/>
              </a:rPr>
              <a:t>-Pacific Lupus Collaboration.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1. Tedavinin hedefleri</a:t>
            </a:r>
            <a:br>
              <a:rPr lang="tr-TR" dirty="0" smtClean="0"/>
            </a:br>
            <a:r>
              <a:rPr lang="tr-TR" dirty="0" smtClean="0"/>
              <a:t> açıklamalar</a:t>
            </a:r>
          </a:p>
        </p:txBody>
      </p:sp>
      <p:sp>
        <p:nvSpPr>
          <p:cNvPr id="33794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1552"/>
            <a:ext cx="8382000" cy="4406334"/>
          </a:xfrm>
        </p:spPr>
        <p:txBody>
          <a:bodyPr/>
          <a:lstStyle/>
          <a:p>
            <a:r>
              <a:rPr lang="tr-TR" dirty="0" smtClean="0"/>
              <a:t> Lupus nefritinde tedavi en azından  6-12 ay parsiyel remisyonu hedeflemelidir. (proteinüride ≥50% oranında azalma sağlanarak sub nefrotik seviyelere indirilmesi ve serum kreatinin düzeylerinin bazal seviyeye göre % 10’luk bir fark içinde olması)</a:t>
            </a:r>
          </a:p>
          <a:p>
            <a:endParaRPr lang="tr-TR" dirty="0" smtClean="0"/>
          </a:p>
          <a:p>
            <a:r>
              <a:rPr lang="tr-TR" dirty="0" smtClean="0"/>
              <a:t> Lupus nefritinde tam remisyon (proteinüri &lt;500 mg / 24 saat ve serum kreatinin düzeylerinin bazal seviyeye göre % 10’luk bir fark içinde olması), ancak daha uzun tedavi süresi ile mümkün olabilmekte olup bu da genellikle 12-24 ay gibi bir tedavi süresiyle mümkün olabilmektedir. </a:t>
            </a: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1. Tedavinin hedefleri açıklamalar</a:t>
            </a:r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tr-TR" dirty="0" smtClean="0"/>
              <a:t>Renal yanıtın izlenmesinde, tedaviden sonra proteinürinin azaltılması (&lt; 0.8 g/gün ) rezidüel </a:t>
            </a:r>
            <a:r>
              <a:rPr lang="tr-TR" dirty="0" err="1" smtClean="0"/>
              <a:t>hematüriden</a:t>
            </a:r>
            <a:r>
              <a:rPr lang="tr-TR" dirty="0" smtClean="0"/>
              <a:t> daha önemlidir. </a:t>
            </a:r>
          </a:p>
          <a:p>
            <a:endParaRPr lang="tr-TR" dirty="0" smtClean="0"/>
          </a:p>
          <a:p>
            <a:r>
              <a:rPr lang="tr-TR" dirty="0" smtClean="0"/>
              <a:t> Daha ağır proteinüri ve daha uzun süre aktif renal hastalığı olan hastaların tedavilere cevap verme olasılıkları daha düşüktür.</a:t>
            </a:r>
          </a:p>
          <a:p>
            <a:endParaRPr lang="tr-TR" dirty="0" smtClean="0"/>
          </a:p>
          <a:p>
            <a:endParaRPr lang="tr-TR" dirty="0" smtClean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1. Tedavinin hedefleri açıklamalar</a:t>
            </a:r>
          </a:p>
        </p:txBody>
      </p:sp>
      <p:sp>
        <p:nvSpPr>
          <p:cNvPr id="3584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Hastalık alevlenmelerinin önlenmesi, SLE tedavisinin ek bir yapıtaşı durumundadır.</a:t>
            </a:r>
          </a:p>
          <a:p>
            <a:endParaRPr lang="tr-TR" dirty="0" smtClean="0"/>
          </a:p>
          <a:p>
            <a:r>
              <a:rPr lang="tr-TR" dirty="0" smtClean="0"/>
              <a:t>Her ne kadar evrensel olarak kabul görmüş bir tanım bulunmasa da, çoğu uzman bir alevlenmenin hastalık aktivitesinde artışa ve sonuç olarak da genellikle tedavinin değişmesine neden olmaktadır.</a:t>
            </a:r>
          </a:p>
          <a:p>
            <a:endParaRPr lang="tr-TR" dirty="0" smtClean="0"/>
          </a:p>
          <a:p>
            <a:r>
              <a:rPr lang="tr-TR" dirty="0" smtClean="0"/>
              <a:t>Ataklar hastalık seyrinde ve organ hasarlarında daha kötü sonuçlara önemli ölçüde katkıda bulunmaktadır </a:t>
            </a:r>
          </a:p>
          <a:p>
            <a:endParaRPr lang="tr-TR" dirty="0" smtClean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1. Tedavinin hedefleri açıklamalar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Yüksek hastalık aktivitesi ve ataklar için bildirilen risk faktörleri; hastalığın başlangıcındaki genç yaş, </a:t>
            </a:r>
            <a:r>
              <a:rPr lang="tr-TR" dirty="0" err="1" smtClean="0"/>
              <a:t>antimalaryallerin</a:t>
            </a:r>
            <a:r>
              <a:rPr lang="tr-TR" dirty="0" smtClean="0"/>
              <a:t> kullanılmaması, persiste eden hastalık aktivitesi ve serolojik aktivite (anti-dsDNA, düşük kompleman) olarak ifade edilmektedir </a:t>
            </a:r>
          </a:p>
          <a:p>
            <a:endParaRPr lang="tr-TR" dirty="0" smtClean="0"/>
          </a:p>
          <a:p>
            <a:r>
              <a:rPr lang="tr-TR" dirty="0" smtClean="0"/>
              <a:t>Bu hastalarda ilaç tedavisine olan uyumun düzenli takip edilmesi ve hastalık kontrolünün mümkün olduğunca sağlanmaya çalışılması alevlenmeleri azaltabilir.</a:t>
            </a:r>
          </a:p>
          <a:p>
            <a:endParaRPr lang="tr-TR" dirty="0" smtClean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2. SLE Tedavisi</a:t>
            </a:r>
            <a:br>
              <a:rPr lang="tr-TR" smtClean="0"/>
            </a:br>
            <a:endParaRPr lang="tr-TR" dirty="0" smtClean="0"/>
          </a:p>
        </p:txBody>
      </p:sp>
      <p:sp>
        <p:nvSpPr>
          <p:cNvPr id="37890" name="Rectangle 5"/>
          <p:cNvSpPr>
            <a:spLocks noGrp="1" noChangeArrowheads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tr-TR" smtClean="0"/>
              <a:t>1. Hidroksiklorokin</a:t>
            </a:r>
          </a:p>
          <a:p>
            <a:pPr lvl="1"/>
            <a:r>
              <a:rPr lang="tr-TR" smtClean="0"/>
              <a:t>Kontrendike olmadıkça, 5 mg / kg / gerçek BW (3b / C) 'yi aşmayan bir dozda SLE'li (1b / A) tüm hastalar için HCQ önerilir. </a:t>
            </a:r>
          </a:p>
          <a:p>
            <a:pPr lvl="1"/>
            <a:r>
              <a:rPr lang="tr-TR" smtClean="0"/>
              <a:t>Retina toksisitesi için risk faktörlerinin yokluğunda, oftalmolojik tarama (görsel alan muayenesi ve / veya spektral alan-OCT) başlangıçta, 5 yıl sonra ve daha sonra yılda bir (2b / B) yapılmalıdır.</a:t>
            </a:r>
            <a:endParaRPr lang="tr-TR" dirty="0" smtClean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2. SLE Tedavisi</a:t>
            </a:r>
            <a:br>
              <a:rPr lang="tr-TR" smtClean="0"/>
            </a:br>
            <a:endParaRPr lang="tr-TR" dirty="0" smtClean="0"/>
          </a:p>
        </p:txBody>
      </p:sp>
      <p:sp>
        <p:nvSpPr>
          <p:cNvPr id="37890" name="Rectangle 5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411552"/>
            <a:ext cx="8382000" cy="3457357"/>
          </a:xfrm>
        </p:spPr>
        <p:txBody>
          <a:bodyPr/>
          <a:lstStyle/>
          <a:p>
            <a:r>
              <a:rPr lang="tr-TR" dirty="0" smtClean="0"/>
              <a:t>1. Hidroksiklorokin</a:t>
            </a:r>
          </a:p>
          <a:p>
            <a:pPr lvl="1"/>
            <a:r>
              <a:rPr lang="tr-TR" dirty="0" smtClean="0"/>
              <a:t>SLE'li </a:t>
            </a:r>
            <a:r>
              <a:rPr lang="tr-TR" dirty="0"/>
              <a:t>tüm hastalar için hidroksiklorokin (HCQ) önerilir.</a:t>
            </a:r>
          </a:p>
          <a:p>
            <a:pPr lvl="1"/>
            <a:r>
              <a:rPr lang="tr-TR" dirty="0" smtClean="0"/>
              <a:t>SLE'de </a:t>
            </a:r>
            <a:r>
              <a:rPr lang="tr-TR" dirty="0" err="1" smtClean="0"/>
              <a:t>HCQ'nin</a:t>
            </a:r>
            <a:r>
              <a:rPr lang="tr-TR" dirty="0" smtClean="0"/>
              <a:t> </a:t>
            </a:r>
            <a:r>
              <a:rPr lang="tr-TR" dirty="0"/>
              <a:t>çok sayıda faydalı etkisi olduğuna </a:t>
            </a:r>
            <a:r>
              <a:rPr lang="tr-TR" dirty="0" smtClean="0"/>
              <a:t>dair </a:t>
            </a:r>
            <a:r>
              <a:rPr lang="tr-TR" dirty="0"/>
              <a:t>kanıt vardır, ancak tedaviye uyum kısıtlı olmaktadır.</a:t>
            </a:r>
          </a:p>
          <a:p>
            <a:pPr lvl="1"/>
            <a:r>
              <a:rPr lang="tr-TR" dirty="0" smtClean="0"/>
              <a:t>İlaç </a:t>
            </a:r>
            <a:r>
              <a:rPr lang="tr-TR" dirty="0"/>
              <a:t>kan düzeylerinin takibi ilaç tedavisinin </a:t>
            </a:r>
            <a:r>
              <a:rPr lang="tr-TR" dirty="0" smtClean="0"/>
              <a:t>düzenli kullanıldığının  </a:t>
            </a:r>
            <a:r>
              <a:rPr lang="tr-TR" dirty="0"/>
              <a:t>takibi açısından önemli olabilir ancak </a:t>
            </a:r>
            <a:r>
              <a:rPr lang="tr-TR" dirty="0" smtClean="0"/>
              <a:t>veriler ilaç </a:t>
            </a:r>
            <a:r>
              <a:rPr lang="tr-TR" dirty="0"/>
              <a:t>düzeylerinin rutin izlenmesini önermek için yetersizdir</a:t>
            </a:r>
            <a:r>
              <a:rPr lang="tr-TR" dirty="0" smtClean="0"/>
              <a:t>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23992000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2. SLE Tedavisi</a:t>
            </a:r>
            <a:br>
              <a:rPr lang="tr-TR" smtClean="0"/>
            </a:br>
            <a:endParaRPr lang="tr-TR" dirty="0" smtClean="0"/>
          </a:p>
        </p:txBody>
      </p:sp>
      <p:sp>
        <p:nvSpPr>
          <p:cNvPr id="37890" name="Rectangle 5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411552"/>
            <a:ext cx="8382000" cy="4873129"/>
          </a:xfrm>
        </p:spPr>
        <p:txBody>
          <a:bodyPr/>
          <a:lstStyle/>
          <a:p>
            <a:r>
              <a:rPr lang="tr-TR" dirty="0" smtClean="0"/>
              <a:t>1. Hidroksiklorokin</a:t>
            </a:r>
          </a:p>
          <a:p>
            <a:pPr lvl="1"/>
            <a:r>
              <a:rPr lang="tr-TR" dirty="0"/>
              <a:t>Uzun süreli HCQ tedavisi ile retina toksisitesine ilişkin endişeler, 20 yıllık sürekli kullanımın ardından % 10'u aşan retinal anormallik prevalansı ile daha hassas tarama tekniklerinin kullanılmasına neden olmuştur. </a:t>
            </a:r>
          </a:p>
          <a:p>
            <a:pPr lvl="1"/>
            <a:endParaRPr lang="tr-TR" dirty="0"/>
          </a:p>
          <a:p>
            <a:pPr lvl="1"/>
            <a:r>
              <a:rPr lang="tr-TR" dirty="0"/>
              <a:t>Retinopati için başlıca risk faktörleri arasında tedavi süresi (her 5 yıllık kullanım için OR 4.71), doz (her 100 mg günlük doz için OR 3.34), kronik böbrek hastalığı (düzeltilmiş OR 8.56) ve önceden var olan retinal veya maküler hastalık yer almaktadır.</a:t>
            </a:r>
          </a:p>
          <a:p>
            <a:pPr lvl="1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82669010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2. SLE Tedavisi</a:t>
            </a:r>
            <a:br>
              <a:rPr lang="tr-TR" smtClean="0"/>
            </a:br>
            <a:endParaRPr lang="tr-TR" dirty="0" smtClean="0"/>
          </a:p>
        </p:txBody>
      </p:sp>
      <p:sp>
        <p:nvSpPr>
          <p:cNvPr id="37890" name="Rectangle 5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411552"/>
            <a:ext cx="8382000" cy="4390946"/>
          </a:xfrm>
        </p:spPr>
        <p:txBody>
          <a:bodyPr/>
          <a:lstStyle/>
          <a:p>
            <a:r>
              <a:rPr lang="tr-TR" dirty="0" smtClean="0"/>
              <a:t>1. Hidroksiklorokin</a:t>
            </a:r>
          </a:p>
          <a:p>
            <a:pPr lvl="1"/>
            <a:r>
              <a:rPr lang="tr-TR" dirty="0"/>
              <a:t>5 mg / kg  altındaki dozlarda toksisite riskinin çok düşük olduğunu gösteren mevcut kanıtlara dayanarak, günlük dozun  bu eşiği geçmemesi gerektiği ifade edilmiştir.</a:t>
            </a:r>
          </a:p>
          <a:p>
            <a:pPr lvl="1"/>
            <a:endParaRPr lang="tr-TR" dirty="0"/>
          </a:p>
          <a:p>
            <a:pPr lvl="1"/>
            <a:r>
              <a:rPr lang="tr-TR" dirty="0"/>
              <a:t>Not olarak, lupusta </a:t>
            </a:r>
            <a:r>
              <a:rPr lang="tr-TR" dirty="0" err="1"/>
              <a:t>HCQ'nin</a:t>
            </a:r>
            <a:r>
              <a:rPr lang="tr-TR" dirty="0"/>
              <a:t> etkinliği, 6,5 mg / kg / gün dozları ile yapılan çalışmalarda belirlenmiştir, bu nedenle daha düşük bir dozun benzer klinik etkilere sahip olup olmayacağı doğrulanmaya ihtiyaç duymaktadır</a:t>
            </a:r>
            <a:r>
              <a:rPr lang="tr-TR" dirty="0" smtClean="0"/>
              <a:t>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44760157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2. SLE Tedavisi</a:t>
            </a:r>
            <a:br>
              <a:rPr lang="tr-TR" smtClean="0"/>
            </a:br>
            <a:endParaRPr lang="tr-TR" dirty="0" smtClean="0"/>
          </a:p>
        </p:txBody>
      </p:sp>
      <p:sp>
        <p:nvSpPr>
          <p:cNvPr id="37890" name="Rectangle 5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411552"/>
            <a:ext cx="8382000" cy="4390946"/>
          </a:xfrm>
        </p:spPr>
        <p:txBody>
          <a:bodyPr/>
          <a:lstStyle/>
          <a:p>
            <a:r>
              <a:rPr lang="tr-TR" dirty="0" smtClean="0"/>
              <a:t>1. Hidroksiklorokin</a:t>
            </a:r>
          </a:p>
          <a:p>
            <a:pPr lvl="1"/>
            <a:r>
              <a:rPr lang="tr-TR" dirty="0"/>
              <a:t>Uzun süredir remisyonda olan hastalar dozlarını düşürmüş olabilir, ancak bu stratejiyi açıklayacak bir çalışma yoktur.</a:t>
            </a:r>
          </a:p>
          <a:p>
            <a:pPr lvl="1"/>
            <a:endParaRPr lang="tr-TR" dirty="0"/>
          </a:p>
          <a:p>
            <a:pPr lvl="1"/>
            <a:r>
              <a:rPr lang="tr-TR" dirty="0"/>
              <a:t>Alternatif bir </a:t>
            </a:r>
            <a:r>
              <a:rPr lang="tr-TR" dirty="0" err="1"/>
              <a:t>antimalarial</a:t>
            </a:r>
            <a:r>
              <a:rPr lang="tr-TR" dirty="0"/>
              <a:t> olan kinakrin seçimi, </a:t>
            </a:r>
            <a:r>
              <a:rPr lang="tr-TR" dirty="0" err="1"/>
              <a:t>kutanöz</a:t>
            </a:r>
            <a:r>
              <a:rPr lang="tr-TR" dirty="0"/>
              <a:t> bulgular ve HCQ ile indüklenen retina toksisitesi olan hastalarda düşünülebilir.</a:t>
            </a:r>
          </a:p>
          <a:p>
            <a:pPr lvl="1"/>
            <a:endParaRPr lang="tr-TR" dirty="0"/>
          </a:p>
          <a:p>
            <a:pPr lvl="1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40717650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2. SLE Tedavisi</a:t>
            </a:r>
            <a:br>
              <a:rPr lang="tr-TR" smtClean="0"/>
            </a:br>
            <a:endParaRPr lang="tr-TR" dirty="0" smtClean="0"/>
          </a:p>
        </p:txBody>
      </p:sp>
      <p:sp>
        <p:nvSpPr>
          <p:cNvPr id="37890" name="Rectangle 5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411552"/>
            <a:ext cx="8382000" cy="3329116"/>
          </a:xfrm>
        </p:spPr>
        <p:txBody>
          <a:bodyPr/>
          <a:lstStyle/>
          <a:p>
            <a:r>
              <a:rPr lang="tr-TR" dirty="0"/>
              <a:t>2. </a:t>
            </a:r>
            <a:r>
              <a:rPr lang="tr-TR" dirty="0" smtClean="0"/>
              <a:t>Glukokortikoidler</a:t>
            </a:r>
          </a:p>
          <a:p>
            <a:pPr lvl="1"/>
            <a:r>
              <a:rPr lang="tr-TR" dirty="0" smtClean="0"/>
              <a:t>Uzun </a:t>
            </a:r>
            <a:r>
              <a:rPr lang="tr-TR" dirty="0"/>
              <a:t>süredir remisyonda olan hastalar dozlarını düşürmüş olabilir, ancak bu stratejiyi açıklayacak bir çalışma yoktur.</a:t>
            </a:r>
          </a:p>
          <a:p>
            <a:pPr lvl="1"/>
            <a:endParaRPr lang="tr-TR" dirty="0"/>
          </a:p>
          <a:p>
            <a:pPr lvl="1"/>
            <a:r>
              <a:rPr lang="tr-TR" dirty="0"/>
              <a:t>Alternatif bir </a:t>
            </a:r>
            <a:r>
              <a:rPr lang="tr-TR" dirty="0" smtClean="0"/>
              <a:t>antimalaryal </a:t>
            </a:r>
            <a:r>
              <a:rPr lang="tr-TR" dirty="0"/>
              <a:t>olan kinakrin seçimi, </a:t>
            </a:r>
            <a:r>
              <a:rPr lang="tr-TR" dirty="0" smtClean="0"/>
              <a:t>kütanöz </a:t>
            </a:r>
            <a:r>
              <a:rPr lang="tr-TR" dirty="0"/>
              <a:t>bulgular ve HCQ ile indüklenen retina toksisitesi olan hastalarda düşünülebilir</a:t>
            </a:r>
            <a:r>
              <a:rPr lang="tr-TR" dirty="0" smtClean="0"/>
              <a:t>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807123197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2. SLE Tedavisi</a:t>
            </a:r>
            <a:br>
              <a:rPr lang="tr-TR" smtClean="0"/>
            </a:br>
            <a:endParaRPr lang="tr-TR" dirty="0" smtClean="0"/>
          </a:p>
        </p:txBody>
      </p:sp>
      <p:sp>
        <p:nvSpPr>
          <p:cNvPr id="37890" name="Rectangle 5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411552"/>
            <a:ext cx="8382000" cy="5227072"/>
          </a:xfrm>
        </p:spPr>
        <p:txBody>
          <a:bodyPr/>
          <a:lstStyle/>
          <a:p>
            <a:r>
              <a:rPr lang="tr-TR" dirty="0"/>
              <a:t>2. </a:t>
            </a:r>
            <a:r>
              <a:rPr lang="tr-TR" dirty="0" smtClean="0"/>
              <a:t>Glukokortikoidler</a:t>
            </a:r>
          </a:p>
          <a:p>
            <a:pPr lvl="1"/>
            <a:r>
              <a:rPr lang="tr-TR" dirty="0"/>
              <a:t>GC, hızlı semptom iyileşmesi sağlayabilir, ancak orta ila uzun vadeli amaç, günlük dozu 7,5 mg / gün prednizon eşdeğeri seviyesine indirmek veya bunları tamamen kesmek olmalıdır, çünkü uzun süreli GC tedavisi geri dönüşü olmayan organ hasarı dahil olmak üzere çeşitli zararlı etkilere sahip olabilir. </a:t>
            </a:r>
          </a:p>
          <a:p>
            <a:pPr lvl="1"/>
            <a:endParaRPr lang="tr-TR" dirty="0"/>
          </a:p>
          <a:p>
            <a:pPr lvl="1"/>
            <a:r>
              <a:rPr lang="tr-TR" dirty="0"/>
              <a:t>Riskler özellikle 7.5 mg / gün üzerindeki sürekli GC dozlarında önemli ölçüde artmakla birlikte bazı çalışmalar  daha düşük dozların da zararlı olabileceğini ifade etmektedir. </a:t>
            </a:r>
          </a:p>
          <a:p>
            <a:pPr lvl="1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99217721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2. SLE Tedavisi</a:t>
            </a:r>
            <a:br>
              <a:rPr lang="tr-TR" smtClean="0"/>
            </a:br>
            <a:endParaRPr lang="tr-TR" dirty="0" smtClean="0"/>
          </a:p>
        </p:txBody>
      </p:sp>
      <p:sp>
        <p:nvSpPr>
          <p:cNvPr id="37890" name="Rectangle 5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411552"/>
            <a:ext cx="8382000" cy="3200876"/>
          </a:xfrm>
        </p:spPr>
        <p:txBody>
          <a:bodyPr/>
          <a:lstStyle/>
          <a:p>
            <a:r>
              <a:rPr lang="tr-TR" dirty="0"/>
              <a:t>2. </a:t>
            </a:r>
            <a:r>
              <a:rPr lang="tr-TR" dirty="0" smtClean="0"/>
              <a:t>Glukokortikoidler</a:t>
            </a:r>
          </a:p>
          <a:p>
            <a:pPr lvl="1"/>
            <a:r>
              <a:rPr lang="tr-TR" dirty="0"/>
              <a:t>Bu amaçla, iki yaklaşım düşünülebilir:</a:t>
            </a:r>
          </a:p>
          <a:p>
            <a:pPr lvl="1"/>
            <a:r>
              <a:rPr lang="tr-TR" dirty="0" smtClean="0"/>
              <a:t>İlk </a:t>
            </a:r>
            <a:r>
              <a:rPr lang="tr-TR" dirty="0"/>
              <a:t>olarak çeşitli dozlarda (hastalık şiddetine ve vücut ağırlığına bağlı olarak) verilen intravenöz pulse metilprednizolon tedavilerinin kullanılması; daha düşük dozlarda oral glukokortikoid tedavisinin başlanabilmesi ve sonrasında azaltılarak kesilmesine imkan sağlayabilmektedir</a:t>
            </a:r>
            <a:r>
              <a:rPr lang="tr-TR" dirty="0" smtClean="0"/>
              <a:t>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86353959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2. SLE Tedavisi</a:t>
            </a:r>
            <a:br>
              <a:rPr lang="tr-TR" smtClean="0"/>
            </a:br>
            <a:endParaRPr lang="tr-TR" dirty="0" smtClean="0"/>
          </a:p>
        </p:txBody>
      </p:sp>
      <p:sp>
        <p:nvSpPr>
          <p:cNvPr id="37890" name="Rectangle 5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411552"/>
            <a:ext cx="8382000" cy="3683060"/>
          </a:xfrm>
        </p:spPr>
        <p:txBody>
          <a:bodyPr/>
          <a:lstStyle/>
          <a:p>
            <a:r>
              <a:rPr lang="tr-TR" dirty="0"/>
              <a:t>2. </a:t>
            </a:r>
            <a:r>
              <a:rPr lang="tr-TR" dirty="0" smtClean="0"/>
              <a:t>Glukokortikoidler</a:t>
            </a:r>
          </a:p>
          <a:p>
            <a:pPr lvl="1"/>
            <a:r>
              <a:rPr lang="tr-TR" dirty="0" smtClean="0"/>
              <a:t>İkinci </a:t>
            </a:r>
            <a:r>
              <a:rPr lang="tr-TR" dirty="0"/>
              <a:t>olarak  </a:t>
            </a:r>
            <a:r>
              <a:rPr lang="tr-TR" dirty="0" smtClean="0"/>
              <a:t>immünosüpresif </a:t>
            </a:r>
            <a:r>
              <a:rPr lang="tr-TR" dirty="0"/>
              <a:t>ajanların erken başlanması oral glukokortikoidlerin azaltılabilmesi ve kesilmesine imkan sağmaktadır.</a:t>
            </a:r>
          </a:p>
          <a:p>
            <a:pPr lvl="1"/>
            <a:r>
              <a:rPr lang="tr-TR" dirty="0" smtClean="0"/>
              <a:t>Yüksek </a:t>
            </a:r>
            <a:r>
              <a:rPr lang="tr-TR" dirty="0"/>
              <a:t>doz intravenöz MP enfeksiyonlar dışlandıktan sonra  (genellikle 3 gün boyunca 250-1000 mg / gün),  sonra akut, organı tehdit eden hastalıklarda (</a:t>
            </a:r>
            <a:r>
              <a:rPr lang="tr-TR" dirty="0" err="1"/>
              <a:t>örn</a:t>
            </a:r>
            <a:r>
              <a:rPr lang="tr-TR" dirty="0"/>
              <a:t>. böbrek, nöropsikiyatrik) sıklıkla kullanılır. </a:t>
            </a:r>
          </a:p>
          <a:p>
            <a:pPr lvl="1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72229795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2. SLE Tedavisi</a:t>
            </a:r>
            <a:br>
              <a:rPr lang="tr-TR" smtClean="0"/>
            </a:br>
            <a:endParaRPr lang="tr-TR" dirty="0" smtClean="0"/>
          </a:p>
        </p:txBody>
      </p:sp>
      <p:sp>
        <p:nvSpPr>
          <p:cNvPr id="37890" name="Rectangle 5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836712"/>
            <a:ext cx="8382000" cy="5950347"/>
          </a:xfrm>
        </p:spPr>
        <p:txBody>
          <a:bodyPr/>
          <a:lstStyle/>
          <a:p>
            <a:r>
              <a:rPr lang="tr-TR" sz="2800" dirty="0" smtClean="0"/>
              <a:t>3</a:t>
            </a:r>
            <a:r>
              <a:rPr lang="tr-TR" sz="2800" dirty="0"/>
              <a:t>. </a:t>
            </a:r>
            <a:r>
              <a:rPr lang="tr-TR" sz="2800" dirty="0" smtClean="0"/>
              <a:t>İmmünosüpresif ilaçlar</a:t>
            </a:r>
          </a:p>
          <a:p>
            <a:pPr lvl="1"/>
            <a:r>
              <a:rPr lang="tr-TR" dirty="0" err="1"/>
              <a:t>HCQ'ya</a:t>
            </a:r>
            <a:r>
              <a:rPr lang="tr-TR" dirty="0"/>
              <a:t> yanıt vermeyen hastalarda (yalnız veya GC ile birlikte) veya kronik kullanım için kabul edilebilir dozların altında </a:t>
            </a:r>
            <a:r>
              <a:rPr lang="tr-TR" dirty="0" err="1"/>
              <a:t>GC'yi</a:t>
            </a:r>
            <a:r>
              <a:rPr lang="tr-TR" dirty="0"/>
              <a:t> azaltamayan hastalarda, metotreksat, (1b / B) </a:t>
            </a:r>
            <a:r>
              <a:rPr lang="tr-TR" dirty="0" smtClean="0"/>
              <a:t>azatioprin </a:t>
            </a:r>
            <a:r>
              <a:rPr lang="tr-TR" dirty="0"/>
              <a:t>(2b / C) veya mikofenolat (2a / B) gibi </a:t>
            </a:r>
            <a:r>
              <a:rPr lang="tr-TR" dirty="0" smtClean="0"/>
              <a:t>immün-modüle </a:t>
            </a:r>
            <a:r>
              <a:rPr lang="tr-TR" dirty="0"/>
              <a:t>edici / immünosüpresif ajanlar düşünülmelidir. </a:t>
            </a:r>
          </a:p>
          <a:p>
            <a:pPr lvl="1"/>
            <a:r>
              <a:rPr lang="tr-TR" dirty="0" smtClean="0"/>
              <a:t>Organ </a:t>
            </a:r>
            <a:r>
              <a:rPr lang="tr-TR" dirty="0"/>
              <a:t>tehdit edici hastalıklarda (2b / C) </a:t>
            </a:r>
            <a:r>
              <a:rPr lang="tr-TR" dirty="0" smtClean="0"/>
              <a:t>immünomodülatör </a:t>
            </a:r>
            <a:r>
              <a:rPr lang="tr-TR" dirty="0"/>
              <a:t>/ </a:t>
            </a:r>
            <a:r>
              <a:rPr lang="tr-TR" dirty="0" smtClean="0"/>
              <a:t>immünosüpresif </a:t>
            </a:r>
            <a:r>
              <a:rPr lang="tr-TR" dirty="0"/>
              <a:t>ajanlar ilk tedaviye dahil edilebilir. </a:t>
            </a:r>
          </a:p>
          <a:p>
            <a:pPr lvl="1"/>
            <a:r>
              <a:rPr lang="tr-TR" dirty="0" smtClean="0"/>
              <a:t>Siklofosfamid</a:t>
            </a:r>
            <a:r>
              <a:rPr lang="tr-TR" dirty="0"/>
              <a:t>, diğer immünosüpresif ajanlara yanıt vermeyen ciddi organ tehdit edici veya yaşamı tehdit edici  SLE de “kurtarma” terapisi olarak kullanılabilir (2b / C). </a:t>
            </a:r>
          </a:p>
          <a:p>
            <a:pPr lvl="1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63271793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2. SLE Tedavisi</a:t>
            </a:r>
            <a:br>
              <a:rPr lang="tr-TR" smtClean="0"/>
            </a:br>
            <a:endParaRPr lang="tr-TR" dirty="0" smtClean="0"/>
          </a:p>
        </p:txBody>
      </p:sp>
      <p:sp>
        <p:nvSpPr>
          <p:cNvPr id="37890" name="Rectangle 5"/>
          <p:cNvSpPr>
            <a:spLocks noGrp="1" noChangeArrowheads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tr-TR" smtClean="0"/>
              <a:t>3. İmmünosüpresif ilaçlar</a:t>
            </a:r>
          </a:p>
          <a:p>
            <a:pPr lvl="1"/>
            <a:endParaRPr lang="tr-TR" smtClean="0"/>
          </a:p>
          <a:p>
            <a:pPr lvl="1"/>
            <a:r>
              <a:rPr lang="tr-TR" smtClean="0"/>
              <a:t>IS ilaçların başlanması, glukokortikoidlerin hızlı bir şekilde azaltılabilmesinde ve hastalık alevlenmelerinin engellenmesinde önemlidir.</a:t>
            </a:r>
          </a:p>
          <a:p>
            <a:pPr lvl="1"/>
            <a:endParaRPr lang="tr-TR" smtClean="0"/>
          </a:p>
          <a:p>
            <a:pPr lvl="1"/>
            <a:r>
              <a:rPr lang="tr-TR" smtClean="0"/>
              <a:t>Ajan seçiminin belirlenmesinde, mevcut hastalık belirtileri, hasta yaşı ve çocuk doğurma potansiyeli, güvenlik kaygıları ve maliyet etkili olmaktadır.</a:t>
            </a:r>
          </a:p>
          <a:p>
            <a:pPr lvl="1"/>
            <a:endParaRPr lang="tr-TR" smtClean="0"/>
          </a:p>
          <a:p>
            <a:pPr lvl="1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9639413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2. SLE Tedavisi</a:t>
            </a:r>
            <a:br>
              <a:rPr lang="tr-TR" smtClean="0"/>
            </a:br>
            <a:endParaRPr lang="tr-TR" dirty="0" smtClean="0"/>
          </a:p>
        </p:txBody>
      </p:sp>
      <p:sp>
        <p:nvSpPr>
          <p:cNvPr id="37890" name="Rectangle 5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411552"/>
            <a:ext cx="8382000" cy="4165243"/>
          </a:xfrm>
        </p:spPr>
        <p:txBody>
          <a:bodyPr/>
          <a:lstStyle/>
          <a:p>
            <a:r>
              <a:rPr lang="tr-TR" dirty="0" smtClean="0"/>
              <a:t>3. İmmünosüpresif ilaçlar</a:t>
            </a:r>
          </a:p>
          <a:p>
            <a:pPr lvl="1"/>
            <a:endParaRPr lang="tr-TR" dirty="0"/>
          </a:p>
          <a:p>
            <a:pPr lvl="1"/>
            <a:r>
              <a:rPr lang="tr-TR" dirty="0"/>
              <a:t>Metotreksat (MTX) ve </a:t>
            </a:r>
            <a:r>
              <a:rPr lang="tr-TR" dirty="0" err="1"/>
              <a:t>azatiyopurin</a:t>
            </a:r>
            <a:r>
              <a:rPr lang="tr-TR" dirty="0"/>
              <a:t> (AZA), GC ve HCQ ile yapılan bir denemeden sonra zayıf semptom kontrolü olan hastalarda veya kullanımları ile kazanılan büyük deneyimlerden ve nispeten güvenli profillerinden dolayı, yalnızca </a:t>
            </a:r>
            <a:r>
              <a:rPr lang="tr-TR" dirty="0" err="1"/>
              <a:t>HCQ'nun</a:t>
            </a:r>
            <a:r>
              <a:rPr lang="tr-TR" dirty="0"/>
              <a:t> yeterli olma ihtimalinin düşük olduğu durumlarda düşünülmelidir. </a:t>
            </a:r>
          </a:p>
          <a:p>
            <a:pPr lvl="1"/>
            <a:endParaRPr lang="tr-TR" dirty="0"/>
          </a:p>
          <a:p>
            <a:pPr lvl="1"/>
            <a:r>
              <a:rPr lang="tr-TR" dirty="0"/>
              <a:t>Yayınlanmış kanıtlar, MTX için </a:t>
            </a:r>
            <a:r>
              <a:rPr lang="tr-TR" dirty="0" err="1"/>
              <a:t>AZA'dan</a:t>
            </a:r>
            <a:r>
              <a:rPr lang="tr-TR" dirty="0"/>
              <a:t> daha güçlüdür.</a:t>
            </a:r>
          </a:p>
        </p:txBody>
      </p:sp>
    </p:spTree>
    <p:extLst>
      <p:ext uri="{BB962C8B-B14F-4D97-AF65-F5344CB8AC3E}">
        <p14:creationId xmlns:p14="http://schemas.microsoft.com/office/powerpoint/2010/main" val="2490851696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2. SLE Tedavisi</a:t>
            </a:r>
            <a:br>
              <a:rPr lang="tr-TR" smtClean="0"/>
            </a:br>
            <a:endParaRPr lang="tr-TR" dirty="0" smtClean="0"/>
          </a:p>
        </p:txBody>
      </p:sp>
      <p:sp>
        <p:nvSpPr>
          <p:cNvPr id="37890" name="Rectangle 5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196752"/>
            <a:ext cx="8382000" cy="5098832"/>
          </a:xfrm>
        </p:spPr>
        <p:txBody>
          <a:bodyPr/>
          <a:lstStyle/>
          <a:p>
            <a:r>
              <a:rPr lang="tr-TR" dirty="0" smtClean="0"/>
              <a:t>3. İmmünosüpresif ilaçlar</a:t>
            </a:r>
          </a:p>
          <a:p>
            <a:pPr lvl="1"/>
            <a:r>
              <a:rPr lang="tr-TR" dirty="0"/>
              <a:t>Mikofenolat mofetil (MMF) renal ve renal olmayan lupusta (nöropsikiyatrik hastalıkta olmasa da) etkinliği olan güçlü bir </a:t>
            </a:r>
            <a:r>
              <a:rPr lang="tr-TR" dirty="0" smtClean="0"/>
              <a:t>immünosüpresandır</a:t>
            </a:r>
            <a:r>
              <a:rPr lang="tr-TR" dirty="0"/>
              <a:t>.</a:t>
            </a:r>
          </a:p>
          <a:p>
            <a:pPr lvl="1"/>
            <a:r>
              <a:rPr lang="tr-TR" dirty="0" smtClean="0"/>
              <a:t>Ekstra renal </a:t>
            </a:r>
            <a:r>
              <a:rPr lang="tr-TR" dirty="0"/>
              <a:t>SLE'de yapılan bir randomize, açık etiketli denemede, enterik kaplı mikofenolat sodyum (EC-MPS), remisyon elde etmede ve alevlenmeleri azaltmada </a:t>
            </a:r>
            <a:r>
              <a:rPr lang="tr-TR" dirty="0" err="1"/>
              <a:t>AZA'dan</a:t>
            </a:r>
            <a:r>
              <a:rPr lang="tr-TR" dirty="0"/>
              <a:t> üstün bulunmuştur.</a:t>
            </a:r>
          </a:p>
          <a:p>
            <a:pPr lvl="1"/>
            <a:r>
              <a:rPr lang="tr-TR" dirty="0" smtClean="0"/>
              <a:t>Bununla </a:t>
            </a:r>
            <a:r>
              <a:rPr lang="tr-TR" dirty="0"/>
              <a:t>birlikte, teratojenik potansiyeli (gebe kalmadan en az 6 hafta önce kesilmesi gerekir), AZA veya </a:t>
            </a:r>
            <a:r>
              <a:rPr lang="tr-TR" dirty="0" err="1"/>
              <a:t>MTX'e</a:t>
            </a:r>
            <a:r>
              <a:rPr lang="tr-TR" dirty="0"/>
              <a:t> kıyasla daha yüksek maliyeti gibi nedenlerle, renal olmayan tutulumlarda üreme çağındaki kadınlarda evrensel öneri için bir sınırlama getirmektedir. </a:t>
            </a:r>
          </a:p>
        </p:txBody>
      </p:sp>
    </p:spTree>
    <p:extLst>
      <p:ext uri="{BB962C8B-B14F-4D97-AF65-F5344CB8AC3E}">
        <p14:creationId xmlns:p14="http://schemas.microsoft.com/office/powerpoint/2010/main" val="1138601120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2. SLE Tedavisi</a:t>
            </a:r>
            <a:br>
              <a:rPr lang="tr-TR" smtClean="0"/>
            </a:br>
            <a:endParaRPr lang="tr-TR" dirty="0" smtClean="0"/>
          </a:p>
        </p:txBody>
      </p:sp>
      <p:sp>
        <p:nvSpPr>
          <p:cNvPr id="37890" name="Rectangle 5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196752"/>
            <a:ext cx="8382000" cy="5098832"/>
          </a:xfrm>
        </p:spPr>
        <p:txBody>
          <a:bodyPr/>
          <a:lstStyle/>
          <a:p>
            <a:r>
              <a:rPr lang="tr-TR" dirty="0" smtClean="0"/>
              <a:t>3. İmmünosüpresif ilaçlar</a:t>
            </a:r>
          </a:p>
          <a:p>
            <a:pPr lvl="1"/>
            <a:r>
              <a:rPr lang="tr-TR" dirty="0"/>
              <a:t>Siklofosfamid (CYC) organı tehdit eden hastalıklarda (özellikle renal, kardiyopulmoner veya nöropsikiyatrik) ve sadece refrakter majör olmayan organ tezahürlerinde kurtarma tedavisi olarak düşünülebilir; </a:t>
            </a:r>
            <a:r>
              <a:rPr lang="tr-TR" dirty="0" err="1"/>
              <a:t>gonadotoksik</a:t>
            </a:r>
            <a:r>
              <a:rPr lang="tr-TR" dirty="0"/>
              <a:t> etkileri nedeniyle üreme çağındaki kadınlarda ve erkeklerde dikkatli kullanılmalıdır. </a:t>
            </a:r>
          </a:p>
          <a:p>
            <a:pPr lvl="1"/>
            <a:r>
              <a:rPr lang="tr-TR" dirty="0" err="1" smtClean="0"/>
              <a:t>GnRH</a:t>
            </a:r>
            <a:r>
              <a:rPr lang="tr-TR" dirty="0" smtClean="0"/>
              <a:t> </a:t>
            </a:r>
            <a:r>
              <a:rPr lang="tr-TR" dirty="0"/>
              <a:t>analoglarının birlikte kullanılması, CYC tedavisi ile ilişkili over rezervinin azalmasını hafifletir ve SLE'li premenopozal hastalarda önerilir.</a:t>
            </a:r>
          </a:p>
          <a:p>
            <a:pPr lvl="1"/>
            <a:r>
              <a:rPr lang="tr-TR" dirty="0"/>
              <a:t> Tedavinin öncesinde </a:t>
            </a:r>
            <a:r>
              <a:rPr lang="tr-TR" dirty="0" err="1"/>
              <a:t>overle</a:t>
            </a:r>
            <a:r>
              <a:rPr lang="tr-TR" dirty="0"/>
              <a:t> ilgili yan etkileri, malignite ve enfeksiyon riskleri konusunda hastalara bilgi verilmelidir</a:t>
            </a:r>
            <a:r>
              <a:rPr lang="tr-TR" dirty="0" smtClean="0"/>
              <a:t>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78931365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2. SLE Tedavisi</a:t>
            </a:r>
            <a:br>
              <a:rPr lang="tr-TR" smtClean="0"/>
            </a:br>
            <a:endParaRPr lang="tr-TR" dirty="0" smtClean="0"/>
          </a:p>
        </p:txBody>
      </p:sp>
      <p:sp>
        <p:nvSpPr>
          <p:cNvPr id="37890" name="Rectangle 5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196752"/>
            <a:ext cx="8382000" cy="4744889"/>
          </a:xfrm>
        </p:spPr>
        <p:txBody>
          <a:bodyPr/>
          <a:lstStyle/>
          <a:p>
            <a:r>
              <a:rPr lang="tr-TR" dirty="0"/>
              <a:t>4. </a:t>
            </a:r>
            <a:r>
              <a:rPr lang="tr-TR" dirty="0" smtClean="0"/>
              <a:t>Biyolojikler</a:t>
            </a:r>
          </a:p>
          <a:p>
            <a:pPr lvl="1"/>
            <a:r>
              <a:rPr lang="tr-TR" dirty="0" smtClean="0"/>
              <a:t>Standart </a:t>
            </a:r>
            <a:r>
              <a:rPr lang="tr-TR" dirty="0"/>
              <a:t>tedavilere (HCQ ve GC kombinasyonları, immünosüpresif ajanlarla birlikte veya bunlar olmadan) yetersiz yanıt veren hastalarda, rezidü hastalık aktivitesi olarak ifade edilen  glukokortikoidlerin azaltılmasına imkan vermeyen ve / veya sık </a:t>
            </a:r>
            <a:r>
              <a:rPr lang="tr-TR" dirty="0" err="1"/>
              <a:t>relapsları</a:t>
            </a:r>
            <a:r>
              <a:rPr lang="tr-TR" dirty="0"/>
              <a:t> olan hastalarda  </a:t>
            </a:r>
            <a:r>
              <a:rPr lang="tr-TR" dirty="0" err="1"/>
              <a:t>belimumab</a:t>
            </a:r>
            <a:r>
              <a:rPr lang="tr-TR" dirty="0"/>
              <a:t> ile ilave tedavi düşünülmelidir (1a / A).</a:t>
            </a:r>
          </a:p>
          <a:p>
            <a:pPr lvl="1"/>
            <a:endParaRPr lang="tr-TR" dirty="0"/>
          </a:p>
          <a:p>
            <a:pPr lvl="1"/>
            <a:r>
              <a:rPr lang="tr-TR" dirty="0"/>
              <a:t>Organ tehdit edici hastalıklarda refrakter veya standart immünosüpresif ajanlara karşı intolerans veya  kontrendikasyon durumunda </a:t>
            </a:r>
            <a:r>
              <a:rPr lang="tr-TR" dirty="0" err="1"/>
              <a:t>rituksimab</a:t>
            </a:r>
            <a:r>
              <a:rPr lang="tr-TR" dirty="0"/>
              <a:t> düşünülebilir (2b / C). </a:t>
            </a:r>
          </a:p>
        </p:txBody>
      </p:sp>
    </p:spTree>
    <p:extLst>
      <p:ext uri="{BB962C8B-B14F-4D97-AF65-F5344CB8AC3E}">
        <p14:creationId xmlns:p14="http://schemas.microsoft.com/office/powerpoint/2010/main" val="2673948503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2. SLE Tedavisi</a:t>
            </a:r>
            <a:br>
              <a:rPr lang="tr-TR" smtClean="0"/>
            </a:br>
            <a:endParaRPr lang="tr-TR" dirty="0" smtClean="0"/>
          </a:p>
        </p:txBody>
      </p:sp>
      <p:sp>
        <p:nvSpPr>
          <p:cNvPr id="37890" name="Rectangle 5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196752"/>
            <a:ext cx="8382000" cy="4608954"/>
          </a:xfrm>
        </p:spPr>
        <p:txBody>
          <a:bodyPr/>
          <a:lstStyle/>
          <a:p>
            <a:r>
              <a:rPr lang="tr-TR" dirty="0"/>
              <a:t>4. </a:t>
            </a:r>
            <a:r>
              <a:rPr lang="tr-TR" dirty="0" smtClean="0"/>
              <a:t>Biyolojikler</a:t>
            </a:r>
          </a:p>
          <a:p>
            <a:pPr lvl="1"/>
            <a:r>
              <a:rPr lang="tr-TR" dirty="0" err="1"/>
              <a:t>Belimumab</a:t>
            </a:r>
            <a:r>
              <a:rPr lang="tr-TR" dirty="0"/>
              <a:t> </a:t>
            </a:r>
          </a:p>
          <a:p>
            <a:pPr lvl="2"/>
            <a:r>
              <a:rPr lang="tr-TR" dirty="0" smtClean="0"/>
              <a:t>B-hücresini </a:t>
            </a:r>
            <a:r>
              <a:rPr lang="tr-TR" dirty="0"/>
              <a:t>hedefleyen ajanların </a:t>
            </a:r>
            <a:r>
              <a:rPr lang="tr-TR" dirty="0" err="1"/>
              <a:t>SLE'deki</a:t>
            </a:r>
            <a:r>
              <a:rPr lang="tr-TR" dirty="0"/>
              <a:t> yararlı etkilerini destekleyen kanıtlar vardır. </a:t>
            </a:r>
          </a:p>
          <a:p>
            <a:pPr lvl="2"/>
            <a:endParaRPr lang="tr-TR" dirty="0"/>
          </a:p>
          <a:p>
            <a:pPr lvl="2"/>
            <a:r>
              <a:rPr lang="tr-TR" dirty="0" err="1"/>
              <a:t>Belimumab</a:t>
            </a:r>
            <a:r>
              <a:rPr lang="tr-TR" dirty="0"/>
              <a:t>, birinci basamak tedavilere (tipik olarak HCQ ve </a:t>
            </a:r>
            <a:r>
              <a:rPr lang="tr-TR" dirty="0" err="1"/>
              <a:t>prednizonun</a:t>
            </a:r>
            <a:r>
              <a:rPr lang="tr-TR" dirty="0"/>
              <a:t> kombinasyonunu içeren ek olarak </a:t>
            </a:r>
            <a:r>
              <a:rPr lang="tr-TR" dirty="0" smtClean="0"/>
              <a:t>immünosüpresif </a:t>
            </a:r>
            <a:r>
              <a:rPr lang="tr-TR" dirty="0"/>
              <a:t>alan veya almayan )  yanıt alınmayan hastalarda (sık ataklar ve devam eden hastalık aktivitesi) ve </a:t>
            </a:r>
            <a:r>
              <a:rPr lang="tr-TR" dirty="0" smtClean="0"/>
              <a:t>glukokortikoid </a:t>
            </a:r>
            <a:r>
              <a:rPr lang="tr-TR" dirty="0"/>
              <a:t>düzeyinin istenen seviyelere düşürülememesi durumlarında ( 7.5 mg / gün)  </a:t>
            </a:r>
            <a:r>
              <a:rPr lang="tr-TR" dirty="0" smtClean="0"/>
              <a:t>ekstra renal </a:t>
            </a:r>
            <a:r>
              <a:rPr lang="tr-TR" dirty="0"/>
              <a:t>hastalıkta düşünülmelidir. </a:t>
            </a:r>
          </a:p>
          <a:p>
            <a:pPr lvl="2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82105492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2. SLE Tedavisi</a:t>
            </a:r>
            <a:br>
              <a:rPr lang="tr-TR" smtClean="0"/>
            </a:br>
            <a:endParaRPr lang="tr-TR" dirty="0" smtClean="0"/>
          </a:p>
        </p:txBody>
      </p:sp>
      <p:sp>
        <p:nvSpPr>
          <p:cNvPr id="37890" name="Rectangle 5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196752"/>
            <a:ext cx="8382000" cy="3570721"/>
          </a:xfrm>
        </p:spPr>
        <p:txBody>
          <a:bodyPr/>
          <a:lstStyle/>
          <a:p>
            <a:r>
              <a:rPr lang="tr-TR" dirty="0"/>
              <a:t>4. </a:t>
            </a:r>
            <a:r>
              <a:rPr lang="tr-TR" dirty="0" smtClean="0"/>
              <a:t>Biyolojikler</a:t>
            </a:r>
          </a:p>
          <a:p>
            <a:pPr lvl="1"/>
            <a:r>
              <a:rPr lang="tr-TR" dirty="0" err="1"/>
              <a:t>Belimumab</a:t>
            </a:r>
            <a:r>
              <a:rPr lang="tr-TR" dirty="0"/>
              <a:t> </a:t>
            </a:r>
          </a:p>
          <a:p>
            <a:pPr lvl="2"/>
            <a:endParaRPr lang="tr-TR" dirty="0"/>
          </a:p>
          <a:p>
            <a:pPr lvl="2"/>
            <a:r>
              <a:rPr lang="tr-TR" dirty="0"/>
              <a:t>Persistan hastalığı olan hastalar </a:t>
            </a:r>
            <a:r>
              <a:rPr lang="tr-TR" dirty="0" err="1"/>
              <a:t>belimumab</a:t>
            </a:r>
            <a:r>
              <a:rPr lang="tr-TR" dirty="0"/>
              <a:t> tedavisinden fayda görebilir. Özellikle de; SLEDAI&gt; 10, prednizon dozu&gt; 7.5 mg / gün ve serolojik aktivitesi+ (düşük C3 / C4, yüksek anti-dsDNA titresi), </a:t>
            </a:r>
            <a:r>
              <a:rPr lang="tr-TR" dirty="0" smtClean="0"/>
              <a:t>kütanöz, </a:t>
            </a:r>
            <a:r>
              <a:rPr lang="tr-TR" dirty="0"/>
              <a:t>kas-iskelet sistemi ve serolojik +  olan hastaların cevap verme olasılığı daha yüksektir </a:t>
            </a:r>
          </a:p>
          <a:p>
            <a:pPr lvl="2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513448671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2. SLE Tedavisi</a:t>
            </a:r>
            <a:br>
              <a:rPr lang="tr-TR" smtClean="0"/>
            </a:br>
            <a:endParaRPr lang="tr-TR" dirty="0" smtClean="0"/>
          </a:p>
        </p:txBody>
      </p:sp>
      <p:sp>
        <p:nvSpPr>
          <p:cNvPr id="37890" name="Rectangle 5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196752"/>
            <a:ext cx="8382000" cy="4608954"/>
          </a:xfrm>
        </p:spPr>
        <p:txBody>
          <a:bodyPr/>
          <a:lstStyle/>
          <a:p>
            <a:r>
              <a:rPr lang="tr-TR" dirty="0"/>
              <a:t>4. </a:t>
            </a:r>
            <a:r>
              <a:rPr lang="tr-TR" dirty="0" smtClean="0"/>
              <a:t>Biyolojikler</a:t>
            </a:r>
          </a:p>
          <a:p>
            <a:pPr lvl="1"/>
            <a:r>
              <a:rPr lang="tr-TR" dirty="0" smtClean="0"/>
              <a:t>Rituksimab </a:t>
            </a:r>
            <a:endParaRPr lang="tr-TR" dirty="0"/>
          </a:p>
          <a:p>
            <a:pPr lvl="2"/>
            <a:r>
              <a:rPr lang="tr-TR" dirty="0" smtClean="0"/>
              <a:t>Randomize </a:t>
            </a:r>
            <a:r>
              <a:rPr lang="tr-TR" dirty="0"/>
              <a:t>kontrollü çalışmaların (RKÇ) negatif sonuçlarından dolayı, RTX şu anda sadece etiket dışı, ağır böbrek veya </a:t>
            </a:r>
            <a:r>
              <a:rPr lang="tr-TR" dirty="0" smtClean="0"/>
              <a:t>ekstra renal </a:t>
            </a:r>
            <a:r>
              <a:rPr lang="tr-TR" dirty="0"/>
              <a:t>(esas olarak hematolojik ve nöropsikiyatrik) hastalığı olan veya diğer IS ajanlarına ve / veya </a:t>
            </a:r>
            <a:r>
              <a:rPr lang="tr-TR" dirty="0" err="1"/>
              <a:t>belimumab</a:t>
            </a:r>
            <a:r>
              <a:rPr lang="tr-TR" dirty="0"/>
              <a:t> hastalarına dirençli olan hastalarda ve bu ilaçlara kontrendikasyon mevcutsa kullanılmaktadır.</a:t>
            </a:r>
          </a:p>
          <a:p>
            <a:pPr lvl="2"/>
            <a:endParaRPr lang="tr-TR" dirty="0"/>
          </a:p>
          <a:p>
            <a:pPr lvl="2"/>
            <a:r>
              <a:rPr lang="tr-TR" dirty="0"/>
              <a:t>Genel bir kural olarak, RTX uygulamasından önce birden fazla IS ilacının başarısız olması gerekir, (ciddi </a:t>
            </a:r>
            <a:r>
              <a:rPr lang="tr-TR" dirty="0" smtClean="0"/>
              <a:t>immün </a:t>
            </a:r>
            <a:r>
              <a:rPr lang="tr-TR" dirty="0"/>
              <a:t>trombositopeni ve hemolitik anemi durumları hariç) .</a:t>
            </a:r>
          </a:p>
          <a:p>
            <a:pPr lvl="2"/>
            <a:r>
              <a:rPr lang="tr-TR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960473071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2. SLE Tedavisi</a:t>
            </a:r>
            <a:br>
              <a:rPr lang="tr-TR" smtClean="0"/>
            </a:br>
            <a:endParaRPr lang="tr-TR" dirty="0" smtClean="0"/>
          </a:p>
        </p:txBody>
      </p:sp>
      <p:sp>
        <p:nvSpPr>
          <p:cNvPr id="37890" name="Rectangle 5"/>
          <p:cNvSpPr>
            <a:spLocks noGrp="1" noChangeArrowheads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tr-TR" dirty="0"/>
              <a:t>4. </a:t>
            </a:r>
            <a:r>
              <a:rPr lang="tr-TR" dirty="0" smtClean="0"/>
              <a:t>Biyolojikler</a:t>
            </a:r>
          </a:p>
          <a:p>
            <a:pPr lvl="1"/>
            <a:r>
              <a:rPr lang="tr-TR" dirty="0" smtClean="0"/>
              <a:t>Rituksimab </a:t>
            </a:r>
            <a:endParaRPr lang="tr-TR" dirty="0"/>
          </a:p>
          <a:p>
            <a:pPr lvl="2"/>
            <a:r>
              <a:rPr lang="tr-TR" dirty="0" err="1"/>
              <a:t>LN'de</a:t>
            </a:r>
            <a:r>
              <a:rPr lang="tr-TR" dirty="0"/>
              <a:t>, RTX tipik olarak birinci basamak tedavilerin (CYC, MMF) başarısız olması durumunda veya tekrarlayan hastalıkların ardından düşünülebilir. </a:t>
            </a:r>
          </a:p>
        </p:txBody>
      </p:sp>
    </p:spTree>
    <p:extLst>
      <p:ext uri="{BB962C8B-B14F-4D97-AF65-F5344CB8AC3E}">
        <p14:creationId xmlns:p14="http://schemas.microsoft.com/office/powerpoint/2010/main" val="1775514792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Özel Durumlar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411552"/>
            <a:ext cx="8382000" cy="3200876"/>
          </a:xfrm>
        </p:spPr>
        <p:txBody>
          <a:bodyPr/>
          <a:lstStyle/>
          <a:p>
            <a:r>
              <a:rPr lang="tr-TR" dirty="0" smtClean="0"/>
              <a:t>Cilt hastalığı</a:t>
            </a:r>
          </a:p>
          <a:p>
            <a:pPr lvl="1"/>
            <a:r>
              <a:rPr lang="tr-TR" dirty="0" err="1" smtClean="0"/>
              <a:t>SLE'deki</a:t>
            </a:r>
            <a:r>
              <a:rPr lang="tr-TR" dirty="0" smtClean="0"/>
              <a:t> cilt hastalığının birinci basamak tedavisi topikal ajanları (GC, kalsinörin inhibitörleri) (2b / B), </a:t>
            </a:r>
            <a:r>
              <a:rPr lang="tr-TR" dirty="0" err="1" smtClean="0"/>
              <a:t>antimalaryalleri</a:t>
            </a:r>
            <a:r>
              <a:rPr lang="tr-TR" dirty="0" smtClean="0"/>
              <a:t> (HCQ, kinakrin) (1a / A) ve / veya sistemik GC kullanımını içermektedir.(4 / C).</a:t>
            </a:r>
          </a:p>
          <a:p>
            <a:pPr lvl="1"/>
            <a:r>
              <a:rPr lang="tr-TR" dirty="0" smtClean="0"/>
              <a:t> Tedaviye cevap vermeyen vakalarda  yüksek doz GC, metotreksat (3a / B), retinoidler (4 / C), dapson (4 / C) veya mikofenolat (4 / C) gerekli durumlarda eklenebilir.</a:t>
            </a:r>
          </a:p>
        </p:txBody>
      </p: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Özel Durumlar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411552"/>
            <a:ext cx="8382000" cy="4873129"/>
          </a:xfrm>
        </p:spPr>
        <p:txBody>
          <a:bodyPr/>
          <a:lstStyle/>
          <a:p>
            <a:r>
              <a:rPr lang="tr-TR" dirty="0" smtClean="0"/>
              <a:t>1. Cilt hastalığı</a:t>
            </a:r>
          </a:p>
          <a:p>
            <a:pPr lvl="1"/>
            <a:r>
              <a:rPr lang="tr-TR" dirty="0" smtClean="0"/>
              <a:t>Kütanöz </a:t>
            </a:r>
            <a:r>
              <a:rPr lang="tr-TR" dirty="0"/>
              <a:t>lupus eritematozus (KLE) hastalarında yapılan çalışmalardan elde edilen geniş bir kanıt grubu vardır. Geniş spektrumlu güneş kremi ile ultraviyole ışınlarına karşı koruma sağlanması ve sigaranın bırakılması şiddetle önerilir. </a:t>
            </a:r>
          </a:p>
          <a:p>
            <a:pPr lvl="1"/>
            <a:r>
              <a:rPr lang="tr-TR" dirty="0" smtClean="0"/>
              <a:t>Atipik </a:t>
            </a:r>
            <a:r>
              <a:rPr lang="tr-TR" dirty="0"/>
              <a:t>veya refrakter vakalarda, tanısal cilt biyopsisi düşünülmelidir. </a:t>
            </a:r>
          </a:p>
          <a:p>
            <a:pPr lvl="1"/>
            <a:r>
              <a:rPr lang="tr-TR" dirty="0" smtClean="0"/>
              <a:t>Cilt </a:t>
            </a:r>
            <a:r>
              <a:rPr lang="tr-TR" dirty="0"/>
              <a:t>hastalığının birinci basamak tedavisi, topikal ajanları  ve </a:t>
            </a:r>
            <a:r>
              <a:rPr lang="tr-TR" dirty="0" err="1"/>
              <a:t>antimalaryalleri</a:t>
            </a:r>
            <a:r>
              <a:rPr lang="tr-TR" dirty="0"/>
              <a:t> içerir. (sistemik glukokortikoidleri içersin veya içermesin). </a:t>
            </a:r>
          </a:p>
          <a:p>
            <a:pPr lvl="1"/>
            <a:endParaRPr lang="tr-TR" dirty="0" err="1"/>
          </a:p>
        </p:txBody>
      </p:sp>
    </p:spTree>
    <p:extLst>
      <p:ext uri="{BB962C8B-B14F-4D97-AF65-F5344CB8AC3E}">
        <p14:creationId xmlns:p14="http://schemas.microsoft.com/office/powerpoint/2010/main" val="364941900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Özel Durumlar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411552"/>
            <a:ext cx="8382000" cy="3683060"/>
          </a:xfrm>
        </p:spPr>
        <p:txBody>
          <a:bodyPr/>
          <a:lstStyle/>
          <a:p>
            <a:r>
              <a:rPr lang="tr-TR" dirty="0" smtClean="0"/>
              <a:t>1. Cilt hastalığı</a:t>
            </a:r>
          </a:p>
          <a:p>
            <a:pPr lvl="1"/>
            <a:r>
              <a:rPr lang="tr-TR" dirty="0"/>
              <a:t>HCQ, birçok yararlı etkisi ve muhtemelen retina toksisitesi için daha düşük risk nedeniyle klorokin yerine tercih edilen antimalaryaldir</a:t>
            </a:r>
          </a:p>
          <a:p>
            <a:pPr lvl="1"/>
            <a:r>
              <a:rPr lang="tr-TR" dirty="0"/>
              <a:t>Yetersiz yanıt veya toksik retinopati kanıtı durumunda ,  olarak kinakrin (</a:t>
            </a:r>
            <a:r>
              <a:rPr lang="tr-TR" dirty="0" err="1"/>
              <a:t>mepakrin</a:t>
            </a:r>
            <a:r>
              <a:rPr lang="tr-TR" dirty="0"/>
              <a:t>) kullanılabilir.</a:t>
            </a:r>
          </a:p>
          <a:p>
            <a:pPr lvl="1"/>
            <a:r>
              <a:rPr lang="tr-TR" dirty="0"/>
              <a:t>Kinakrin şu anda dünya çapında pek çok ülkede bulunmamasına rağmen, mümkün olduğunda yararlı bir alternatiftir</a:t>
            </a:r>
            <a:r>
              <a:rPr lang="tr-TR" dirty="0" smtClean="0"/>
              <a:t>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88672413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Özel Durumlar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411552"/>
            <a:ext cx="8382000" cy="3683060"/>
          </a:xfrm>
        </p:spPr>
        <p:txBody>
          <a:bodyPr/>
          <a:lstStyle/>
          <a:p>
            <a:r>
              <a:rPr lang="tr-TR" dirty="0" smtClean="0"/>
              <a:t>1. Cilt hastalığı</a:t>
            </a:r>
          </a:p>
          <a:p>
            <a:pPr lvl="1"/>
            <a:r>
              <a:rPr lang="tr-TR" dirty="0"/>
              <a:t>HCQ, birçok yararlı etkisi ve muhtemelen retina toksisitesi için daha düşük risk nedeniyle klorokin yerine tercih edilen antimalaryaldir</a:t>
            </a:r>
          </a:p>
          <a:p>
            <a:pPr lvl="1"/>
            <a:r>
              <a:rPr lang="tr-TR" dirty="0"/>
              <a:t>Yetersiz yanıt veya toksik retinopati kanıtı durumunda ,  olarak kinakrin (</a:t>
            </a:r>
            <a:r>
              <a:rPr lang="tr-TR" dirty="0" err="1"/>
              <a:t>mepakrin</a:t>
            </a:r>
            <a:r>
              <a:rPr lang="tr-TR" dirty="0"/>
              <a:t>) kullanılabilir.</a:t>
            </a:r>
          </a:p>
          <a:p>
            <a:pPr lvl="1"/>
            <a:r>
              <a:rPr lang="tr-TR" dirty="0"/>
              <a:t>Kinakrin şu anda dünya çapında pek çok ülkede bulunmamasına rağmen, mümkün olduğunda yararlı bir alternatiftir</a:t>
            </a:r>
            <a:r>
              <a:rPr lang="tr-TR" dirty="0" smtClean="0"/>
              <a:t>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16255771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Özel Durumlar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411552"/>
            <a:ext cx="8382000" cy="3683060"/>
          </a:xfrm>
        </p:spPr>
        <p:txBody>
          <a:bodyPr/>
          <a:lstStyle/>
          <a:p>
            <a:r>
              <a:rPr lang="tr-TR" dirty="0" smtClean="0"/>
              <a:t>1. Cilt hastalığı</a:t>
            </a:r>
          </a:p>
          <a:p>
            <a:pPr lvl="1"/>
            <a:r>
              <a:rPr lang="tr-TR" dirty="0" err="1" smtClean="0"/>
              <a:t>Kinakrinin</a:t>
            </a:r>
            <a:r>
              <a:rPr lang="tr-TR" dirty="0" smtClean="0"/>
              <a:t> </a:t>
            </a:r>
            <a:r>
              <a:rPr lang="tr-TR" dirty="0"/>
              <a:t>retina toksisitesini daha yeni, daha hassas tarama teknikleriyle (görsel alanlar veya optik </a:t>
            </a:r>
            <a:r>
              <a:rPr lang="tr-TR" dirty="0" err="1"/>
              <a:t>koherens</a:t>
            </a:r>
            <a:r>
              <a:rPr lang="tr-TR" dirty="0"/>
              <a:t> tomografi) inceleyen herhangi bir çalışma yoktur; Bununla birlikte mevcut bilgi ile birlikte retinopati, </a:t>
            </a:r>
            <a:r>
              <a:rPr lang="tr-TR" dirty="0" err="1"/>
              <a:t>kinakrinin</a:t>
            </a:r>
            <a:r>
              <a:rPr lang="tr-TR" dirty="0"/>
              <a:t> yan etkisi olarak kabul edilmez</a:t>
            </a:r>
            <a:r>
              <a:rPr lang="tr-TR" dirty="0" smtClean="0"/>
              <a:t>.</a:t>
            </a:r>
          </a:p>
          <a:p>
            <a:pPr lvl="1"/>
            <a:r>
              <a:rPr lang="tr-TR" dirty="0"/>
              <a:t>Hastaların büyük bir kısmı (neredeyse% 40) birinci basamak tedaviye cevap vermeyecektir. </a:t>
            </a:r>
          </a:p>
          <a:p>
            <a:pPr lvl="1"/>
            <a:r>
              <a:rPr lang="tr-TR" dirty="0" smtClean="0"/>
              <a:t>Bu </a:t>
            </a:r>
            <a:r>
              <a:rPr lang="tr-TR" dirty="0"/>
              <a:t>gibi durumlarda, MTX eklenebilir. </a:t>
            </a:r>
          </a:p>
        </p:txBody>
      </p:sp>
    </p:spTree>
    <p:extLst>
      <p:ext uri="{BB962C8B-B14F-4D97-AF65-F5344CB8AC3E}">
        <p14:creationId xmlns:p14="http://schemas.microsoft.com/office/powerpoint/2010/main" val="2173251800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Özel Durumlar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411552"/>
            <a:ext cx="8382000" cy="4647426"/>
          </a:xfrm>
        </p:spPr>
        <p:txBody>
          <a:bodyPr/>
          <a:lstStyle/>
          <a:p>
            <a:r>
              <a:rPr lang="tr-TR" dirty="0" smtClean="0"/>
              <a:t>1. Cilt hastalığı</a:t>
            </a:r>
          </a:p>
          <a:p>
            <a:pPr lvl="1"/>
            <a:r>
              <a:rPr lang="tr-TR" dirty="0" smtClean="0"/>
              <a:t>Diğer </a:t>
            </a:r>
            <a:r>
              <a:rPr lang="tr-TR" dirty="0"/>
              <a:t>ajanlar arasında retinoidler, dapson ve MMF veya EC-</a:t>
            </a:r>
            <a:r>
              <a:rPr lang="tr-TR" dirty="0" err="1"/>
              <a:t>mikofenolik</a:t>
            </a:r>
            <a:r>
              <a:rPr lang="tr-TR" dirty="0"/>
              <a:t> asit bulunur.</a:t>
            </a:r>
          </a:p>
          <a:p>
            <a:pPr lvl="1"/>
            <a:endParaRPr lang="tr-TR" dirty="0"/>
          </a:p>
          <a:p>
            <a:pPr lvl="1"/>
            <a:r>
              <a:rPr lang="tr-TR" dirty="0" err="1"/>
              <a:t>Belimumab</a:t>
            </a:r>
            <a:r>
              <a:rPr lang="tr-TR" dirty="0"/>
              <a:t> ve RTX ayrıca SLE'nin </a:t>
            </a:r>
            <a:r>
              <a:rPr lang="tr-TR" dirty="0" smtClean="0"/>
              <a:t>mukokütanöz </a:t>
            </a:r>
            <a:r>
              <a:rPr lang="tr-TR" dirty="0"/>
              <a:t>tutulumlarında etkinlik göstermiş olsa da, bu çalışmalar cilt lezyonları için onaylanmış bir aktivite skoru içermemiştir.</a:t>
            </a:r>
          </a:p>
          <a:p>
            <a:pPr lvl="1"/>
            <a:endParaRPr lang="tr-TR" dirty="0"/>
          </a:p>
          <a:p>
            <a:pPr lvl="1"/>
            <a:r>
              <a:rPr lang="tr-TR" dirty="0"/>
              <a:t>RTX, cilt </a:t>
            </a:r>
            <a:r>
              <a:rPr lang="tr-TR" dirty="0" err="1"/>
              <a:t>lupusunun</a:t>
            </a:r>
            <a:r>
              <a:rPr lang="tr-TR" dirty="0"/>
              <a:t> kronik formlarında daha az etkili olabilir. </a:t>
            </a:r>
          </a:p>
        </p:txBody>
      </p:sp>
    </p:spTree>
    <p:extLst>
      <p:ext uri="{BB962C8B-B14F-4D97-AF65-F5344CB8AC3E}">
        <p14:creationId xmlns:p14="http://schemas.microsoft.com/office/powerpoint/2010/main" val="3297896647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Özel Durumlar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411552"/>
            <a:ext cx="8382000" cy="3200876"/>
          </a:xfrm>
        </p:spPr>
        <p:txBody>
          <a:bodyPr/>
          <a:lstStyle/>
          <a:p>
            <a:r>
              <a:rPr lang="tr-TR" dirty="0" smtClean="0"/>
              <a:t>1. Cilt hastalığı</a:t>
            </a:r>
          </a:p>
          <a:p>
            <a:pPr lvl="1"/>
            <a:r>
              <a:rPr lang="tr-TR" dirty="0"/>
              <a:t>Talidomid, </a:t>
            </a:r>
            <a:r>
              <a:rPr lang="tr-TR" dirty="0" smtClean="0"/>
              <a:t>kütanöz </a:t>
            </a:r>
            <a:r>
              <a:rPr lang="tr-TR" dirty="0"/>
              <a:t>hastalığın çeşitli alt tiplerinde etkilidir. </a:t>
            </a:r>
            <a:endParaRPr lang="tr-TR" dirty="0" smtClean="0"/>
          </a:p>
          <a:p>
            <a:pPr lvl="1"/>
            <a:r>
              <a:rPr lang="tr-TR" dirty="0" smtClean="0"/>
              <a:t>Gebelikteki </a:t>
            </a:r>
            <a:r>
              <a:rPr lang="tr-TR" dirty="0"/>
              <a:t>sıkı kontrendikasyonu, geri dönüşü olmayan polinöropati riski ve sıklıkla ilaç kesilmesinde tekrarlama olması nedeniyle, daha önce birden fazla ajanı kullanıp fayda görmeyen  hastalarda sadece 'kurtarma' tedavisi olarak düşünülmelidir.</a:t>
            </a:r>
          </a:p>
        </p:txBody>
      </p:sp>
    </p:spTree>
    <p:extLst>
      <p:ext uri="{BB962C8B-B14F-4D97-AF65-F5344CB8AC3E}">
        <p14:creationId xmlns:p14="http://schemas.microsoft.com/office/powerpoint/2010/main" val="808181546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AutoShape 2"/>
          <p:cNvSpPr>
            <a:spLocks noGrp="1" noChangeArrowheads="1"/>
          </p:cNvSpPr>
          <p:nvPr>
            <p:ph type="title"/>
          </p:nvPr>
        </p:nvSpPr>
        <p:spPr>
          <a:xfrm>
            <a:off x="395536" y="332656"/>
            <a:ext cx="8382000" cy="553998"/>
          </a:xfrm>
        </p:spPr>
        <p:txBody>
          <a:bodyPr/>
          <a:lstStyle/>
          <a:p>
            <a:r>
              <a:rPr lang="tr-TR" smtClean="0"/>
              <a:t>Özel Durumlar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846866"/>
            <a:ext cx="8382000" cy="5678478"/>
          </a:xfrm>
        </p:spPr>
        <p:txBody>
          <a:bodyPr/>
          <a:lstStyle/>
          <a:p>
            <a:r>
              <a:rPr lang="tr-TR" dirty="0"/>
              <a:t>2. </a:t>
            </a:r>
            <a:r>
              <a:rPr lang="tr-TR" dirty="0" smtClean="0"/>
              <a:t>Nöropsikiyatrik hastalık</a:t>
            </a:r>
          </a:p>
          <a:p>
            <a:pPr lvl="1"/>
            <a:r>
              <a:rPr lang="tr-TR" dirty="0" err="1"/>
              <a:t>SLE'ye</a:t>
            </a:r>
            <a:r>
              <a:rPr lang="tr-TR" dirty="0"/>
              <a:t> bağlı olan veya </a:t>
            </a:r>
            <a:r>
              <a:rPr lang="tr-TR" dirty="0" err="1"/>
              <a:t>SLE'ye</a:t>
            </a:r>
            <a:r>
              <a:rPr lang="tr-TR" dirty="0"/>
              <a:t> bağlı olmayan nöropsikiyatrik belirtilerin değerlendirilmesinde, </a:t>
            </a:r>
            <a:r>
              <a:rPr lang="tr-TR" dirty="0" err="1"/>
              <a:t>nörogörüntüleme</a:t>
            </a:r>
            <a:r>
              <a:rPr lang="tr-TR" dirty="0"/>
              <a:t>, beyin omurilik sıvısının araştırılması, risk faktörlerinin göz önünde bulundurulması (lupus başlangıcına bağlı olarak durumun türü ve zamanlaması, hasta yaşı, nörolojik olmayan lupus aktivitesi, </a:t>
            </a:r>
            <a:r>
              <a:rPr lang="tr-TR" dirty="0" err="1"/>
              <a:t>aPL</a:t>
            </a:r>
            <a:r>
              <a:rPr lang="tr-TR" dirty="0"/>
              <a:t> varlığı ) ve karışıklığa neden olabilecek faktörlerin dışlanması yardımcı olabilecek faktörlerdir.(2b / C).  </a:t>
            </a:r>
          </a:p>
          <a:p>
            <a:pPr lvl="1"/>
            <a:r>
              <a:rPr lang="tr-TR" dirty="0"/>
              <a:t>SLE ile ilişkili nöropsikiyatrik hastalığın tedavisinde </a:t>
            </a:r>
            <a:r>
              <a:rPr lang="tr-TR" dirty="0" smtClean="0"/>
              <a:t>inflamatuvar </a:t>
            </a:r>
            <a:r>
              <a:rPr lang="tr-TR" dirty="0"/>
              <a:t>süreçle ilgili durumlar için glukokortikoidleri / </a:t>
            </a:r>
            <a:r>
              <a:rPr lang="tr-TR" dirty="0" smtClean="0"/>
              <a:t>immünosüpresif </a:t>
            </a:r>
            <a:r>
              <a:rPr lang="tr-TR" dirty="0"/>
              <a:t>ajanları (1b / A),  </a:t>
            </a:r>
            <a:r>
              <a:rPr lang="tr-TR" dirty="0" err="1"/>
              <a:t>aterotrombotik</a:t>
            </a:r>
            <a:r>
              <a:rPr lang="tr-TR" dirty="0"/>
              <a:t> / </a:t>
            </a:r>
            <a:r>
              <a:rPr lang="tr-TR" dirty="0" err="1"/>
              <a:t>aPL</a:t>
            </a:r>
            <a:r>
              <a:rPr lang="tr-TR" dirty="0"/>
              <a:t> ile ilişkili durumlar için antiplatelet / antikoagülan tedavilerini içermektedir.</a:t>
            </a:r>
          </a:p>
        </p:txBody>
      </p:sp>
    </p:spTree>
    <p:extLst>
      <p:ext uri="{BB962C8B-B14F-4D97-AF65-F5344CB8AC3E}">
        <p14:creationId xmlns:p14="http://schemas.microsoft.com/office/powerpoint/2010/main" val="1383478489"/>
      </p:ext>
    </p:extLst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Özel Durumlar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411552"/>
            <a:ext cx="8382000" cy="4037003"/>
          </a:xfrm>
        </p:spPr>
        <p:txBody>
          <a:bodyPr/>
          <a:lstStyle/>
          <a:p>
            <a:r>
              <a:rPr lang="tr-TR" dirty="0" smtClean="0"/>
              <a:t>2. Nöropsikiyatrik hastalık</a:t>
            </a:r>
          </a:p>
          <a:p>
            <a:pPr lvl="1"/>
            <a:r>
              <a:rPr lang="tr-TR" dirty="0" smtClean="0"/>
              <a:t>Nöropsikiyatrik belirtilerin </a:t>
            </a:r>
            <a:r>
              <a:rPr lang="tr-TR" dirty="0" err="1" smtClean="0"/>
              <a:t>SLE'ye</a:t>
            </a:r>
            <a:r>
              <a:rPr lang="tr-TR" dirty="0" smtClean="0"/>
              <a:t> atfedilmesi için öncelikle mevcut bulgulara neden olabilecek  diğer faktörlerin (enfeksiyonlar, malignite ve diğerleri) dışlamak amacıyla kapsamlı, disiplinli bir yaklaşım gerekmektedir.</a:t>
            </a:r>
          </a:p>
          <a:p>
            <a:pPr lvl="1"/>
            <a:endParaRPr lang="tr-TR" dirty="0" smtClean="0"/>
          </a:p>
          <a:p>
            <a:pPr lvl="1"/>
            <a:r>
              <a:rPr lang="tr-TR" dirty="0" smtClean="0"/>
              <a:t>Nörolojik hastalık aktivitesi, anormal </a:t>
            </a:r>
            <a:r>
              <a:rPr lang="tr-TR" dirty="0" err="1" smtClean="0"/>
              <a:t>nörogörüntüleme</a:t>
            </a:r>
            <a:r>
              <a:rPr lang="tr-TR" dirty="0" smtClean="0"/>
              <a:t> ve beyin omurilik sıvısı analizi, pozitif Antifosfolipid antikorları teşhis sürecinde yardımcı olabilir. 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97787184"/>
      </p:ext>
    </p:extLst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Özel Durumlar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268760"/>
            <a:ext cx="8382000" cy="5227072"/>
          </a:xfrm>
        </p:spPr>
        <p:txBody>
          <a:bodyPr/>
          <a:lstStyle/>
          <a:p>
            <a:r>
              <a:rPr lang="tr-TR" dirty="0" smtClean="0"/>
              <a:t>2. Nöropsikiyatrik hastalık</a:t>
            </a:r>
          </a:p>
          <a:p>
            <a:pPr lvl="1"/>
            <a:r>
              <a:rPr lang="tr-TR" dirty="0"/>
              <a:t>NPSLE tedavisi, altta yatan patofizyolojik mekanizmanın, </a:t>
            </a:r>
            <a:r>
              <a:rPr lang="tr-TR" dirty="0" smtClean="0"/>
              <a:t>inflamatuvar </a:t>
            </a:r>
            <a:r>
              <a:rPr lang="tr-TR" dirty="0"/>
              <a:t>mı yoksa embolik / trombotik / iskemik mi olduğu varsayımına bağlıdır. </a:t>
            </a:r>
          </a:p>
          <a:p>
            <a:pPr lvl="1"/>
            <a:r>
              <a:rPr lang="tr-TR" dirty="0" smtClean="0"/>
              <a:t>GC </a:t>
            </a:r>
            <a:r>
              <a:rPr lang="tr-TR" dirty="0"/>
              <a:t>ve / veya IS ajanları tedavide göz önünde bulundurulurken, </a:t>
            </a:r>
            <a:r>
              <a:rPr lang="tr-TR" dirty="0" err="1"/>
              <a:t>aPL</a:t>
            </a:r>
            <a:r>
              <a:rPr lang="tr-TR" dirty="0"/>
              <a:t> antikorları+ olduğunda antikoagülan / antitrombotik tedavinin tercih edilmesi avantajlı olabilmektedir.</a:t>
            </a:r>
          </a:p>
          <a:p>
            <a:pPr lvl="1"/>
            <a:r>
              <a:rPr lang="tr-TR" dirty="0" smtClean="0"/>
              <a:t>Klinik </a:t>
            </a:r>
            <a:r>
              <a:rPr lang="tr-TR" dirty="0"/>
              <a:t>pratikte iki patofizyolojik süreç arasındaki ayrım kolay olmayabilir veya iki süreç aynı hastada birlikte bulunabilir. </a:t>
            </a:r>
          </a:p>
          <a:p>
            <a:pPr lvl="1"/>
            <a:r>
              <a:rPr lang="tr-TR" dirty="0" smtClean="0"/>
              <a:t>Bu </a:t>
            </a:r>
            <a:r>
              <a:rPr lang="tr-TR" dirty="0"/>
              <a:t>hastalarda IS ve antikoagülan / antitrombotik tedavi kombinasyonu düşünülebilir. </a:t>
            </a:r>
          </a:p>
        </p:txBody>
      </p:sp>
    </p:spTree>
    <p:extLst>
      <p:ext uri="{BB962C8B-B14F-4D97-AF65-F5344CB8AC3E}">
        <p14:creationId xmlns:p14="http://schemas.microsoft.com/office/powerpoint/2010/main" val="2888872565"/>
      </p:ext>
    </p:extLst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Özel Durumlar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268760"/>
            <a:ext cx="8382000" cy="4262705"/>
          </a:xfrm>
        </p:spPr>
        <p:txBody>
          <a:bodyPr/>
          <a:lstStyle/>
          <a:p>
            <a:r>
              <a:rPr lang="tr-TR" dirty="0" smtClean="0"/>
              <a:t>2. Nöropsikiyatrik hastalık</a:t>
            </a:r>
          </a:p>
          <a:p>
            <a:pPr lvl="1"/>
            <a:r>
              <a:rPr lang="tr-TR" dirty="0" smtClean="0"/>
              <a:t>Serebrovasküler </a:t>
            </a:r>
            <a:r>
              <a:rPr lang="tr-TR" dirty="0"/>
              <a:t>hastalığı olan SLE hastalarının yönetimi akut dönemde genel popülasyon gibi olmalıdır; ek olarak  CNS dışı lupus aktivitesini kontrol etmede IS ilaçlar </a:t>
            </a:r>
            <a:r>
              <a:rPr lang="tr-TR" dirty="0" err="1"/>
              <a:t>aPL</a:t>
            </a:r>
            <a:r>
              <a:rPr lang="tr-TR" dirty="0"/>
              <a:t> antikorlarının ve diğer aterosklerotik risk faktörleri ve tekrarlayan serebrovasküler olayların yokluğunda düşünülebilir. </a:t>
            </a:r>
          </a:p>
          <a:p>
            <a:pPr lvl="1"/>
            <a:r>
              <a:rPr lang="tr-TR" dirty="0"/>
              <a:t> Hedefli semptomatik tedavi, semptomların tipine uygun olarak düzenlenebilir.(örneğin, psikoz için antipsikotikler, anksiyete bozukluğu için </a:t>
            </a:r>
            <a:r>
              <a:rPr lang="tr-TR" dirty="0" err="1"/>
              <a:t>anksiyolitikler</a:t>
            </a:r>
            <a:r>
              <a:rPr lang="tr-TR" dirty="0"/>
              <a:t> ve benzeri</a:t>
            </a:r>
            <a:r>
              <a:rPr lang="tr-TR" dirty="0" smtClean="0"/>
              <a:t>).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88302854"/>
      </p:ext>
    </p:extLst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Özel Durumlar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268760"/>
            <a:ext cx="8382000" cy="4037003"/>
          </a:xfrm>
        </p:spPr>
        <p:txBody>
          <a:bodyPr/>
          <a:lstStyle/>
          <a:p>
            <a:r>
              <a:rPr lang="tr-TR" dirty="0"/>
              <a:t>3. Hematolojik </a:t>
            </a:r>
            <a:r>
              <a:rPr lang="tr-TR" dirty="0" smtClean="0"/>
              <a:t>hastalık</a:t>
            </a:r>
          </a:p>
          <a:p>
            <a:pPr lvl="1"/>
            <a:r>
              <a:rPr lang="tr-TR" dirty="0"/>
              <a:t>Lupus </a:t>
            </a:r>
            <a:r>
              <a:rPr lang="tr-TR" dirty="0" err="1"/>
              <a:t>trombositopenisinin</a:t>
            </a:r>
            <a:r>
              <a:rPr lang="tr-TR" dirty="0"/>
              <a:t> akut tedavisi yüksek doz GC (intravenöz metilprednizolonun darbeleri dahil) (4 / C) ve / veya intravenöz içerir </a:t>
            </a:r>
            <a:r>
              <a:rPr lang="tr-TR" dirty="0" smtClean="0"/>
              <a:t>immünglobülin </a:t>
            </a:r>
            <a:r>
              <a:rPr lang="tr-TR" dirty="0"/>
              <a:t>G (4 / C). 9.95 (0.22) </a:t>
            </a:r>
          </a:p>
          <a:p>
            <a:pPr lvl="1"/>
            <a:r>
              <a:rPr lang="tr-TR" dirty="0"/>
              <a:t>Yanıtın sürdürülmesi için, </a:t>
            </a:r>
            <a:r>
              <a:rPr lang="tr-TR" dirty="0" smtClean="0"/>
              <a:t>immünosüpresif </a:t>
            </a:r>
            <a:r>
              <a:rPr lang="tr-TR" dirty="0"/>
              <a:t>/ GC, mikofenolat (2b / C), </a:t>
            </a:r>
            <a:r>
              <a:rPr lang="tr-TR" dirty="0" err="1"/>
              <a:t>azatiyoprin</a:t>
            </a:r>
            <a:r>
              <a:rPr lang="tr-TR" dirty="0"/>
              <a:t> (2b / C) veya siklosporin (4 / C) gibi maddeler kullanılabilir. </a:t>
            </a:r>
          </a:p>
          <a:p>
            <a:pPr lvl="1"/>
            <a:r>
              <a:rPr lang="tr-TR" dirty="0"/>
              <a:t>Refrakter vakalar, </a:t>
            </a:r>
            <a:r>
              <a:rPr lang="tr-TR" dirty="0" err="1"/>
              <a:t>rituksimab</a:t>
            </a:r>
            <a:r>
              <a:rPr lang="tr-TR" dirty="0"/>
              <a:t> (3a / C) veya siklofosfamid (4 / C) ile tedavi edilebilir. </a:t>
            </a:r>
          </a:p>
        </p:txBody>
      </p:sp>
    </p:spTree>
    <p:extLst>
      <p:ext uri="{BB962C8B-B14F-4D97-AF65-F5344CB8AC3E}">
        <p14:creationId xmlns:p14="http://schemas.microsoft.com/office/powerpoint/2010/main" val="1495878977"/>
      </p:ext>
    </p:extLst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Özel Durumlar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268760"/>
            <a:ext cx="8382000" cy="4262705"/>
          </a:xfrm>
        </p:spPr>
        <p:txBody>
          <a:bodyPr/>
          <a:lstStyle/>
          <a:p>
            <a:r>
              <a:rPr lang="tr-TR" dirty="0"/>
              <a:t>3. Hematolojik </a:t>
            </a:r>
            <a:r>
              <a:rPr lang="tr-TR" dirty="0" smtClean="0"/>
              <a:t>hastalık</a:t>
            </a:r>
          </a:p>
          <a:p>
            <a:pPr lvl="1"/>
            <a:r>
              <a:rPr lang="tr-TR" dirty="0" smtClean="0"/>
              <a:t>SLE </a:t>
            </a:r>
            <a:r>
              <a:rPr lang="tr-TR" dirty="0"/>
              <a:t>hastalarında sıklıkla </a:t>
            </a:r>
            <a:r>
              <a:rPr lang="tr-TR" dirty="0" smtClean="0"/>
              <a:t>anti inflamatuvar </a:t>
            </a:r>
            <a:r>
              <a:rPr lang="tr-TR" dirty="0"/>
              <a:t>/ IS tedavisi gerektiren hematolojik bulgular arasında trombositopeni ve otoimmün hemolitik anemi (AIHA) bulunur.</a:t>
            </a:r>
          </a:p>
          <a:p>
            <a:pPr lvl="1"/>
            <a:r>
              <a:rPr lang="tr-TR" dirty="0"/>
              <a:t> Önemli lupus </a:t>
            </a:r>
            <a:r>
              <a:rPr lang="tr-TR" dirty="0" err="1"/>
              <a:t>trombositopenisinin</a:t>
            </a:r>
            <a:r>
              <a:rPr lang="tr-TR" dirty="0"/>
              <a:t> birinci basamak tedavisini (trombosit sayısı 30 000 / mm3'ün altında), orta/yüksek doz GK ile IS ajanların (AZA, MMF veya siklosporin</a:t>
            </a:r>
            <a:r>
              <a:rPr lang="tr-TR" dirty="0" smtClean="0"/>
              <a:t>; </a:t>
            </a:r>
            <a:r>
              <a:rPr lang="tr-TR" dirty="0" err="1" smtClean="0"/>
              <a:t>miyelotoksisite</a:t>
            </a:r>
            <a:r>
              <a:rPr lang="tr-TR" dirty="0" smtClean="0"/>
              <a:t> </a:t>
            </a:r>
            <a:r>
              <a:rPr lang="tr-TR" dirty="0"/>
              <a:t>için en düşük toksisite potansiyeli) kombinasyon halinde kullanılması oluşturmaktadır. </a:t>
            </a:r>
          </a:p>
        </p:txBody>
      </p:sp>
    </p:spTree>
    <p:extLst>
      <p:ext uri="{BB962C8B-B14F-4D97-AF65-F5344CB8AC3E}">
        <p14:creationId xmlns:p14="http://schemas.microsoft.com/office/powerpoint/2010/main" val="1754795344"/>
      </p:ext>
    </p:extLst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Özel Durumlar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268760"/>
            <a:ext cx="8382000" cy="14101296"/>
          </a:xfrm>
        </p:spPr>
        <p:txBody>
          <a:bodyPr/>
          <a:lstStyle/>
          <a:p>
            <a:r>
              <a:rPr lang="tr-TR" dirty="0"/>
              <a:t>3. Hematolojik </a:t>
            </a:r>
            <a:r>
              <a:rPr lang="tr-TR" dirty="0" smtClean="0"/>
              <a:t>hastalık</a:t>
            </a:r>
          </a:p>
          <a:p>
            <a:pPr lvl="1"/>
            <a:r>
              <a:rPr lang="tr-TR" dirty="0" smtClean="0"/>
              <a:t>İntravenöz </a:t>
            </a:r>
            <a:r>
              <a:rPr lang="tr-TR" dirty="0"/>
              <a:t>pulse MP tedavileri başlangıç ​​tedavisi (1-3 gün) olarak önerilmektedir.</a:t>
            </a:r>
          </a:p>
          <a:p>
            <a:pPr lvl="1"/>
            <a:r>
              <a:rPr lang="tr-TR" dirty="0" smtClean="0"/>
              <a:t>İntravenöz </a:t>
            </a:r>
            <a:r>
              <a:rPr lang="tr-TR" dirty="0" err="1"/>
              <a:t>immünoglobulin</a:t>
            </a:r>
            <a:r>
              <a:rPr lang="tr-TR" dirty="0"/>
              <a:t> (IVIG) tedavisi, yüksek dozlu </a:t>
            </a:r>
            <a:r>
              <a:rPr lang="tr-TR" dirty="0" err="1"/>
              <a:t>GC'ye</a:t>
            </a:r>
            <a:r>
              <a:rPr lang="tr-TR" dirty="0"/>
              <a:t> yetersiz cevap verilmesi veya GC ile ilgili enfektif komplikasyonlardan kaçınmak için akut fazda düşünülebilir</a:t>
            </a:r>
            <a:r>
              <a:rPr lang="tr-TR" dirty="0" smtClean="0"/>
              <a:t>.</a:t>
            </a:r>
            <a:endParaRPr lang="tr-TR" dirty="0"/>
          </a:p>
          <a:p>
            <a:pPr lvl="1"/>
            <a:r>
              <a:rPr lang="tr-TR" dirty="0" err="1"/>
              <a:t>Trombositopeninin</a:t>
            </a:r>
            <a:r>
              <a:rPr lang="tr-TR" dirty="0"/>
              <a:t> tedavisi tipik olarak uzundur ve genellikle GC azaltılması sırasında </a:t>
            </a:r>
            <a:r>
              <a:rPr lang="tr-TR" dirty="0" err="1"/>
              <a:t>nükslerle</a:t>
            </a:r>
            <a:r>
              <a:rPr lang="tr-TR" dirty="0"/>
              <a:t> karakterizedir.</a:t>
            </a:r>
          </a:p>
          <a:p>
            <a:pPr lvl="1"/>
            <a:r>
              <a:rPr lang="tr-TR" dirty="0" err="1" smtClean="0"/>
              <a:t>GC'ye</a:t>
            </a:r>
            <a:r>
              <a:rPr lang="tr-TR" dirty="0" smtClean="0"/>
              <a:t> </a:t>
            </a:r>
            <a:r>
              <a:rPr lang="tr-TR" dirty="0"/>
              <a:t>cevap vermeyen (yani, trombosit sayımı&gt; 50 000 / mm3'e ulaşamayan) veya nüks olan hastalarda, RTX, </a:t>
            </a:r>
            <a:r>
              <a:rPr lang="tr-TR" dirty="0" err="1"/>
              <a:t>ITP'deki</a:t>
            </a:r>
            <a:r>
              <a:rPr lang="tr-TR" dirty="0"/>
              <a:t> etkinliği de dikkate alınarak düşünülebilir.</a:t>
            </a:r>
          </a:p>
          <a:p>
            <a:pPr lvl="1"/>
            <a:endParaRPr lang="tr-TR" dirty="0"/>
          </a:p>
          <a:p>
            <a:pPr lvl="1"/>
            <a:r>
              <a:rPr lang="tr-TR" dirty="0"/>
              <a:t>CYC de bu gibi durumlarda düşünülebilir.</a:t>
            </a:r>
          </a:p>
          <a:p>
            <a:pPr lvl="1"/>
            <a:endParaRPr lang="tr-TR" dirty="0"/>
          </a:p>
          <a:p>
            <a:pPr lvl="1"/>
            <a:r>
              <a:rPr lang="tr-TR" dirty="0"/>
              <a:t>Son seçenek olarak </a:t>
            </a:r>
            <a:r>
              <a:rPr lang="tr-TR" dirty="0" err="1"/>
              <a:t>trombopoietin</a:t>
            </a:r>
            <a:r>
              <a:rPr lang="tr-TR" dirty="0"/>
              <a:t> agonistleri veya splenektomi önerilmektedir.</a:t>
            </a:r>
          </a:p>
          <a:p>
            <a:pPr lvl="1"/>
            <a:r>
              <a:rPr lang="tr-TR" dirty="0"/>
              <a:t>Otoimmün hemolitik anemi (AIHA), </a:t>
            </a:r>
            <a:r>
              <a:rPr lang="tr-TR" dirty="0" err="1"/>
              <a:t>SLE'deki</a:t>
            </a:r>
            <a:r>
              <a:rPr lang="tr-TR" dirty="0"/>
              <a:t> trombositopeniden çok daha az görülmekte ve tedavi olarak GC, IS ilaçları ve RTX kullanımı ile aynı prensipleri  takip etmektedir.</a:t>
            </a:r>
          </a:p>
          <a:p>
            <a:pPr lvl="1"/>
            <a:endParaRPr lang="tr-TR" dirty="0"/>
          </a:p>
          <a:p>
            <a:pPr lvl="1"/>
            <a:r>
              <a:rPr lang="tr-TR" dirty="0"/>
              <a:t>Otoimmün lökopeni SLE'de sık görülür, ancak nadiren tedavi gerekir</a:t>
            </a:r>
          </a:p>
          <a:p>
            <a:pPr lvl="1"/>
            <a:endParaRPr lang="tr-TR" dirty="0"/>
          </a:p>
          <a:p>
            <a:pPr lvl="1"/>
            <a:r>
              <a:rPr lang="tr-TR" dirty="0"/>
              <a:t>Diğer lökopeni nedenlerinin (özellikle ilaca bağlı) dışlanması önem arz etmektedir.</a:t>
            </a:r>
          </a:p>
          <a:p>
            <a:pPr lvl="1"/>
            <a:endParaRPr lang="tr-TR" dirty="0"/>
          </a:p>
          <a:p>
            <a:pPr lvl="1"/>
            <a:endParaRPr lang="tr-TR" dirty="0"/>
          </a:p>
          <a:p>
            <a:pPr lvl="1"/>
            <a:endParaRPr lang="tr-TR" dirty="0"/>
          </a:p>
          <a:p>
            <a:pPr lvl="1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81089772"/>
      </p:ext>
    </p:extLst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Özel Durumlar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268760"/>
            <a:ext cx="8382000" cy="4519186"/>
          </a:xfrm>
        </p:spPr>
        <p:txBody>
          <a:bodyPr/>
          <a:lstStyle/>
          <a:p>
            <a:r>
              <a:rPr lang="tr-TR" dirty="0"/>
              <a:t>3. Hematolojik </a:t>
            </a:r>
            <a:r>
              <a:rPr lang="tr-TR" dirty="0" smtClean="0"/>
              <a:t>hastalık</a:t>
            </a:r>
          </a:p>
          <a:p>
            <a:pPr lvl="1"/>
            <a:r>
              <a:rPr lang="tr-TR" dirty="0" err="1" smtClean="0"/>
              <a:t>GC'ye</a:t>
            </a:r>
            <a:r>
              <a:rPr lang="tr-TR" dirty="0" smtClean="0"/>
              <a:t> </a:t>
            </a:r>
            <a:r>
              <a:rPr lang="tr-TR" dirty="0"/>
              <a:t>cevap vermeyen (yani, trombosit sayımı&gt; 50 000 / mm3'e ulaşamayan) veya nüks olan hastalarda, RTX, </a:t>
            </a:r>
            <a:r>
              <a:rPr lang="tr-TR" dirty="0" err="1"/>
              <a:t>ITP'deki</a:t>
            </a:r>
            <a:r>
              <a:rPr lang="tr-TR" dirty="0"/>
              <a:t> etkinliği de dikkate alınarak düşünülebilir.</a:t>
            </a:r>
          </a:p>
          <a:p>
            <a:pPr lvl="1"/>
            <a:r>
              <a:rPr lang="tr-TR" dirty="0" smtClean="0"/>
              <a:t>CYC </a:t>
            </a:r>
            <a:r>
              <a:rPr lang="tr-TR" dirty="0"/>
              <a:t>de bu gibi durumlarda düşünülebilir.</a:t>
            </a:r>
          </a:p>
          <a:p>
            <a:pPr lvl="1"/>
            <a:r>
              <a:rPr lang="tr-TR" dirty="0" smtClean="0"/>
              <a:t>Son </a:t>
            </a:r>
            <a:r>
              <a:rPr lang="tr-TR" dirty="0"/>
              <a:t>seçenek olarak </a:t>
            </a:r>
            <a:r>
              <a:rPr lang="tr-TR" dirty="0" smtClean="0"/>
              <a:t>trombopoetin </a:t>
            </a:r>
            <a:r>
              <a:rPr lang="tr-TR" dirty="0"/>
              <a:t>agonistleri veya splenektomi önerilmektedir.</a:t>
            </a:r>
          </a:p>
          <a:p>
            <a:pPr lvl="1"/>
            <a:r>
              <a:rPr lang="tr-TR" dirty="0"/>
              <a:t>Otoimmün hemolitik anemi (AIHA), </a:t>
            </a:r>
            <a:r>
              <a:rPr lang="tr-TR" dirty="0" err="1"/>
              <a:t>SLE'deki</a:t>
            </a:r>
            <a:r>
              <a:rPr lang="tr-TR" dirty="0"/>
              <a:t> trombositopeniden çok daha az görülmekte ve tedavi olarak GC, IS ilaçları ve RTX kullanımı ile aynı prensipleri  takip etmektedir</a:t>
            </a:r>
            <a:r>
              <a:rPr lang="tr-TR" dirty="0" smtClean="0"/>
              <a:t>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57692200"/>
      </p:ext>
    </p:extLst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Özel Durumlar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tr-TR" dirty="0"/>
              <a:t>3. </a:t>
            </a:r>
            <a:r>
              <a:rPr lang="tr-TR" dirty="0" smtClean="0"/>
              <a:t>Hematolojik hastalık</a:t>
            </a:r>
          </a:p>
          <a:p>
            <a:pPr lvl="1"/>
            <a:r>
              <a:rPr lang="tr-TR" dirty="0" smtClean="0"/>
              <a:t>Otoimmün </a:t>
            </a:r>
            <a:r>
              <a:rPr lang="tr-TR" dirty="0"/>
              <a:t>lökopeni SLE'de sık görülür, ancak nadiren tedavi gerekir</a:t>
            </a:r>
          </a:p>
          <a:p>
            <a:pPr lvl="1"/>
            <a:endParaRPr lang="tr-TR" dirty="0"/>
          </a:p>
          <a:p>
            <a:pPr lvl="1"/>
            <a:r>
              <a:rPr lang="tr-TR" dirty="0"/>
              <a:t>Diğer lökopeni nedenlerinin (özellikle ilaca bağlı) dışlanması önem arz etmektedir.</a:t>
            </a:r>
          </a:p>
          <a:p>
            <a:pPr lvl="1"/>
            <a:endParaRPr lang="tr-TR" dirty="0"/>
          </a:p>
          <a:p>
            <a:pPr lvl="1"/>
            <a:endParaRPr lang="tr-TR" dirty="0"/>
          </a:p>
          <a:p>
            <a:pPr lvl="1"/>
            <a:endParaRPr lang="tr-TR" dirty="0"/>
          </a:p>
          <a:p>
            <a:pPr lvl="1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82773152"/>
      </p:ext>
    </p:extLst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Özel Durumlar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411552"/>
            <a:ext cx="8382000" cy="3200876"/>
          </a:xfrm>
        </p:spPr>
        <p:txBody>
          <a:bodyPr/>
          <a:lstStyle/>
          <a:p>
            <a:r>
              <a:rPr lang="tr-TR" dirty="0"/>
              <a:t>4. Böbrek </a:t>
            </a:r>
            <a:r>
              <a:rPr lang="tr-TR" dirty="0" smtClean="0"/>
              <a:t>hastalığı</a:t>
            </a:r>
          </a:p>
          <a:p>
            <a:pPr lvl="1"/>
            <a:r>
              <a:rPr lang="tr-TR" dirty="0"/>
              <a:t>Renal tutulum belirtilerinin erken tanınması ve - mevcut olduğunda - </a:t>
            </a:r>
            <a:r>
              <a:rPr lang="tr-TR" dirty="0" smtClean="0"/>
              <a:t>diagnostik </a:t>
            </a:r>
            <a:r>
              <a:rPr lang="tr-TR" dirty="0"/>
              <a:t>bir renal biyopsinin yapılması optimum sonuçların elde edilmesi için esastır (2b / B). </a:t>
            </a:r>
          </a:p>
          <a:p>
            <a:pPr lvl="1"/>
            <a:r>
              <a:rPr lang="tr-TR" dirty="0"/>
              <a:t>Mikofenolat (1a / A) veya düşük dozda intravenöz siklofosfamid (2a / B), en iyi etkinlik / toksisite oranına sahip oldukları için başlangıç ​​(indüksiyon) tedavisi olarak önerilmektedir. </a:t>
            </a:r>
          </a:p>
        </p:txBody>
      </p:sp>
    </p:spTree>
    <p:extLst>
      <p:ext uri="{BB962C8B-B14F-4D97-AF65-F5344CB8AC3E}">
        <p14:creationId xmlns:p14="http://schemas.microsoft.com/office/powerpoint/2010/main" val="1487243367"/>
      </p:ext>
    </p:extLst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Özel Durumlar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411552"/>
            <a:ext cx="8382000" cy="3554819"/>
          </a:xfrm>
        </p:spPr>
        <p:txBody>
          <a:bodyPr/>
          <a:lstStyle/>
          <a:p>
            <a:r>
              <a:rPr lang="tr-TR" dirty="0"/>
              <a:t>4. Böbrek </a:t>
            </a:r>
            <a:r>
              <a:rPr lang="tr-TR" dirty="0" smtClean="0"/>
              <a:t>hastalığı</a:t>
            </a:r>
          </a:p>
          <a:p>
            <a:pPr lvl="1"/>
            <a:r>
              <a:rPr lang="tr-TR" dirty="0" smtClean="0"/>
              <a:t>Böbrek </a:t>
            </a:r>
            <a:r>
              <a:rPr lang="tr-TR" dirty="0"/>
              <a:t>yetmezliği için yüksek risk altındaki hastalarda (düşük glomerüler filtrasyon hızı, fibröz hilal veya fibrinoid nekroz veya tübüler atrofi / interstisyel fibrozisin histolojik varlığı), benzer rejimler de düşünülebilir, ancak yüksek dozda intravenöz siklofosfamid de kullanılabilir ( 1b / A). </a:t>
            </a:r>
          </a:p>
          <a:p>
            <a:pPr lvl="1"/>
            <a:r>
              <a:rPr lang="tr-TR" dirty="0" smtClean="0"/>
              <a:t>Tedavinin devamı için mikofenolat (1a / A) veya azatioprin (1a / A) kullanılmalıdır.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519237776"/>
      </p:ext>
    </p:extLst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Özel Durumlar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411552"/>
            <a:ext cx="8382000" cy="4262705"/>
          </a:xfrm>
        </p:spPr>
        <p:txBody>
          <a:bodyPr/>
          <a:lstStyle/>
          <a:p>
            <a:r>
              <a:rPr lang="tr-TR" dirty="0"/>
              <a:t>4. Böbrek </a:t>
            </a:r>
            <a:r>
              <a:rPr lang="tr-TR" dirty="0" smtClean="0"/>
              <a:t>hastalığı</a:t>
            </a:r>
          </a:p>
          <a:p>
            <a:pPr lvl="1"/>
            <a:r>
              <a:rPr lang="tr-TR" dirty="0" smtClean="0"/>
              <a:t>Kararlı </a:t>
            </a:r>
            <a:r>
              <a:rPr lang="tr-TR" dirty="0"/>
              <a:t>/ gelişmiş böbrek fonksiyonu olan ancak tamamlanmamış renal yanıtı olan durumlarda (en az 1 yıllık immünosüpresif tedavi sonrası kalıcı proteinüri &gt; 0.8-1 g / 24 saat), tekrarlanan biyopsi kronik böbrek lezyonlarını akut lezyonlardan (4 / C) ayırt edebilir. </a:t>
            </a:r>
          </a:p>
          <a:p>
            <a:pPr lvl="1"/>
            <a:r>
              <a:rPr lang="tr-TR" dirty="0"/>
              <a:t>Mikofenolat, şiddetli nefrotik sendromda (2b / C) veya yetersiz renal yanıtta, kontrolsüz hipertansiyon ,böbrek biyopsisinde yüksek </a:t>
            </a:r>
            <a:r>
              <a:rPr lang="tr-TR" dirty="0" err="1"/>
              <a:t>kroniklik</a:t>
            </a:r>
            <a:r>
              <a:rPr lang="tr-TR" dirty="0"/>
              <a:t> indeksi ve / veya azalmış GFR olmadığı durumlarda düşük dozda bir kalsinörin inhibitörüyle kombine edilebilir</a:t>
            </a:r>
            <a:r>
              <a:rPr lang="tr-TR" dirty="0" smtClean="0"/>
              <a:t>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48514234"/>
      </p:ext>
    </p:extLst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Özel Durumlar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411552"/>
            <a:ext cx="8382000" cy="4037003"/>
          </a:xfrm>
        </p:spPr>
        <p:txBody>
          <a:bodyPr/>
          <a:lstStyle/>
          <a:p>
            <a:r>
              <a:rPr lang="tr-TR" dirty="0"/>
              <a:t>4. Böbrek </a:t>
            </a:r>
            <a:r>
              <a:rPr lang="tr-TR" dirty="0" smtClean="0"/>
              <a:t>hastalığı</a:t>
            </a:r>
            <a:endParaRPr lang="tr-TR" dirty="0"/>
          </a:p>
          <a:p>
            <a:pPr lvl="1"/>
            <a:r>
              <a:rPr lang="tr-TR" dirty="0"/>
              <a:t>Böbrek tutulumu gelişme riski yüksek olan hastalar (erkekler, jüvenil lupus başlangıcı, anti-C1q antikorları için pozitifliği de içeren serolojik olarak aktif hastalar) , böbrek hastalığının erken belirtilerini tespit etmek için dikkatli bir şekilde izlenmelidir (en az 3 ayda bir). </a:t>
            </a:r>
          </a:p>
          <a:p>
            <a:pPr lvl="1"/>
            <a:endParaRPr lang="tr-TR" dirty="0"/>
          </a:p>
          <a:p>
            <a:pPr lvl="1"/>
            <a:r>
              <a:rPr lang="tr-TR" dirty="0"/>
              <a:t>Teşhisin ardından, böbrek biyopsisi ile netleştirilen LN tedavisi, bir başlangıç ​​indüksiyon aşaması ve ardından daha uzun süreli bir tedavi ve izlem aşaması içerir. </a:t>
            </a:r>
          </a:p>
        </p:txBody>
      </p:sp>
    </p:spTree>
    <p:extLst>
      <p:ext uri="{BB962C8B-B14F-4D97-AF65-F5344CB8AC3E}">
        <p14:creationId xmlns:p14="http://schemas.microsoft.com/office/powerpoint/2010/main" val="2992916074"/>
      </p:ext>
    </p:extLst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Özel Durumlar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411552"/>
            <a:ext cx="8382000" cy="4744889"/>
          </a:xfrm>
        </p:spPr>
        <p:txBody>
          <a:bodyPr/>
          <a:lstStyle/>
          <a:p>
            <a:r>
              <a:rPr lang="tr-TR" dirty="0"/>
              <a:t>4. Böbrek </a:t>
            </a:r>
            <a:r>
              <a:rPr lang="tr-TR" dirty="0" smtClean="0"/>
              <a:t>hastalığı</a:t>
            </a:r>
            <a:endParaRPr lang="tr-TR" dirty="0"/>
          </a:p>
          <a:p>
            <a:pPr lvl="1"/>
            <a:r>
              <a:rPr lang="tr-TR" dirty="0" smtClean="0"/>
              <a:t>MMF </a:t>
            </a:r>
            <a:r>
              <a:rPr lang="tr-TR" dirty="0"/>
              <a:t>ve CYC, indüksiyon tedavisi için tercih edilen IS ajanlarıdır.</a:t>
            </a:r>
          </a:p>
          <a:p>
            <a:pPr lvl="1"/>
            <a:r>
              <a:rPr lang="tr-TR" dirty="0" smtClean="0"/>
              <a:t>Düşük </a:t>
            </a:r>
            <a:r>
              <a:rPr lang="tr-TR" dirty="0"/>
              <a:t>doz CYC, karşılaştırılabilir etkinliği ve düşük </a:t>
            </a:r>
            <a:r>
              <a:rPr lang="tr-TR" dirty="0" err="1"/>
              <a:t>gonadotoksisite</a:t>
            </a:r>
            <a:r>
              <a:rPr lang="tr-TR" dirty="0"/>
              <a:t> riski nedeniyle yüksek doz </a:t>
            </a:r>
            <a:r>
              <a:rPr lang="tr-TR" dirty="0" err="1"/>
              <a:t>CYC'ye</a:t>
            </a:r>
            <a:r>
              <a:rPr lang="tr-TR" dirty="0"/>
              <a:t> tercih edilir.</a:t>
            </a:r>
          </a:p>
          <a:p>
            <a:pPr lvl="1"/>
            <a:r>
              <a:rPr lang="tr-TR" dirty="0" smtClean="0"/>
              <a:t>Yayınlanmış </a:t>
            </a:r>
            <a:r>
              <a:rPr lang="tr-TR" dirty="0"/>
              <a:t>veriler, son evre böbrek hastalığına ilerleme riskinin artmasıyla ilişkili ağır LN formlarında MMF ve yüksek doz CYC  kullanımını desteklemektedir(düşük glomerüler filtrasyon hızı, fibröz </a:t>
            </a:r>
            <a:r>
              <a:rPr lang="tr-TR" dirty="0" err="1" smtClean="0"/>
              <a:t>kreşentlerin</a:t>
            </a:r>
            <a:r>
              <a:rPr lang="tr-TR" dirty="0" smtClean="0"/>
              <a:t> </a:t>
            </a:r>
            <a:r>
              <a:rPr lang="tr-TR" dirty="0"/>
              <a:t>histolojik varlığı, fibrinoid nekroz, tübüler atrofi / interstisyel </a:t>
            </a:r>
            <a:r>
              <a:rPr lang="tr-TR" dirty="0" err="1"/>
              <a:t>fibroz</a:t>
            </a:r>
            <a:r>
              <a:rPr lang="tr-TR" dirty="0" smtClean="0"/>
              <a:t>).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34406943"/>
      </p:ext>
    </p:extLst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Özel Durumlar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411552"/>
            <a:ext cx="8382000" cy="3683060"/>
          </a:xfrm>
        </p:spPr>
        <p:txBody>
          <a:bodyPr/>
          <a:lstStyle/>
          <a:p>
            <a:r>
              <a:rPr lang="tr-TR" dirty="0"/>
              <a:t>4. Böbrek </a:t>
            </a:r>
            <a:r>
              <a:rPr lang="tr-TR" dirty="0" smtClean="0"/>
              <a:t>hastalığı</a:t>
            </a:r>
            <a:endParaRPr lang="tr-TR" dirty="0"/>
          </a:p>
          <a:p>
            <a:pPr lvl="1"/>
            <a:r>
              <a:rPr lang="tr-TR" dirty="0" err="1" smtClean="0"/>
              <a:t>UPr'da</a:t>
            </a:r>
            <a:r>
              <a:rPr lang="tr-TR" dirty="0" smtClean="0"/>
              <a:t> </a:t>
            </a:r>
            <a:r>
              <a:rPr lang="tr-TR" dirty="0"/>
              <a:t>erken dönemlerde önemli bir düşüş (6 ayda ≤1 g / gün veya 12 ayda ≤0.8 g / gün), uzun vadede böbrek tutulumunda olumlu gidişin bir göstergesidir. </a:t>
            </a:r>
          </a:p>
          <a:p>
            <a:pPr lvl="1"/>
            <a:r>
              <a:rPr lang="tr-TR" dirty="0" smtClean="0"/>
              <a:t>MMF </a:t>
            </a:r>
            <a:r>
              <a:rPr lang="tr-TR" dirty="0"/>
              <a:t>veya AZA, hastaların yaş, hamilelik isteği dahil olmak üzere hasta özellikleri dikkate alınarak daha az relapsla ilişkili olan durumlarda tedavide </a:t>
            </a:r>
            <a:r>
              <a:rPr lang="tr-TR" dirty="0" smtClean="0"/>
              <a:t>kullanılabilir, bakım </a:t>
            </a:r>
            <a:r>
              <a:rPr lang="tr-TR" dirty="0"/>
              <a:t>tedavisi olarak kullanılabilir.</a:t>
            </a:r>
          </a:p>
          <a:p>
            <a:pPr lvl="1"/>
            <a:r>
              <a:rPr lang="tr-TR" dirty="0" smtClean="0"/>
              <a:t>Refrakter </a:t>
            </a:r>
            <a:r>
              <a:rPr lang="tr-TR" dirty="0"/>
              <a:t>veya tekrarlayan hastalıkta RTX düşünülebilir</a:t>
            </a:r>
            <a:r>
              <a:rPr lang="tr-TR" dirty="0" smtClean="0"/>
              <a:t>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589744177"/>
      </p:ext>
    </p:extLst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Özel Durumlar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411552"/>
            <a:ext cx="8382000" cy="3908762"/>
          </a:xfrm>
        </p:spPr>
        <p:txBody>
          <a:bodyPr/>
          <a:lstStyle/>
          <a:p>
            <a:r>
              <a:rPr lang="tr-TR" dirty="0"/>
              <a:t>4. Böbrek </a:t>
            </a:r>
            <a:r>
              <a:rPr lang="tr-TR" dirty="0" smtClean="0"/>
              <a:t>hastalığı</a:t>
            </a:r>
            <a:endParaRPr lang="tr-TR" dirty="0"/>
          </a:p>
          <a:p>
            <a:pPr lvl="1"/>
            <a:r>
              <a:rPr lang="tr-TR" dirty="0" smtClean="0"/>
              <a:t>2012'deki </a:t>
            </a:r>
            <a:r>
              <a:rPr lang="tr-TR" dirty="0" err="1"/>
              <a:t>LN'ye</a:t>
            </a:r>
            <a:r>
              <a:rPr lang="tr-TR" dirty="0"/>
              <a:t> ilişkin EULAR tavsiyelerinin ardından, proliferatif LN tedavisinde kalsinörin inhibitörlerinin tek başına veya bir '</a:t>
            </a:r>
            <a:r>
              <a:rPr lang="tr-TR" dirty="0" err="1"/>
              <a:t>multitarget</a:t>
            </a:r>
            <a:r>
              <a:rPr lang="tr-TR" dirty="0"/>
              <a:t> tedavi' (MMF ile takrolimus kombinasyonu) şeklinde kullanımı ile ilgili çeşitli çalışmalar yayınlanmıştır. </a:t>
            </a:r>
          </a:p>
          <a:p>
            <a:pPr lvl="1"/>
            <a:r>
              <a:rPr lang="tr-TR" dirty="0" smtClean="0"/>
              <a:t>Bu </a:t>
            </a:r>
            <a:r>
              <a:rPr lang="tr-TR" dirty="0"/>
              <a:t>çalışmalar neredeyse yalnızca Asya popülasyonlarında ve kısa takip süreleriyle yapılması nedeniyle çok ırklı popülasyonlarda uzun süreli çalışmalar ile veriler desteklenmelidir</a:t>
            </a:r>
            <a:r>
              <a:rPr lang="tr-TR" dirty="0" smtClean="0"/>
              <a:t>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38063713"/>
      </p:ext>
    </p:extLst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Özel Durumlar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411552"/>
            <a:ext cx="8382000" cy="6191439"/>
          </a:xfrm>
        </p:spPr>
        <p:txBody>
          <a:bodyPr/>
          <a:lstStyle/>
          <a:p>
            <a:r>
              <a:rPr lang="tr-TR" dirty="0"/>
              <a:t>4. Böbrek </a:t>
            </a:r>
            <a:r>
              <a:rPr lang="tr-TR" dirty="0" smtClean="0"/>
              <a:t>hastalığı</a:t>
            </a:r>
            <a:endParaRPr lang="tr-TR" dirty="0"/>
          </a:p>
          <a:p>
            <a:pPr lvl="1"/>
            <a:r>
              <a:rPr lang="tr-TR" dirty="0" smtClean="0"/>
              <a:t>Bu </a:t>
            </a:r>
            <a:r>
              <a:rPr lang="tr-TR" dirty="0"/>
              <a:t>amaçla, şu anda </a:t>
            </a:r>
            <a:r>
              <a:rPr lang="tr-TR" dirty="0" err="1"/>
              <a:t>CNI'ler</a:t>
            </a:r>
            <a:r>
              <a:rPr lang="tr-TR" dirty="0"/>
              <a:t>, 3-6 aylık standart tedaviye rağmen aktif devam eden membranöz LN, </a:t>
            </a:r>
            <a:r>
              <a:rPr lang="tr-TR" dirty="0" err="1"/>
              <a:t>podositopati</a:t>
            </a:r>
            <a:r>
              <a:rPr lang="tr-TR" dirty="0"/>
              <a:t> veya refrakter nefrotik sendromlu proliferatif hastalıklarda indüksiyon ve sonrasındaki tedavi için ikinci basamak ajanlar olarak düşünülebilir.</a:t>
            </a:r>
          </a:p>
          <a:p>
            <a:pPr lvl="1"/>
            <a:r>
              <a:rPr lang="tr-TR" dirty="0" smtClean="0"/>
              <a:t>CNI </a:t>
            </a:r>
            <a:r>
              <a:rPr lang="tr-TR" dirty="0" err="1"/>
              <a:t>ler</a:t>
            </a:r>
            <a:r>
              <a:rPr lang="tr-TR" dirty="0"/>
              <a:t> tek başlarına veya MMF ile kombinasyon halinde kullanılabilirler, çünkü küçük gözlemsel çalışmalar CNI / MMF kombinasyonunun standart tedaviye dirençli hastalıkta etkili olduğunu göstermiştir. </a:t>
            </a:r>
          </a:p>
          <a:p>
            <a:pPr lvl="1"/>
            <a:r>
              <a:rPr lang="tr-TR" dirty="0" smtClean="0"/>
              <a:t>Kronik </a:t>
            </a:r>
            <a:r>
              <a:rPr lang="tr-TR" dirty="0"/>
              <a:t>ilaç toksisitesini önlemek için serum kreatinin ve  CNI seviyelerinin izlenmesi önemlidir.</a:t>
            </a:r>
          </a:p>
          <a:p>
            <a:pPr lvl="1"/>
            <a:endParaRPr lang="tr-TR" dirty="0"/>
          </a:p>
          <a:p>
            <a:pPr lvl="1"/>
            <a:endParaRPr lang="tr-TR" dirty="0"/>
          </a:p>
          <a:p>
            <a:pPr lvl="1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03428252"/>
      </p:ext>
    </p:extLst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Komorbiditeler</a:t>
            </a:r>
            <a:br>
              <a:rPr lang="tr-TR" dirty="0" smtClean="0"/>
            </a:br>
            <a:endParaRPr lang="tr-TR" dirty="0" smtClean="0"/>
          </a:p>
        </p:txBody>
      </p:sp>
      <p:sp>
        <p:nvSpPr>
          <p:cNvPr id="78850" name="Rectangle 5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411552"/>
            <a:ext cx="8382000" cy="4390946"/>
          </a:xfrm>
        </p:spPr>
        <p:txBody>
          <a:bodyPr/>
          <a:lstStyle/>
          <a:p>
            <a:r>
              <a:rPr lang="tr-TR" dirty="0"/>
              <a:t>1</a:t>
            </a:r>
            <a:r>
              <a:rPr lang="tr-TR" dirty="0" smtClean="0"/>
              <a:t>. Antifosfolipid </a:t>
            </a:r>
            <a:r>
              <a:rPr lang="tr-TR" dirty="0"/>
              <a:t>sendromu</a:t>
            </a:r>
          </a:p>
          <a:p>
            <a:pPr lvl="1"/>
            <a:r>
              <a:rPr lang="tr-TR" dirty="0" smtClean="0"/>
              <a:t>SLE'li tüm hastalar </a:t>
            </a:r>
            <a:r>
              <a:rPr lang="tr-TR" dirty="0" err="1" smtClean="0"/>
              <a:t>aPL</a:t>
            </a:r>
            <a:r>
              <a:rPr lang="tr-TR" dirty="0" smtClean="0"/>
              <a:t> (1a / A) açısından taranmalıdır. </a:t>
            </a:r>
          </a:p>
          <a:p>
            <a:pPr lvl="1"/>
            <a:r>
              <a:rPr lang="tr-TR" dirty="0" smtClean="0"/>
              <a:t> Yüksek riskli </a:t>
            </a:r>
            <a:r>
              <a:rPr lang="tr-TR" dirty="0" err="1" smtClean="0"/>
              <a:t>aPL</a:t>
            </a:r>
            <a:r>
              <a:rPr lang="tr-TR" dirty="0" smtClean="0"/>
              <a:t> profili olan SLE'li hastalar (sürekli pozitif orta / yüksek titreler veya çoklu pozitifliği) özellikle diğer aterosklerotik / trombofilik faktörler mevcutsa kanama tehlikesinin dengelenmesinden sonra antiplatelet tedavi açısından primer profilaksi alabilirler (2a / C)</a:t>
            </a:r>
          </a:p>
          <a:p>
            <a:pPr lvl="1"/>
            <a:r>
              <a:rPr lang="tr-TR" dirty="0" smtClean="0"/>
              <a:t>Sekonder korunma için (tromboz, gebelik komplikasyonu / kaybı), terapötik yaklaşım primer Antifosfolipid ile aynı olmalıdır. (1b / B).</a:t>
            </a:r>
            <a:endParaRPr lang="tr-TR" dirty="0"/>
          </a:p>
        </p:txBody>
      </p:sp>
    </p:spTree>
  </p:cSld>
  <p:clrMapOvr>
    <a:masterClrMapping/>
  </p:clrMapOvr>
  <p:transition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Komorbiditeler</a:t>
            </a:r>
            <a:br>
              <a:rPr lang="tr-TR" dirty="0" smtClean="0"/>
            </a:br>
            <a:endParaRPr lang="tr-TR" dirty="0" smtClean="0"/>
          </a:p>
        </p:txBody>
      </p:sp>
      <p:sp>
        <p:nvSpPr>
          <p:cNvPr id="78850" name="Rectangle 5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411552"/>
            <a:ext cx="8382000" cy="4970591"/>
          </a:xfrm>
        </p:spPr>
        <p:txBody>
          <a:bodyPr/>
          <a:lstStyle/>
          <a:p>
            <a:r>
              <a:rPr lang="tr-TR" dirty="0"/>
              <a:t>1</a:t>
            </a:r>
            <a:r>
              <a:rPr lang="tr-TR" dirty="0" smtClean="0"/>
              <a:t>. Antifosfolipid </a:t>
            </a:r>
            <a:r>
              <a:rPr lang="tr-TR" dirty="0"/>
              <a:t>sendromu</a:t>
            </a:r>
          </a:p>
          <a:p>
            <a:pPr lvl="1"/>
            <a:r>
              <a:rPr lang="tr-TR" dirty="0" err="1" smtClean="0"/>
              <a:t>aPL'nin</a:t>
            </a:r>
            <a:r>
              <a:rPr lang="tr-TR" dirty="0" smtClean="0"/>
              <a:t> </a:t>
            </a:r>
            <a:r>
              <a:rPr lang="tr-TR" dirty="0"/>
              <a:t>varlığı, trombotik ve obstetrik komplikasyonlar açısından artmış risk ile ilişkilidir.</a:t>
            </a:r>
          </a:p>
          <a:p>
            <a:pPr lvl="1"/>
            <a:r>
              <a:rPr lang="tr-TR" dirty="0" err="1" smtClean="0"/>
              <a:t>aPL</a:t>
            </a:r>
            <a:r>
              <a:rPr lang="tr-TR" dirty="0" smtClean="0"/>
              <a:t> </a:t>
            </a:r>
            <a:r>
              <a:rPr lang="tr-TR" dirty="0"/>
              <a:t>taşıyıcılarında, yakın tarihli bir meta-analiz, SLE'li </a:t>
            </a:r>
            <a:r>
              <a:rPr lang="tr-TR" dirty="0" err="1"/>
              <a:t>aPL</a:t>
            </a:r>
            <a:r>
              <a:rPr lang="tr-TR" dirty="0"/>
              <a:t> taşıyıcılarının alt grubunda tromboza karşı primer profilaksi için düşük doz aspirinin koruyucu bir rolünü desteklemiştir;  bununla birlikte, potansiyel kanama tehlikesi göz önüne alındığında, bunun, herhangi bir </a:t>
            </a:r>
            <a:r>
              <a:rPr lang="tr-TR" dirty="0" err="1"/>
              <a:t>aPL</a:t>
            </a:r>
            <a:r>
              <a:rPr lang="tr-TR" dirty="0"/>
              <a:t> antikoru olan </a:t>
            </a:r>
            <a:r>
              <a:rPr lang="tr-TR" dirty="0" err="1"/>
              <a:t>lupuslu</a:t>
            </a:r>
            <a:r>
              <a:rPr lang="tr-TR" dirty="0"/>
              <a:t> hastalara mı, yoksa sadece yüksek riskli bir </a:t>
            </a:r>
            <a:r>
              <a:rPr lang="tr-TR" dirty="0" err="1"/>
              <a:t>aPL</a:t>
            </a:r>
            <a:r>
              <a:rPr lang="tr-TR" dirty="0"/>
              <a:t> profili olanlara (yani, üçlü </a:t>
            </a:r>
            <a:r>
              <a:rPr lang="tr-TR" dirty="0" err="1"/>
              <a:t>aPL</a:t>
            </a:r>
            <a:r>
              <a:rPr lang="tr-TR" dirty="0"/>
              <a:t> pozitifliği, lupus </a:t>
            </a:r>
            <a:r>
              <a:rPr lang="tr-TR" dirty="0" smtClean="0"/>
              <a:t>antikoagülanı </a:t>
            </a:r>
            <a:r>
              <a:rPr lang="tr-TR" dirty="0"/>
              <a:t>veya antikardiyolipin antikorlarının yüksek titreleri) faydası olduğu ile ilgili net bir sonuç elde edilememiştir</a:t>
            </a:r>
            <a:r>
              <a:rPr lang="tr-TR" dirty="0" smtClean="0"/>
              <a:t>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58787254"/>
      </p:ext>
    </p:extLst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Komorbiditeler</a:t>
            </a:r>
            <a:br>
              <a:rPr lang="tr-TR" dirty="0" smtClean="0"/>
            </a:br>
            <a:endParaRPr lang="tr-TR" dirty="0" smtClean="0"/>
          </a:p>
        </p:txBody>
      </p:sp>
      <p:sp>
        <p:nvSpPr>
          <p:cNvPr id="78850" name="Rectangle 5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411552"/>
            <a:ext cx="8382000" cy="3554819"/>
          </a:xfrm>
        </p:spPr>
        <p:txBody>
          <a:bodyPr/>
          <a:lstStyle/>
          <a:p>
            <a:r>
              <a:rPr lang="tr-TR" dirty="0"/>
              <a:t>1</a:t>
            </a:r>
            <a:r>
              <a:rPr lang="tr-TR" dirty="0" smtClean="0"/>
              <a:t>. Antifosfolipid </a:t>
            </a:r>
            <a:r>
              <a:rPr lang="tr-TR" dirty="0"/>
              <a:t>sendromu</a:t>
            </a:r>
          </a:p>
          <a:p>
            <a:pPr lvl="1"/>
            <a:r>
              <a:rPr lang="tr-TR" dirty="0" err="1" smtClean="0"/>
              <a:t>aPL'li</a:t>
            </a:r>
            <a:r>
              <a:rPr lang="tr-TR" dirty="0" smtClean="0"/>
              <a:t> </a:t>
            </a:r>
            <a:r>
              <a:rPr lang="tr-TR" dirty="0"/>
              <a:t>SLE'li hastalar ayrıca, tromboz için yüksek riskli dönemlerde (hamilelik veya postoperatif) düşük moleküler ağırlıklı heparin gibi ek pıhtılaşma önleyici tedavi alabilir, ancak bu konuyu açıklayacak bir çalışma yoktur. </a:t>
            </a:r>
          </a:p>
          <a:p>
            <a:pPr lvl="1"/>
            <a:r>
              <a:rPr lang="tr-TR" dirty="0" smtClean="0"/>
              <a:t>Bu </a:t>
            </a:r>
            <a:r>
              <a:rPr lang="tr-TR" dirty="0"/>
              <a:t>nedenle, mevcut bilgiler ışığında, SLE-APS bağlamında SLE ye sekonder APS tedavisi, birincil APS tedavisinden farklı olmamalıdır. </a:t>
            </a:r>
          </a:p>
        </p:txBody>
      </p:sp>
    </p:spTree>
    <p:extLst>
      <p:ext uri="{BB962C8B-B14F-4D97-AF65-F5344CB8AC3E}">
        <p14:creationId xmlns:p14="http://schemas.microsoft.com/office/powerpoint/2010/main" val="914030628"/>
      </p:ext>
    </p:extLst>
  </p:cSld>
  <p:clrMapOvr>
    <a:masterClrMapping/>
  </p:clrMapOvr>
  <p:transition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Komorbiditeler</a:t>
            </a:r>
            <a:br>
              <a:rPr lang="tr-TR" dirty="0" smtClean="0"/>
            </a:br>
            <a:endParaRPr lang="tr-TR" dirty="0" smtClean="0"/>
          </a:p>
        </p:txBody>
      </p:sp>
      <p:sp>
        <p:nvSpPr>
          <p:cNvPr id="78850" name="Rectangle 5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411552"/>
            <a:ext cx="8382000" cy="4970591"/>
          </a:xfrm>
        </p:spPr>
        <p:txBody>
          <a:bodyPr/>
          <a:lstStyle/>
          <a:p>
            <a:r>
              <a:rPr lang="tr-TR" dirty="0"/>
              <a:t>1</a:t>
            </a:r>
            <a:r>
              <a:rPr lang="tr-TR" dirty="0" smtClean="0"/>
              <a:t>. Antifosfolipid </a:t>
            </a:r>
            <a:r>
              <a:rPr lang="tr-TR" dirty="0"/>
              <a:t>sendromu</a:t>
            </a:r>
          </a:p>
          <a:p>
            <a:pPr lvl="1"/>
            <a:r>
              <a:rPr lang="tr-TR" dirty="0" smtClean="0"/>
              <a:t>Üçlü </a:t>
            </a:r>
            <a:r>
              <a:rPr lang="tr-TR" dirty="0" err="1"/>
              <a:t>aPL</a:t>
            </a:r>
            <a:r>
              <a:rPr lang="tr-TR" dirty="0"/>
              <a:t> pozitifliği olan APS'de </a:t>
            </a:r>
            <a:r>
              <a:rPr lang="tr-TR" dirty="0" err="1"/>
              <a:t>rivaroksabanı</a:t>
            </a:r>
            <a:r>
              <a:rPr lang="tr-TR" dirty="0"/>
              <a:t> </a:t>
            </a:r>
            <a:r>
              <a:rPr lang="tr-TR" dirty="0" smtClean="0"/>
              <a:t>varfarin ile </a:t>
            </a:r>
            <a:r>
              <a:rPr lang="tr-TR" dirty="0"/>
              <a:t>karşılaştıran son zamanlarda yapılan randomize, açık etiketli bir çalışma (hastaların ~% 21'inde SLE-APS vardı), rivaroksaban kolundaki tromboembolik olayların fazlalığı nedeniyle erken sonlandırıldı. </a:t>
            </a:r>
          </a:p>
          <a:p>
            <a:pPr lvl="1"/>
            <a:r>
              <a:rPr lang="tr-TR" dirty="0" smtClean="0"/>
              <a:t>SLE-APS </a:t>
            </a:r>
            <a:r>
              <a:rPr lang="tr-TR" dirty="0"/>
              <a:t>hastalarında ikincil korunma için yeni oral </a:t>
            </a:r>
            <a:r>
              <a:rPr lang="tr-TR" dirty="0" smtClean="0"/>
              <a:t>antikoagülanların </a:t>
            </a:r>
            <a:r>
              <a:rPr lang="tr-TR" dirty="0"/>
              <a:t>kullanılmasından kaçınılmalıdır; bununla birlikte, muhtemel riskleri göz önünde bulundurularak  </a:t>
            </a:r>
            <a:r>
              <a:rPr lang="tr-TR" dirty="0" smtClean="0"/>
              <a:t>varfarin </a:t>
            </a:r>
            <a:r>
              <a:rPr lang="tr-TR" dirty="0"/>
              <a:t>için INR takibi ile kontrol etmenin zor olduğu seçilmiş hastalarda (düşük riskli </a:t>
            </a:r>
            <a:r>
              <a:rPr lang="tr-TR" dirty="0" err="1"/>
              <a:t>aPL</a:t>
            </a:r>
            <a:r>
              <a:rPr lang="tr-TR" dirty="0"/>
              <a:t> profili, arteriyel trombotik olay öyküsü yok) alternatif bir seçenek olabilir</a:t>
            </a:r>
            <a:r>
              <a:rPr lang="tr-TR" dirty="0" smtClean="0"/>
              <a:t>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15308072"/>
      </p:ext>
    </p:extLst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Komorbiditeler</a:t>
            </a:r>
            <a:br>
              <a:rPr lang="tr-TR" dirty="0" smtClean="0"/>
            </a:br>
            <a:endParaRPr lang="tr-TR" dirty="0" smtClean="0"/>
          </a:p>
        </p:txBody>
      </p:sp>
      <p:sp>
        <p:nvSpPr>
          <p:cNvPr id="78850" name="Rectangle 5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411552"/>
            <a:ext cx="8382000" cy="4037003"/>
          </a:xfrm>
        </p:spPr>
        <p:txBody>
          <a:bodyPr/>
          <a:lstStyle/>
          <a:p>
            <a:r>
              <a:rPr lang="tr-TR" dirty="0"/>
              <a:t>2. </a:t>
            </a:r>
            <a:r>
              <a:rPr lang="tr-TR" dirty="0" smtClean="0"/>
              <a:t>Enfeksiyonlar</a:t>
            </a:r>
          </a:p>
          <a:p>
            <a:pPr lvl="1"/>
            <a:r>
              <a:rPr lang="tr-TR" dirty="0"/>
              <a:t>SLE'li hastalar, ileri yaş / düşkünlük (- / D), </a:t>
            </a:r>
            <a:r>
              <a:rPr lang="tr-TR" dirty="0" smtClean="0"/>
              <a:t>diyabetes </a:t>
            </a:r>
            <a:r>
              <a:rPr lang="tr-TR" dirty="0"/>
              <a:t>mellitus (- / D), böbrek tutulumu (2b / B), immünosüpresif / biyolojik tedavi, ve GC kullanımı gibi enfeksiyonlar için genel ve hastalıkla ilgili risk faktörleri açısından değerlendirilmelidir. </a:t>
            </a:r>
          </a:p>
          <a:p>
            <a:pPr lvl="1"/>
            <a:endParaRPr lang="tr-TR" dirty="0"/>
          </a:p>
          <a:p>
            <a:pPr lvl="1"/>
            <a:r>
              <a:rPr lang="tr-TR" dirty="0" smtClean="0"/>
              <a:t>Genel </a:t>
            </a:r>
            <a:r>
              <a:rPr lang="tr-TR" dirty="0"/>
              <a:t>koruyucu önlemler (aşılamalar dahil) ve enfeksiyon / sepsis erken tanı ve tedavisi önerilmektedir</a:t>
            </a:r>
            <a:r>
              <a:rPr lang="tr-TR" dirty="0" smtClean="0"/>
              <a:t>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38680822"/>
      </p:ext>
    </p:extLst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Komorbiditeler</a:t>
            </a:r>
            <a:br>
              <a:rPr lang="tr-TR" dirty="0" smtClean="0"/>
            </a:br>
            <a:endParaRPr lang="tr-TR" dirty="0" smtClean="0"/>
          </a:p>
        </p:txBody>
      </p:sp>
      <p:sp>
        <p:nvSpPr>
          <p:cNvPr id="78850" name="Rectangle 5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411552"/>
            <a:ext cx="8382000" cy="4616648"/>
          </a:xfrm>
        </p:spPr>
        <p:txBody>
          <a:bodyPr/>
          <a:lstStyle/>
          <a:p>
            <a:r>
              <a:rPr lang="tr-TR" dirty="0"/>
              <a:t>2. </a:t>
            </a:r>
            <a:r>
              <a:rPr lang="tr-TR" dirty="0" smtClean="0"/>
              <a:t>Enfeksiyonlar</a:t>
            </a:r>
          </a:p>
          <a:p>
            <a:pPr lvl="1"/>
            <a:r>
              <a:rPr lang="tr-TR" dirty="0" smtClean="0"/>
              <a:t>SLE'de </a:t>
            </a:r>
            <a:r>
              <a:rPr lang="tr-TR" dirty="0"/>
              <a:t>enfeksiyon riski hem hastalığa hem de tedaviye bağlı faktörlerle ilişkili olup bunlar; yüksek doz GC tedavisi, CYC, MMF ve RTX, enfeksiyon riskinin artmasıyla ilişkiliyken, yüksek hastalık aktivitesi, şiddetli lökopeni ve böbrek tutulumunun varlığı (± nefrotik sendromda hipogamaglobulinemi) de mevcut duruma bağımsız olarak katkıda bulunur. </a:t>
            </a:r>
          </a:p>
          <a:p>
            <a:pPr lvl="1"/>
            <a:r>
              <a:rPr lang="tr-TR" dirty="0" smtClean="0"/>
              <a:t>Enfeksiyonlara </a:t>
            </a:r>
            <a:r>
              <a:rPr lang="tr-TR" dirty="0"/>
              <a:t>karşı korunmada, enfeksiyonların hem primer olarak önlenmesi hem de zamanında tanınması ve tedaviye odaklanılması </a:t>
            </a:r>
            <a:r>
              <a:rPr lang="tr-TR" dirty="0" smtClean="0"/>
              <a:t>konusunda </a:t>
            </a:r>
            <a:r>
              <a:rPr lang="tr-TR" dirty="0"/>
              <a:t>dikkatli olunmalıdır</a:t>
            </a:r>
            <a:r>
              <a:rPr lang="tr-TR" dirty="0" smtClean="0"/>
              <a:t>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29136294"/>
      </p:ext>
    </p:extLst>
  </p:cSld>
  <p:clrMapOvr>
    <a:masterClrMapping/>
  </p:clrMapOvr>
  <p:transition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Komorbiditeler</a:t>
            </a:r>
            <a:br>
              <a:rPr lang="tr-TR" dirty="0" smtClean="0"/>
            </a:br>
            <a:endParaRPr lang="tr-TR" dirty="0" smtClean="0"/>
          </a:p>
        </p:txBody>
      </p:sp>
      <p:sp>
        <p:nvSpPr>
          <p:cNvPr id="78850" name="Rectangle 5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411552"/>
            <a:ext cx="8382000" cy="4037003"/>
          </a:xfrm>
        </p:spPr>
        <p:txBody>
          <a:bodyPr/>
          <a:lstStyle/>
          <a:p>
            <a:r>
              <a:rPr lang="tr-TR" dirty="0"/>
              <a:t>2. </a:t>
            </a:r>
            <a:r>
              <a:rPr lang="tr-TR" dirty="0" smtClean="0"/>
              <a:t>Enfeksiyonlar</a:t>
            </a:r>
          </a:p>
          <a:p>
            <a:pPr lvl="1"/>
            <a:r>
              <a:rPr lang="tr-TR" dirty="0" err="1" smtClean="0"/>
              <a:t>Lupuslu</a:t>
            </a:r>
            <a:r>
              <a:rPr lang="tr-TR" dirty="0" smtClean="0"/>
              <a:t> </a:t>
            </a:r>
            <a:r>
              <a:rPr lang="tr-TR" dirty="0"/>
              <a:t>hastalar, otoimmün romatizmal hastalıkları olan hastaların aşılanması için EULAR tavsiyelerine göre aşı yaptırmalıdır.</a:t>
            </a:r>
          </a:p>
          <a:p>
            <a:pPr lvl="1"/>
            <a:r>
              <a:rPr lang="tr-TR" dirty="0" smtClean="0"/>
              <a:t>Mevsimsel </a:t>
            </a:r>
            <a:r>
              <a:rPr lang="tr-TR" dirty="0"/>
              <a:t>grip ve pnömokok enfeksiyonuna (hem PCV13 hem de PPSV23) karşı immünizasyon, tercihen stabil hastalık sırasında kuvvetli bir şekilde düşünülmelidir.</a:t>
            </a:r>
          </a:p>
          <a:p>
            <a:pPr lvl="1"/>
            <a:r>
              <a:rPr lang="tr-TR" dirty="0" smtClean="0"/>
              <a:t>Herpes </a:t>
            </a:r>
            <a:r>
              <a:rPr lang="tr-TR" dirty="0"/>
              <a:t>zoster aşısı şimdi genel popülasyon için </a:t>
            </a:r>
            <a:r>
              <a:rPr lang="tr-TR" dirty="0" smtClean="0"/>
              <a:t>mevcuttur</a:t>
            </a:r>
            <a:r>
              <a:rPr lang="tr-TR" dirty="0"/>
              <a:t>, ancak SLE'de bir çalışma yapılmamıştır. </a:t>
            </a:r>
          </a:p>
        </p:txBody>
      </p:sp>
    </p:spTree>
    <p:extLst>
      <p:ext uri="{BB962C8B-B14F-4D97-AF65-F5344CB8AC3E}">
        <p14:creationId xmlns:p14="http://schemas.microsoft.com/office/powerpoint/2010/main" val="3690665962"/>
      </p:ext>
    </p:extLst>
  </p:cSld>
  <p:clrMapOvr>
    <a:masterClrMapping/>
  </p:clrMapOvr>
  <p:transition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Komorbiditeler</a:t>
            </a:r>
            <a:br>
              <a:rPr lang="tr-TR" dirty="0" smtClean="0"/>
            </a:br>
            <a:endParaRPr lang="tr-TR" dirty="0" smtClean="0"/>
          </a:p>
        </p:txBody>
      </p:sp>
      <p:sp>
        <p:nvSpPr>
          <p:cNvPr id="78850" name="Rectangle 5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411552"/>
            <a:ext cx="8382000" cy="3072636"/>
          </a:xfrm>
        </p:spPr>
        <p:txBody>
          <a:bodyPr/>
          <a:lstStyle/>
          <a:p>
            <a:r>
              <a:rPr lang="tr-TR" dirty="0"/>
              <a:t>2. </a:t>
            </a:r>
            <a:r>
              <a:rPr lang="tr-TR" dirty="0" smtClean="0"/>
              <a:t>Enfeksiyonlar</a:t>
            </a:r>
          </a:p>
          <a:p>
            <a:pPr lvl="1"/>
            <a:r>
              <a:rPr lang="tr-TR" dirty="0" smtClean="0"/>
              <a:t>Erken </a:t>
            </a:r>
            <a:r>
              <a:rPr lang="tr-TR" dirty="0"/>
              <a:t>sepsis tanısı ve tedavisi esastır. Bu amaçla, hızlı SOFA ([sistolik kan basıncı ≤100 mm Hg, solunum hızı ≥22 / </a:t>
            </a:r>
            <a:r>
              <a:rPr lang="tr-TR" dirty="0" err="1"/>
              <a:t>dak</a:t>
            </a:r>
            <a:r>
              <a:rPr lang="tr-TR" dirty="0"/>
              <a:t>, Glasgow koma skalasında &lt;15] değişen zihinsel durum) gibi doğrulanmış skorlar kullanılarak 2 puan ve üzeri durum varlığında daha büyük ölüm riski veya uzun süreli yoğun bakım ünitesinde kalmayla ilişkili yüksek risk altında olan hastaları tanımlayabilir</a:t>
            </a:r>
            <a:r>
              <a:rPr lang="tr-TR" dirty="0" smtClean="0"/>
              <a:t>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07277019"/>
      </p:ext>
    </p:extLst>
  </p:cSld>
  <p:clrMapOvr>
    <a:masterClrMapping/>
  </p:clrMapOvr>
  <p:transition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Komorbiditeler</a:t>
            </a:r>
            <a:br>
              <a:rPr lang="tr-TR" dirty="0" smtClean="0"/>
            </a:br>
            <a:endParaRPr lang="tr-TR" dirty="0" smtClean="0"/>
          </a:p>
        </p:txBody>
      </p:sp>
      <p:sp>
        <p:nvSpPr>
          <p:cNvPr id="78850" name="Rectangle 5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411552"/>
            <a:ext cx="8382000" cy="4970591"/>
          </a:xfrm>
        </p:spPr>
        <p:txBody>
          <a:bodyPr/>
          <a:lstStyle/>
          <a:p>
            <a:r>
              <a:rPr lang="tr-TR" dirty="0"/>
              <a:t>3. Kardiyovasküler </a:t>
            </a:r>
            <a:r>
              <a:rPr lang="tr-TR" dirty="0" smtClean="0"/>
              <a:t>hastalık</a:t>
            </a:r>
          </a:p>
          <a:p>
            <a:pPr lvl="1"/>
            <a:r>
              <a:rPr lang="tr-TR" dirty="0"/>
              <a:t>SLE'li hastalar, geleneksel  kardiyovasküler hastalıklar ve hastalıkla ilgili risk faktörlerini de içeren ;sürekli aktif hastalık (1b / B), artmış hastalık süresi (1b / A), </a:t>
            </a:r>
            <a:r>
              <a:rPr lang="tr-TR" dirty="0" err="1"/>
              <a:t>aPL'nin</a:t>
            </a:r>
            <a:r>
              <a:rPr lang="tr-TR" dirty="0"/>
              <a:t> orta / yüksek titreleri (1b / A), böbrek tutulumu (1b / B) (özellikle kalıcı proteinüri ve / veya GFR &lt;60 </a:t>
            </a:r>
            <a:r>
              <a:rPr lang="tr-TR" dirty="0" err="1"/>
              <a:t>mL</a:t>
            </a:r>
            <a:r>
              <a:rPr lang="tr-TR" dirty="0"/>
              <a:t> / </a:t>
            </a:r>
            <a:r>
              <a:rPr lang="tr-TR" dirty="0" err="1"/>
              <a:t>dak</a:t>
            </a:r>
            <a:r>
              <a:rPr lang="tr-TR" dirty="0"/>
              <a:t>) ve kronik GC kullanımı gibi durumlar açısından değerlendirmeye tabi tutulmalıdır</a:t>
            </a:r>
          </a:p>
          <a:p>
            <a:pPr lvl="1"/>
            <a:r>
              <a:rPr lang="tr-TR" dirty="0" smtClean="0"/>
              <a:t>Bireysel </a:t>
            </a:r>
            <a:r>
              <a:rPr lang="tr-TR" dirty="0"/>
              <a:t>kardiyovasküler risk profiline göre, SLE'li hastalar, düşük doz aspirin (2b / D) ve / veya lipit düşürücü maddeler kullanımı dahil olmak üzere genel popülasyonda olduğu gibi önleyici stratejiler için aday olabilirler. </a:t>
            </a:r>
          </a:p>
        </p:txBody>
      </p:sp>
    </p:spTree>
    <p:extLst>
      <p:ext uri="{BB962C8B-B14F-4D97-AF65-F5344CB8AC3E}">
        <p14:creationId xmlns:p14="http://schemas.microsoft.com/office/powerpoint/2010/main" val="2727760197"/>
      </p:ext>
    </p:extLst>
  </p:cSld>
  <p:clrMapOvr>
    <a:masterClrMapping/>
  </p:clrMapOvr>
  <p:transition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Komorbiditeler</a:t>
            </a:r>
            <a:br>
              <a:rPr lang="tr-TR" dirty="0" smtClean="0"/>
            </a:br>
            <a:endParaRPr lang="tr-TR" dirty="0" smtClean="0"/>
          </a:p>
        </p:txBody>
      </p:sp>
      <p:sp>
        <p:nvSpPr>
          <p:cNvPr id="78850" name="Rectangle 5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411552"/>
            <a:ext cx="8382000" cy="4037003"/>
          </a:xfrm>
        </p:spPr>
        <p:txBody>
          <a:bodyPr/>
          <a:lstStyle/>
          <a:p>
            <a:r>
              <a:rPr lang="tr-TR" dirty="0"/>
              <a:t>3. Kardiyovasküler </a:t>
            </a:r>
            <a:r>
              <a:rPr lang="tr-TR" dirty="0" smtClean="0"/>
              <a:t>hastalık</a:t>
            </a:r>
          </a:p>
          <a:p>
            <a:pPr lvl="1"/>
            <a:r>
              <a:rPr lang="tr-TR" dirty="0" smtClean="0"/>
              <a:t>SLE</a:t>
            </a:r>
            <a:r>
              <a:rPr lang="tr-TR" dirty="0"/>
              <a:t>,  hastalık aktivitesi, LN, </a:t>
            </a:r>
            <a:r>
              <a:rPr lang="tr-TR" dirty="0" err="1"/>
              <a:t>aPL</a:t>
            </a:r>
            <a:r>
              <a:rPr lang="tr-TR" dirty="0"/>
              <a:t> varlığı ve GC kullanımı gibi hem geleneksel hem de hastalıkla ilişkili risk faktörleri nedeniyle kardiyovasküler hastalık (KVH) için bağımsız bir risk faktörüdür. </a:t>
            </a:r>
          </a:p>
          <a:p>
            <a:pPr lvl="1"/>
            <a:endParaRPr lang="tr-TR" dirty="0"/>
          </a:p>
          <a:p>
            <a:pPr lvl="1"/>
            <a:r>
              <a:rPr lang="tr-TR" dirty="0"/>
              <a:t>Karotid plaklar, karotid intima media kalınlığı (</a:t>
            </a:r>
            <a:r>
              <a:rPr lang="tr-TR" dirty="0" err="1"/>
              <a:t>cIMT</a:t>
            </a:r>
            <a:r>
              <a:rPr lang="tr-TR" dirty="0"/>
              <a:t>) ve koroner arter kalsiyum gibi ateroskleroz için risk ölçümleri SLE'de subklinik </a:t>
            </a:r>
            <a:r>
              <a:rPr lang="tr-TR" dirty="0" err="1"/>
              <a:t>CVD'yi</a:t>
            </a:r>
            <a:r>
              <a:rPr lang="tr-TR" dirty="0"/>
              <a:t> tanımlamak için sıklıkla kullanılır. </a:t>
            </a:r>
          </a:p>
        </p:txBody>
      </p:sp>
    </p:spTree>
    <p:extLst>
      <p:ext uri="{BB962C8B-B14F-4D97-AF65-F5344CB8AC3E}">
        <p14:creationId xmlns:p14="http://schemas.microsoft.com/office/powerpoint/2010/main" val="583209546"/>
      </p:ext>
    </p:extLst>
  </p:cSld>
  <p:clrMapOvr>
    <a:masterClrMapping/>
  </p:clrMapOvr>
  <p:transition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Komorbiditeler</a:t>
            </a:r>
            <a:br>
              <a:rPr lang="tr-TR" dirty="0" smtClean="0"/>
            </a:br>
            <a:endParaRPr lang="tr-TR" dirty="0" smtClean="0"/>
          </a:p>
        </p:txBody>
      </p:sp>
      <p:sp>
        <p:nvSpPr>
          <p:cNvPr id="78850" name="Rectangle 5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411552"/>
            <a:ext cx="8382000" cy="3683060"/>
          </a:xfrm>
        </p:spPr>
        <p:txBody>
          <a:bodyPr/>
          <a:lstStyle/>
          <a:p>
            <a:r>
              <a:rPr lang="tr-TR" dirty="0"/>
              <a:t>3. Kardiyovasküler </a:t>
            </a:r>
            <a:r>
              <a:rPr lang="tr-TR" dirty="0" smtClean="0"/>
              <a:t>hastalık</a:t>
            </a:r>
          </a:p>
          <a:p>
            <a:pPr lvl="1"/>
            <a:r>
              <a:rPr lang="tr-TR" dirty="0" smtClean="0"/>
              <a:t>Düşük </a:t>
            </a:r>
            <a:r>
              <a:rPr lang="tr-TR" dirty="0"/>
              <a:t>doz aspirin, SLE'de KVH riskini azaltabileceğinden, </a:t>
            </a:r>
            <a:r>
              <a:rPr lang="tr-TR" dirty="0" err="1"/>
              <a:t>CVD'nin</a:t>
            </a:r>
            <a:r>
              <a:rPr lang="tr-TR" dirty="0"/>
              <a:t> primer önlenmesi için düşünülebilir.</a:t>
            </a:r>
          </a:p>
          <a:p>
            <a:pPr lvl="1"/>
            <a:endParaRPr lang="tr-TR" dirty="0"/>
          </a:p>
          <a:p>
            <a:pPr lvl="1"/>
            <a:r>
              <a:rPr lang="tr-TR" dirty="0"/>
              <a:t>Bununla birlikte, diyabetiklerde ve yaşlılarda yapılan son geniş çaplı çalışmaların ışığında, primer </a:t>
            </a:r>
            <a:r>
              <a:rPr lang="tr-TR" dirty="0" err="1"/>
              <a:t>CVD'nin</a:t>
            </a:r>
            <a:r>
              <a:rPr lang="tr-TR" dirty="0"/>
              <a:t> önlenmesi için aspirinin yararlarının diğer taraftan daha büyük kanama tehlikesiyle dengelendiğini gösterilmiştir</a:t>
            </a:r>
            <a:r>
              <a:rPr lang="tr-TR" dirty="0" smtClean="0"/>
              <a:t>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86302152"/>
      </p:ext>
    </p:extLst>
  </p:cSld>
  <p:clrMapOvr>
    <a:masterClrMapping/>
  </p:clrMapOvr>
  <p:transition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Komorbiditeler</a:t>
            </a:r>
            <a:br>
              <a:rPr lang="tr-TR" dirty="0" smtClean="0"/>
            </a:br>
            <a:endParaRPr lang="tr-TR" dirty="0" smtClean="0"/>
          </a:p>
        </p:txBody>
      </p:sp>
      <p:sp>
        <p:nvSpPr>
          <p:cNvPr id="78850" name="Rectangle 5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411552"/>
            <a:ext cx="8382000" cy="3908762"/>
          </a:xfrm>
        </p:spPr>
        <p:txBody>
          <a:bodyPr/>
          <a:lstStyle/>
          <a:p>
            <a:r>
              <a:rPr lang="tr-TR" dirty="0"/>
              <a:t>3. Kardiyovasküler </a:t>
            </a:r>
            <a:r>
              <a:rPr lang="tr-TR" dirty="0" smtClean="0"/>
              <a:t>hastalık</a:t>
            </a:r>
          </a:p>
          <a:p>
            <a:pPr lvl="1"/>
            <a:r>
              <a:rPr lang="tr-TR" dirty="0" err="1" smtClean="0"/>
              <a:t>SLE'deki</a:t>
            </a:r>
            <a:r>
              <a:rPr lang="tr-TR" dirty="0" smtClean="0"/>
              <a:t> </a:t>
            </a:r>
            <a:r>
              <a:rPr lang="tr-TR" dirty="0"/>
              <a:t>statin kullanımı için yapılan randomize kontrollü çalışmalarda, karotid intima media kalınlığının  CVD için bir belirteç olarak kullanıldığı zaman, plaseboya karşı net bir fayda sağlamadığı ifade edilmiştir.</a:t>
            </a:r>
          </a:p>
          <a:p>
            <a:pPr lvl="1"/>
            <a:r>
              <a:rPr lang="tr-TR" dirty="0" smtClean="0"/>
              <a:t>Bu </a:t>
            </a:r>
            <a:r>
              <a:rPr lang="tr-TR" dirty="0"/>
              <a:t>nedenle, rutin statin kullanımı tüm hastalar için önerilmemektedir, ancak </a:t>
            </a:r>
            <a:r>
              <a:rPr lang="tr-TR" dirty="0" smtClean="0"/>
              <a:t>lipit </a:t>
            </a:r>
            <a:r>
              <a:rPr lang="tr-TR" dirty="0"/>
              <a:t>seviyeleri ve diğer geleneksel risk faktörlerinin varlığına dayanarak düşünülmelidir. </a:t>
            </a:r>
          </a:p>
        </p:txBody>
      </p:sp>
    </p:spTree>
    <p:extLst>
      <p:ext uri="{BB962C8B-B14F-4D97-AF65-F5344CB8AC3E}">
        <p14:creationId xmlns:p14="http://schemas.microsoft.com/office/powerpoint/2010/main" val="731296483"/>
      </p:ext>
    </p:extLst>
  </p:cSld>
  <p:clrMapOvr>
    <a:masterClrMapping/>
  </p:clrMapOvr>
  <p:transition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Komorbiditeler</a:t>
            </a:r>
            <a:br>
              <a:rPr lang="tr-TR" dirty="0" smtClean="0"/>
            </a:br>
            <a:endParaRPr lang="tr-TR" dirty="0" smtClean="0"/>
          </a:p>
        </p:txBody>
      </p:sp>
      <p:sp>
        <p:nvSpPr>
          <p:cNvPr id="78850" name="Rectangle 5"/>
          <p:cNvSpPr>
            <a:spLocks noGrp="1" noChangeArrowheads="1"/>
          </p:cNvSpPr>
          <p:nvPr>
            <p:ph type="body" sz="quarter" idx="10"/>
          </p:nvPr>
        </p:nvSpPr>
        <p:spPr>
          <a:xfrm>
            <a:off x="381000" y="1411552"/>
            <a:ext cx="8382000" cy="2718693"/>
          </a:xfrm>
        </p:spPr>
        <p:txBody>
          <a:bodyPr/>
          <a:lstStyle/>
          <a:p>
            <a:r>
              <a:rPr lang="tr-TR" dirty="0"/>
              <a:t>3. Kardiyovasküler </a:t>
            </a:r>
            <a:r>
              <a:rPr lang="tr-TR" dirty="0" smtClean="0"/>
              <a:t>hastalık</a:t>
            </a:r>
          </a:p>
          <a:p>
            <a:pPr lvl="1"/>
            <a:r>
              <a:rPr lang="tr-TR" dirty="0" smtClean="0"/>
              <a:t>Sistematik </a:t>
            </a:r>
            <a:r>
              <a:rPr lang="tr-TR" dirty="0"/>
              <a:t>Koroner Risk Değerlendirmesi (SCORE, https://www.escardio.org/Education/Practice-Tools/CVD-prevention-toolbox/SCORE-Risk-Charts ) kullanılarak 10 yıllık CVD riskinin hesaplanması önerilmektedir diğer yandan SLE'li hastalarda CVD riski hafife alınmaktadır</a:t>
            </a:r>
            <a:r>
              <a:rPr lang="tr-TR" dirty="0" smtClean="0"/>
              <a:t>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9783272"/>
      </p:ext>
    </p:extLst>
  </p:cSld>
  <p:clrMapOvr>
    <a:masterClrMapping/>
  </p:clrMapOvr>
  <p:transition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6146" name="Picture 2" descr="C:\Users\M\Desktop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8639"/>
            <a:ext cx="9180512" cy="536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SLE'de gelecekteki araştırma gündemi</a:t>
            </a:r>
          </a:p>
        </p:txBody>
      </p:sp>
      <p:sp>
        <p:nvSpPr>
          <p:cNvPr id="93186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1552"/>
            <a:ext cx="8382000" cy="4919295"/>
          </a:xfrm>
        </p:spPr>
        <p:txBody>
          <a:bodyPr/>
          <a:lstStyle/>
          <a:p>
            <a:r>
              <a:rPr lang="tr-TR" dirty="0" smtClean="0"/>
              <a:t>Bu noktalar, mevcut 'son teknolojinin' yetersiz olduğu klinik olarak önemli soruları cevaplamak için klinik çalışmaların tasarımını iyileştirmeyi amaçlamaktadır.</a:t>
            </a:r>
          </a:p>
          <a:p>
            <a:endParaRPr lang="tr-TR" dirty="0" smtClean="0"/>
          </a:p>
          <a:p>
            <a:r>
              <a:rPr lang="tr-TR" dirty="0" smtClean="0"/>
              <a:t> Özellikle, hem renal hem de ekstra renal hastalıkta tedavinin kesilmesinin optimal süresi ve zamanlaması ile ilgili veriler azdır.</a:t>
            </a:r>
          </a:p>
          <a:p>
            <a:endParaRPr lang="tr-TR" dirty="0" smtClean="0"/>
          </a:p>
          <a:p>
            <a:r>
              <a:rPr lang="tr-TR" dirty="0" smtClean="0"/>
              <a:t>Yapılan son araştırmalar tedavinin yönetimi için tekrarlanan böbrek biyopsilerinin değerli olduğunu  desteklemektedir, ancak daha fazla veriye ihtiyaç vardır.</a:t>
            </a:r>
          </a:p>
        </p:txBody>
      </p:sp>
    </p:spTree>
  </p:cSld>
  <p:clrMapOvr>
    <a:masterClrMapping/>
  </p:clrMapOvr>
  <p:transition>
    <p:fad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SLE'de gelecekteki araştırma gündemi</a:t>
            </a:r>
            <a:br>
              <a:rPr lang="tr-TR" smtClean="0"/>
            </a:br>
            <a:endParaRPr lang="tr-TR" smtClean="0"/>
          </a:p>
        </p:txBody>
      </p:sp>
      <p:sp>
        <p:nvSpPr>
          <p:cNvPr id="9421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tr-TR" smtClean="0"/>
              <a:t>Terapinin hedefleri</a:t>
            </a:r>
          </a:p>
          <a:p>
            <a:endParaRPr lang="tr-TR" smtClean="0"/>
          </a:p>
          <a:p>
            <a:r>
              <a:rPr lang="tr-TR" smtClean="0"/>
              <a:t>Remisyon sağlanamadığı takdirde, evrensel olarak kabul edilebilir düzeyde bir  hastalık aktivitesinin araştırılması.</a:t>
            </a:r>
          </a:p>
          <a:p>
            <a:endParaRPr lang="tr-TR" smtClean="0"/>
          </a:p>
          <a:p>
            <a:r>
              <a:rPr lang="tr-TR" smtClean="0"/>
              <a:t>Mevcut tedaviler ve hastalık izleme</a:t>
            </a:r>
          </a:p>
          <a:p>
            <a:endParaRPr lang="tr-TR" smtClean="0"/>
          </a:p>
          <a:p>
            <a:r>
              <a:rPr lang="tr-TR" smtClean="0"/>
              <a:t>Kalsinörin  inhibitörü içeren tedavi rejimlerinin lupus nefritinde (LN) farklı ırk / etnik gruplarda ve daha uzun zaman noktalarında etkinliği.</a:t>
            </a:r>
          </a:p>
          <a:p>
            <a:endParaRPr lang="tr-TR" dirty="0" smtClean="0"/>
          </a:p>
        </p:txBody>
      </p:sp>
    </p:spTree>
  </p:cSld>
  <p:clrMapOvr>
    <a:masterClrMapping/>
  </p:clrMapOvr>
  <p:transition>
    <p:fade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Mevcut tedaviler ve hastalık izleme</a:t>
            </a:r>
            <a:br>
              <a:rPr lang="tr-TR" smtClean="0"/>
            </a:br>
            <a:endParaRPr lang="tr-TR" smtClean="0"/>
          </a:p>
        </p:txBody>
      </p:sp>
      <p:sp>
        <p:nvSpPr>
          <p:cNvPr id="9523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tr-TR" smtClean="0"/>
              <a:t>İlaç kan seviyeleri ölçümlerinin yararlılığı (hidroksiklorokin [HCQ], mikofenolat mofetil vb.).</a:t>
            </a:r>
          </a:p>
          <a:p>
            <a:endParaRPr lang="tr-TR" smtClean="0"/>
          </a:p>
          <a:p>
            <a:r>
              <a:rPr lang="tr-TR" smtClean="0"/>
              <a:t>HCQ ile indüklenmiş retina toksisitesine sahip hastalarda kinakrin immünomodülatör olarak etkinliği.</a:t>
            </a:r>
          </a:p>
          <a:p>
            <a:endParaRPr lang="tr-TR" smtClean="0"/>
          </a:p>
          <a:p>
            <a:r>
              <a:rPr lang="tr-TR" smtClean="0"/>
              <a:t>Konvansiyonel immunsupresif ilaçların genel ve organlara özgü hastalıklarda etkinliklerinin karşılaştırılması,</a:t>
            </a:r>
          </a:p>
          <a:p>
            <a:endParaRPr lang="tr-TR" smtClean="0"/>
          </a:p>
          <a:p>
            <a:endParaRPr lang="tr-TR" smtClean="0"/>
          </a:p>
          <a:p>
            <a:endParaRPr lang="tr-TR" dirty="0" smtClean="0"/>
          </a:p>
        </p:txBody>
      </p:sp>
    </p:spTree>
  </p:cSld>
  <p:clrMapOvr>
    <a:masterClrMapping/>
  </p:clrMapOvr>
  <p:transition>
    <p:fade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Mevcut tedaviler ve hastalık izleme</a:t>
            </a:r>
            <a:br>
              <a:rPr lang="tr-TR" smtClean="0"/>
            </a:br>
            <a:endParaRPr lang="tr-TR" smtClean="0"/>
          </a:p>
        </p:txBody>
      </p:sp>
      <p:sp>
        <p:nvSpPr>
          <p:cNvPr id="9625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tr-TR" smtClean="0"/>
              <a:t>Konvansiyonel rejimlere kıyasla düşük kümülatif doz glukokortikoid rejimlerini test eden randomize çalışmalar.</a:t>
            </a:r>
          </a:p>
          <a:p>
            <a:endParaRPr lang="tr-TR" smtClean="0"/>
          </a:p>
          <a:p>
            <a:r>
              <a:rPr lang="tr-TR" smtClean="0"/>
              <a:t>Rituksimabın optimal tedavi rejimi: düzenli ve talep üzerine kullanılmasının karşılaştırlması.</a:t>
            </a:r>
          </a:p>
          <a:p>
            <a:endParaRPr lang="tr-TR" smtClean="0"/>
          </a:p>
          <a:p>
            <a:r>
              <a:rPr lang="tr-TR" smtClean="0"/>
              <a:t>Optimal tedavi süresi ve kesilme zamanlaması (renal ve ekstrarenal hastalık).</a:t>
            </a:r>
          </a:p>
          <a:p>
            <a:endParaRPr lang="tr-TR" smtClean="0"/>
          </a:p>
          <a:p>
            <a:r>
              <a:rPr lang="tr-TR" smtClean="0"/>
              <a:t>LN'nin izlenmesi ve tedaviye klinik ve histolojik yanıtın belirlenmesi için tekrarlanan böbrek biyopsisinin değeri.</a:t>
            </a:r>
          </a:p>
          <a:p>
            <a:endParaRPr lang="tr-TR" smtClean="0"/>
          </a:p>
        </p:txBody>
      </p:sp>
    </p:spTree>
  </p:cSld>
  <p:clrMapOvr>
    <a:masterClrMapping/>
  </p:clrMapOvr>
  <p:transition>
    <p:fade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Patofizyoloji ve Biyobelirteçler</a:t>
            </a:r>
            <a:br>
              <a:rPr lang="tr-TR" smtClean="0"/>
            </a:br>
            <a:endParaRPr lang="tr-TR" smtClean="0"/>
          </a:p>
        </p:txBody>
      </p:sp>
      <p:sp>
        <p:nvSpPr>
          <p:cNvPr id="9728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tr-TR" smtClean="0"/>
              <a:t>	</a:t>
            </a:r>
          </a:p>
          <a:p>
            <a:r>
              <a:rPr lang="tr-TR" smtClean="0"/>
              <a:t>Sistemik lupus eritematozus (SLE) geliştirmeye duyarlılık.</a:t>
            </a:r>
          </a:p>
          <a:p>
            <a:r>
              <a:rPr lang="tr-TR" smtClean="0"/>
              <a:t>Belirli organ sistemlerinin diğerleri üzerine katılımı, organ baskın hastalığa karşı çoklu sistem tutulumunun karşılaştırılması.</a:t>
            </a:r>
          </a:p>
          <a:p>
            <a:r>
              <a:rPr lang="tr-TR" smtClean="0"/>
              <a:t>Diğerlerine göre spesifik terapötik ajanlara cevap (farmakogenetik, transkriptomik vb.).</a:t>
            </a:r>
            <a:endParaRPr lang="tr-TR" dirty="0" smtClean="0"/>
          </a:p>
        </p:txBody>
      </p:sp>
    </p:spTree>
  </p:cSld>
  <p:clrMapOvr>
    <a:masterClrMapping/>
  </p:clrMapOvr>
  <p:transition>
    <p:fade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/>
            </a:r>
            <a:br>
              <a:rPr lang="tr-TR" smtClean="0"/>
            </a:br>
            <a:r>
              <a:rPr lang="tr-TR" smtClean="0"/>
              <a:t>Klinik deneme tasarımı ve yeni ilaç geliştirme</a:t>
            </a:r>
            <a:br>
              <a:rPr lang="tr-TR" smtClean="0"/>
            </a:br>
            <a:endParaRPr lang="tr-TR" smtClean="0"/>
          </a:p>
        </p:txBody>
      </p:sp>
      <p:sp>
        <p:nvSpPr>
          <p:cNvPr id="9830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tr-TR" smtClean="0"/>
          </a:p>
          <a:p>
            <a:r>
              <a:rPr lang="tr-TR" smtClean="0"/>
              <a:t>SLE'deki yeni ilaç onay olasılığını maksimuma çıkarmak için klinik çalışmaların tasarımının ve çalışma sonlanım noktalarının optimizasyonu,</a:t>
            </a:r>
          </a:p>
          <a:p>
            <a:endParaRPr lang="tr-TR" smtClean="0"/>
          </a:p>
          <a:p>
            <a:endParaRPr lang="tr-TR" smtClean="0"/>
          </a:p>
        </p:txBody>
      </p:sp>
    </p:spTree>
  </p:cSld>
  <p:clrMapOvr>
    <a:masterClrMapping/>
  </p:clrMapOvr>
  <p:transition>
    <p:fade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AutoShape 2"/>
          <p:cNvSpPr>
            <a:spLocks noGrp="1" noChangeArrowheads="1"/>
          </p:cNvSpPr>
          <p:nvPr>
            <p:ph type="title"/>
          </p:nvPr>
        </p:nvSpPr>
        <p:spPr>
          <a:xfrm>
            <a:off x="395536" y="1035587"/>
            <a:ext cx="8382000" cy="553998"/>
          </a:xfrm>
        </p:spPr>
        <p:txBody>
          <a:bodyPr/>
          <a:lstStyle/>
          <a:p>
            <a:r>
              <a:rPr lang="tr-TR" dirty="0" smtClean="0"/>
              <a:t>Klinik deneme tasarımı ve yeni ilaç geliştirme</a:t>
            </a:r>
          </a:p>
        </p:txBody>
      </p:sp>
      <p:sp>
        <p:nvSpPr>
          <p:cNvPr id="99330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970467"/>
            <a:ext cx="8382000" cy="1962589"/>
          </a:xfrm>
        </p:spPr>
        <p:txBody>
          <a:bodyPr/>
          <a:lstStyle/>
          <a:p>
            <a:r>
              <a:rPr lang="tr-TR" smtClean="0"/>
              <a:t>Organ-spesifik sonlanım noktalarının ve hastalık aktivite ölçümlerinin dahil edilmesi.</a:t>
            </a:r>
          </a:p>
          <a:p>
            <a:endParaRPr lang="tr-TR" smtClean="0"/>
          </a:p>
          <a:p>
            <a:r>
              <a:rPr lang="tr-TR" smtClean="0"/>
              <a:t>Yeterli düzeydeki çalışmaların sayısının arttırılması,</a:t>
            </a:r>
          </a:p>
          <a:p>
            <a:endParaRPr lang="tr-TR" smtClean="0"/>
          </a:p>
          <a:p>
            <a:r>
              <a:rPr lang="tr-TR" smtClean="0"/>
              <a:t>Endüstriyel çalışmalardan çok akademik çalışmalara odaklanılması.</a:t>
            </a:r>
          </a:p>
          <a:p>
            <a:endParaRPr lang="tr-TR" smtClean="0"/>
          </a:p>
          <a:p>
            <a:endParaRPr lang="tr-TR" smtClean="0"/>
          </a:p>
          <a:p>
            <a:endParaRPr lang="tr-TR" smtClean="0"/>
          </a:p>
        </p:txBody>
      </p:sp>
    </p:spTree>
  </p:cSld>
  <p:clrMapOvr>
    <a:masterClrMapping/>
  </p:clrMapOvr>
  <p:transition>
    <p:fade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53925389"/>
      </p:ext>
    </p:extLst>
  </p:cSld>
  <p:clrMapOvr>
    <a:masterClrMapping/>
  </p:clrMapOvr>
  <p:transition>
    <p:fade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297582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ender.DL.2019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99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labalık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36" tIns="45718" rIns="91436" bIns="45718" numCol="1" rtlCol="0" anchor="ctr" anchorCtr="0" compatLnSpc="1">
        <a:prstTxWarp prst="textNoShape">
          <a:avLst/>
        </a:prstTxWarp>
      </a:bodyPr>
      <a:lstStyle>
        <a:defPPr algn="ctr" defTabSz="914099" fontAlgn="base">
          <a:spcBef>
            <a:spcPct val="0"/>
          </a:spcBef>
          <a:spcAft>
            <a:spcPct val="0"/>
          </a:spcAft>
          <a:defRPr sz="2300" dirty="0" smtClean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ender.PDF</Template>
  <TotalTime>3847</TotalTime>
  <Words>3818</Words>
  <Application>Microsoft Office PowerPoint</Application>
  <PresentationFormat>Ekran Gösterisi (4:3)</PresentationFormat>
  <Paragraphs>393</Paragraphs>
  <Slides>86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86</vt:i4>
      </vt:variant>
    </vt:vector>
  </HeadingPairs>
  <TitlesOfParts>
    <vt:vector size="87" baseType="lpstr">
      <vt:lpstr>ender.DL.2019</vt:lpstr>
      <vt:lpstr>SLE EULAR 2019 Önerileri</vt:lpstr>
      <vt:lpstr>PowerPoint Sunusu</vt:lpstr>
      <vt:lpstr>Giriş</vt:lpstr>
      <vt:lpstr>Metot</vt:lpstr>
      <vt:lpstr>PowerPoint Sunusu</vt:lpstr>
      <vt:lpstr>PowerPoint Sunusu</vt:lpstr>
      <vt:lpstr>PowerPoint Sunusu</vt:lpstr>
      <vt:lpstr>Tartışma Ve Sonuç</vt:lpstr>
      <vt:lpstr>Genel İlkeler</vt:lpstr>
      <vt:lpstr>Genel İlkeler</vt:lpstr>
      <vt:lpstr>Genel İlkeler Açıklamalar</vt:lpstr>
      <vt:lpstr>Genel İlkeler Açıklamalar  </vt:lpstr>
      <vt:lpstr>1. Tedavinin hedefleri</vt:lpstr>
      <vt:lpstr>1. Tedavinin hedefleri açıklamalar</vt:lpstr>
      <vt:lpstr>1. Tedavinin hedefleri açıklamalar</vt:lpstr>
      <vt:lpstr>PowerPoint Sunusu</vt:lpstr>
      <vt:lpstr>1. Tedavinin hedefleri  açıklamalar</vt:lpstr>
      <vt:lpstr>1. Tedavinin hedefleri açıklamalar</vt:lpstr>
      <vt:lpstr>1. Tedavinin hedefleri açıklamalar</vt:lpstr>
      <vt:lpstr>1. Tedavinin hedefleri açıklamalar</vt:lpstr>
      <vt:lpstr>2. SLE Tedavisi </vt:lpstr>
      <vt:lpstr>2. SLE Tedavisi </vt:lpstr>
      <vt:lpstr>2. SLE Tedavisi </vt:lpstr>
      <vt:lpstr>2. SLE Tedavisi </vt:lpstr>
      <vt:lpstr>2. SLE Tedavisi </vt:lpstr>
      <vt:lpstr>2. SLE Tedavisi </vt:lpstr>
      <vt:lpstr>2. SLE Tedavisi </vt:lpstr>
      <vt:lpstr>2. SLE Tedavisi </vt:lpstr>
      <vt:lpstr>2. SLE Tedavisi </vt:lpstr>
      <vt:lpstr>2. SLE Tedavisi </vt:lpstr>
      <vt:lpstr>2. SLE Tedavisi </vt:lpstr>
      <vt:lpstr>2. SLE Tedavisi </vt:lpstr>
      <vt:lpstr>2. SLE Tedavisi </vt:lpstr>
      <vt:lpstr>2. SLE Tedavisi </vt:lpstr>
      <vt:lpstr>2. SLE Tedavisi </vt:lpstr>
      <vt:lpstr>2. SLE Tedavisi </vt:lpstr>
      <vt:lpstr>2. SLE Tedavisi </vt:lpstr>
      <vt:lpstr>2. SLE Tedavisi </vt:lpstr>
      <vt:lpstr>2. SLE Tedavisi </vt:lpstr>
      <vt:lpstr>Özel Durumlar</vt:lpstr>
      <vt:lpstr>Özel Durumlar</vt:lpstr>
      <vt:lpstr>Özel Durumlar</vt:lpstr>
      <vt:lpstr>Özel Durumlar</vt:lpstr>
      <vt:lpstr>Özel Durumlar</vt:lpstr>
      <vt:lpstr>Özel Durumlar</vt:lpstr>
      <vt:lpstr>Özel Durumlar</vt:lpstr>
      <vt:lpstr>Özel Durumlar</vt:lpstr>
      <vt:lpstr>Özel Durumlar</vt:lpstr>
      <vt:lpstr>Özel Durumlar</vt:lpstr>
      <vt:lpstr>Özel Durumlar</vt:lpstr>
      <vt:lpstr>Özel Durumlar</vt:lpstr>
      <vt:lpstr>Özel Durumlar</vt:lpstr>
      <vt:lpstr>Özel Durumlar</vt:lpstr>
      <vt:lpstr>Özel Durumlar</vt:lpstr>
      <vt:lpstr>Özel Durumlar</vt:lpstr>
      <vt:lpstr>Özel Durumlar</vt:lpstr>
      <vt:lpstr>Özel Durumlar</vt:lpstr>
      <vt:lpstr>Özel Durumlar</vt:lpstr>
      <vt:lpstr>Özel Durumlar</vt:lpstr>
      <vt:lpstr>Özel Durumlar</vt:lpstr>
      <vt:lpstr>Özel Durumlar</vt:lpstr>
      <vt:lpstr>Özel Durumlar</vt:lpstr>
      <vt:lpstr>Özel Durumlar</vt:lpstr>
      <vt:lpstr>Komorbiditeler </vt:lpstr>
      <vt:lpstr>Komorbiditeler </vt:lpstr>
      <vt:lpstr>Komorbiditeler </vt:lpstr>
      <vt:lpstr>Komorbiditeler </vt:lpstr>
      <vt:lpstr>Komorbiditeler </vt:lpstr>
      <vt:lpstr>Komorbiditeler </vt:lpstr>
      <vt:lpstr>Komorbiditeler </vt:lpstr>
      <vt:lpstr>Komorbiditeler </vt:lpstr>
      <vt:lpstr>Komorbiditeler </vt:lpstr>
      <vt:lpstr>Komorbiditeler </vt:lpstr>
      <vt:lpstr>Komorbiditeler </vt:lpstr>
      <vt:lpstr>Komorbiditeler </vt:lpstr>
      <vt:lpstr>Komorbiditeler </vt:lpstr>
      <vt:lpstr>PowerPoint Sunusu</vt:lpstr>
      <vt:lpstr>SLE'de gelecekteki araştırma gündemi</vt:lpstr>
      <vt:lpstr>SLE'de gelecekteki araştırma gündemi </vt:lpstr>
      <vt:lpstr>Mevcut tedaviler ve hastalık izleme </vt:lpstr>
      <vt:lpstr>Mevcut tedaviler ve hastalık izleme </vt:lpstr>
      <vt:lpstr>Patofizyoloji ve Biyobelirteçler </vt:lpstr>
      <vt:lpstr> Klinik deneme tasarımı ve yeni ilaç geliştirme </vt:lpstr>
      <vt:lpstr>Klinik deneme tasarımı ve yeni ilaç geliştirme</vt:lpstr>
      <vt:lpstr>PowerPoint Sunusu</vt:lpstr>
      <vt:lpstr>PowerPoint Sunusu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SLE EULAR 2019 Önerileri</dc:title>
  <dc:creator>admin;Dr. Salim Mısırcı</dc:creator>
  <cp:keywords>www.ftronline.com</cp:keywords>
  <cp:lastModifiedBy>Dr.Ender Salbaş</cp:lastModifiedBy>
  <cp:revision>234</cp:revision>
  <dcterms:created xsi:type="dcterms:W3CDTF">2018-04-08T13:20:39Z</dcterms:created>
  <dcterms:modified xsi:type="dcterms:W3CDTF">2020-02-14T11:18:25Z</dcterms:modified>
  <cp:category>2020 Literatür</cp:category>
</cp:coreProperties>
</file>