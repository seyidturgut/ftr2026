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85" r:id="rId30"/>
    <p:sldId id="287" r:id="rId31"/>
    <p:sldId id="288" r:id="rId32"/>
    <p:sldId id="289" r:id="rId33"/>
    <p:sldId id="290" r:id="rId34"/>
    <p:sldId id="291" r:id="rId35"/>
    <p:sldId id="292" r:id="rId36"/>
    <p:sldId id="293" r:id="rId37"/>
    <p:sldId id="294" r:id="rId38"/>
    <p:sldId id="295"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Lst>
  <p:sldSz cx="9144000" cy="6858000" type="screen4x3"/>
  <p:notesSz cx="6858000" cy="9144000"/>
  <p:defaultTextStyle>
    <a:defPPr lvl="0">
      <a:defRPr lang="tr-TR"/>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F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1164"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aşlık Slaydı">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827584" y="5157192"/>
            <a:ext cx="7681913" cy="461665"/>
          </a:xfrm>
        </p:spPr>
        <p:txBody>
          <a:bodyPr>
            <a:noAutofit/>
          </a:bodyPr>
          <a:lstStyle>
            <a:lvl1pPr marL="0" indent="0" algn="ctr">
              <a:lnSpc>
                <a:spcPct val="90000"/>
              </a:lnSpc>
              <a:spcBef>
                <a:spcPts val="300"/>
              </a:spcBef>
              <a:buNone/>
              <a:defRPr sz="2700" b="1" baseline="0">
                <a:solidFill>
                  <a:schemeClr val="bg1">
                    <a:lumMod val="65000"/>
                    <a:lumOff val="3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Yazınız</a:t>
            </a:r>
            <a:endParaRPr lang="en-US" dirty="0"/>
          </a:p>
        </p:txBody>
      </p:sp>
      <p:sp>
        <p:nvSpPr>
          <p:cNvPr id="4" name="Title 1"/>
          <p:cNvSpPr>
            <a:spLocks noGrp="1"/>
          </p:cNvSpPr>
          <p:nvPr>
            <p:ph type="ctrTitle" hasCustomPrompt="1"/>
          </p:nvPr>
        </p:nvSpPr>
        <p:spPr>
          <a:xfrm>
            <a:off x="323528" y="764704"/>
            <a:ext cx="8424936" cy="3600400"/>
          </a:xfrm>
          <a:prstGeom prst="rect">
            <a:avLst/>
          </a:prstGeom>
        </p:spPr>
        <p:txBody>
          <a:bodyPr anchor="ctr" anchorCtr="0">
            <a:noAutofit/>
          </a:bodyPr>
          <a:lstStyle>
            <a:lvl1pPr algn="ctr">
              <a:lnSpc>
                <a:spcPct val="110000"/>
              </a:lnSpc>
              <a:defRPr sz="6600" b="1" baseline="0">
                <a:latin typeface="+mj-lt"/>
              </a:defRPr>
            </a:lvl1pPr>
          </a:lstStyle>
          <a:p>
            <a:r>
              <a:rPr lang="tr-TR" dirty="0" smtClean="0"/>
              <a:t>SEMİNER BAŞLIĞINI YAZINIZ</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teratürKapak">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39552" y="6021288"/>
            <a:ext cx="8136904" cy="461665"/>
          </a:xfrm>
        </p:spPr>
        <p:txBody>
          <a:bodyPr>
            <a:noAutofit/>
          </a:bodyPr>
          <a:lstStyle>
            <a:lvl1pPr marL="0" indent="0" algn="ctr">
              <a:lnSpc>
                <a:spcPct val="90000"/>
              </a:lnSpc>
              <a:spcBef>
                <a:spcPts val="0"/>
              </a:spcBef>
              <a:buNone/>
              <a:defRPr sz="2800" b="1" baseline="0">
                <a:solidFill>
                  <a:schemeClr val="bg1">
                    <a:lumMod val="75000"/>
                    <a:lumOff val="2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a:t>
            </a:r>
            <a:endParaRPr lang="en-US" dirty="0"/>
          </a:p>
        </p:txBody>
      </p:sp>
      <p:sp>
        <p:nvSpPr>
          <p:cNvPr id="4" name="Title 1"/>
          <p:cNvSpPr>
            <a:spLocks noGrp="1"/>
          </p:cNvSpPr>
          <p:nvPr>
            <p:ph type="ctrTitle" hasCustomPrompt="1"/>
          </p:nvPr>
        </p:nvSpPr>
        <p:spPr>
          <a:xfrm>
            <a:off x="539552" y="3789040"/>
            <a:ext cx="8136904" cy="1368152"/>
          </a:xfrm>
          <a:prstGeom prst="rect">
            <a:avLst/>
          </a:prstGeom>
        </p:spPr>
        <p:txBody>
          <a:bodyPr anchor="ctr" anchorCtr="0">
            <a:noAutofit/>
          </a:bodyPr>
          <a:lstStyle>
            <a:lvl1pPr algn="ctr">
              <a:lnSpc>
                <a:spcPct val="90000"/>
              </a:lnSpc>
              <a:defRPr sz="4500" b="1">
                <a:latin typeface="+mj-lt"/>
              </a:defRPr>
            </a:lvl1pPr>
          </a:lstStyle>
          <a:p>
            <a:r>
              <a:rPr lang="tr-TR" dirty="0" smtClean="0"/>
              <a:t>Literatürün Adını Yazın</a:t>
            </a:r>
            <a:endParaRPr lang="en-US" dirty="0"/>
          </a:p>
        </p:txBody>
      </p:sp>
      <p:sp>
        <p:nvSpPr>
          <p:cNvPr id="5" name="Title 1"/>
          <p:cNvSpPr txBox="1">
            <a:spLocks/>
          </p:cNvSpPr>
          <p:nvPr/>
        </p:nvSpPr>
        <p:spPr>
          <a:xfrm>
            <a:off x="985176" y="260647"/>
            <a:ext cx="7043208" cy="576065"/>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66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Futura XBlk BT" pitchFamily="34" charset="0"/>
                <a:ea typeface="+mn-ea"/>
                <a:cs typeface="Arial" charset="0"/>
              </a:defRPr>
            </a:lvl1pPr>
          </a:lstStyle>
          <a:p>
            <a:r>
              <a:rPr lang="tr-TR" sz="5400" b="0" dirty="0" smtClean="0"/>
              <a:t>Literatür</a:t>
            </a:r>
            <a:endParaRPr lang="tr-TR" sz="5400" b="0" dirty="0"/>
          </a:p>
        </p:txBody>
      </p:sp>
    </p:spTree>
    <p:extLst>
      <p:ext uri="{BB962C8B-B14F-4D97-AF65-F5344CB8AC3E}">
        <p14:creationId xmlns:p14="http://schemas.microsoft.com/office/powerpoint/2010/main" val="1678443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8" y="-99392"/>
            <a:ext cx="10099675" cy="7560840"/>
          </a:xfrm>
          <a:prstGeom prst="rect">
            <a:avLst/>
          </a:prstGeom>
        </p:spPr>
      </p:pic>
      <p:sp>
        <p:nvSpPr>
          <p:cNvPr id="2" name="Title 1"/>
          <p:cNvSpPr>
            <a:spLocks noGrp="1"/>
          </p:cNvSpPr>
          <p:nvPr>
            <p:ph type="ctrTitle"/>
          </p:nvPr>
        </p:nvSpPr>
        <p:spPr>
          <a:xfrm>
            <a:off x="323528" y="2420888"/>
            <a:ext cx="8175906" cy="1523494"/>
          </a:xfrm>
          <a:prstGeom prst="rect">
            <a:avLst/>
          </a:prstGeom>
        </p:spPr>
        <p:txBody>
          <a:bodyPr anchor="ctr" anchorCtr="0">
            <a:noAutofit/>
          </a:bodyPr>
          <a:lstStyle>
            <a:lvl1pPr algn="ctr">
              <a:lnSpc>
                <a:spcPct val="90000"/>
              </a:lnSpc>
              <a:defRPr sz="6600"/>
            </a:lvl1pPr>
          </a:lstStyle>
          <a:p>
            <a:r>
              <a:rPr lang="tr-TR" smtClean="0"/>
              <a:t>Asıl başlık stili için tıklatın</a:t>
            </a:r>
            <a:endParaRPr lang="en-US" dirty="0"/>
          </a:p>
        </p:txBody>
      </p:sp>
      <p:sp>
        <p:nvSpPr>
          <p:cNvPr id="7" name="Text Placeholder 6"/>
          <p:cNvSpPr>
            <a:spLocks noGrp="1"/>
          </p:cNvSpPr>
          <p:nvPr>
            <p:ph type="body" sz="quarter" idx="10" hasCustomPrompt="1"/>
          </p:nvPr>
        </p:nvSpPr>
        <p:spPr>
          <a:xfrm>
            <a:off x="15843" y="5373216"/>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pPr marL="0" lvl="0" indent="0" algn="r" defTabSz="1095376" rtl="0" eaLnBrk="1" fontAlgn="base" hangingPunct="1">
              <a:lnSpc>
                <a:spcPct val="90000"/>
              </a:lnSpc>
              <a:spcBef>
                <a:spcPct val="0"/>
              </a:spcBef>
              <a:spcAft>
                <a:spcPct val="0"/>
              </a:spcAft>
              <a:buClr>
                <a:schemeClr val="tx2"/>
              </a:buClr>
              <a:buSzPct val="80000"/>
              <a:buFont typeface="Arial" pitchFamily="34" charset="0"/>
              <a:buNone/>
            </a:pPr>
            <a:r>
              <a:rPr lang="tr-TR" dirty="0" err="1" smtClean="0"/>
              <a:t>ftronline</a:t>
            </a:r>
            <a:r>
              <a:rPr lang="en-US" dirty="0" smtClean="0"/>
              <a:t>…</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a:lstStyle>
            <a:lvl1pPr>
              <a:defRPr b="1"/>
            </a:lvl1pPr>
          </a:lstStyle>
          <a:p>
            <a:r>
              <a:rPr lang="tr-TR" dirty="0" smtClean="0"/>
              <a:t>Asıl Başlık Stili İçin Tıklatın</a:t>
            </a:r>
            <a:endParaRPr lang="tr-TR" dirty="0"/>
          </a:p>
        </p:txBody>
      </p:sp>
      <p:sp>
        <p:nvSpPr>
          <p:cNvPr id="3" name="Text Placeholder 2"/>
          <p:cNvSpPr>
            <a:spLocks noGrp="1"/>
          </p:cNvSpPr>
          <p:nvPr>
            <p:ph idx="1"/>
          </p:nvPr>
        </p:nvSpPr>
        <p:spPr>
          <a:xfrm>
            <a:off x="395536" y="1196752"/>
            <a:ext cx="8424936" cy="2238049"/>
          </a:xfrm>
          <a:prstGeom prst="rect">
            <a:avLst/>
          </a:prstGeom>
        </p:spPr>
        <p:txBody>
          <a:bodyPr vert="horz" wrap="square" lIns="0" tIns="0" rIns="0" bIns="0" rtlCol="0">
            <a:spAutoFit/>
          </a:bodyPr>
          <a:lstStyle>
            <a:lvl1pPr>
              <a:spcBef>
                <a:spcPts val="1200"/>
              </a:spcBef>
              <a:defRPr/>
            </a:lvl1pPr>
            <a:lvl2pPr>
              <a:spcBef>
                <a:spcPts val="600"/>
              </a:spcBef>
              <a:defRPr/>
            </a:lvl2pPr>
            <a:lvl3pPr>
              <a:spcBef>
                <a:spcPts val="600"/>
              </a:spcBef>
              <a:defRPr sz="2200"/>
            </a:lvl3pPr>
            <a:lvl4pPr>
              <a:defRPr sz="1900"/>
            </a:lvl4pPr>
            <a:lvl5pPr>
              <a:defRPr sz="1800"/>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23512838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lasikdüzen">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381000" y="2114483"/>
            <a:ext cx="8382000" cy="2158027"/>
          </a:xfrm>
        </p:spPr>
        <p:txBody>
          <a:bodyPr/>
          <a:lstStyle>
            <a:lvl1pPr marL="360000" indent="-360000">
              <a:lnSpc>
                <a:spcPct val="100000"/>
              </a:lnSpc>
              <a:spcBef>
                <a:spcPts val="1200"/>
              </a:spcBef>
              <a:spcAft>
                <a:spcPts val="400"/>
              </a:spcAft>
              <a:defRPr sz="2600">
                <a:solidFill>
                  <a:schemeClr val="bg1"/>
                </a:solidFill>
                <a:latin typeface="+mj-lt"/>
              </a:defRPr>
            </a:lvl1pPr>
            <a:lvl2pPr marL="936000">
              <a:lnSpc>
                <a:spcPct val="100000"/>
              </a:lnSpc>
              <a:spcBef>
                <a:spcPts val="6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1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nkli">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76672"/>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1411552"/>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0300287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enkli 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79322955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nkli Yari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41392775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88477"/>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5" name="Text Placeholder 5"/>
          <p:cNvSpPr>
            <a:spLocks noGrp="1"/>
          </p:cNvSpPr>
          <p:nvPr>
            <p:ph type="body" sz="quarter" idx="10"/>
          </p:nvPr>
        </p:nvSpPr>
        <p:spPr>
          <a:xfrm>
            <a:off x="395536" y="2258499"/>
            <a:ext cx="8382000" cy="2044149"/>
          </a:xfrm>
        </p:spPr>
        <p:txBody>
          <a:bodyPr/>
          <a:lstStyle>
            <a:lvl1pPr marL="360000" indent="-360000">
              <a:lnSpc>
                <a:spcPct val="100000"/>
              </a:lnSpc>
              <a:spcBef>
                <a:spcPts val="1400"/>
              </a:spcBef>
              <a:spcAft>
                <a:spcPts val="600"/>
              </a:spcAft>
              <a:defRPr sz="2500">
                <a:solidFill>
                  <a:schemeClr val="bg1"/>
                </a:solidFill>
                <a:latin typeface="+mj-lt"/>
              </a:defRPr>
            </a:lvl1pPr>
            <a:lvl2pPr marL="936000">
              <a:lnSpc>
                <a:spcPct val="100000"/>
              </a:lnSpc>
              <a:spcBef>
                <a:spcPts val="800"/>
              </a:spcBef>
              <a:spcAft>
                <a:spcPts val="200"/>
              </a:spcAft>
              <a:defRPr sz="2300" b="0">
                <a:solidFill>
                  <a:schemeClr val="bg1"/>
                </a:solidFill>
                <a:latin typeface="+mj-lt"/>
              </a:defRPr>
            </a:lvl2pPr>
            <a:lvl3pPr marL="1332000">
              <a:lnSpc>
                <a:spcPct val="90000"/>
              </a:lnSpc>
              <a:spcBef>
                <a:spcPts val="700"/>
              </a:spcBef>
              <a:defRPr sz="2200" b="0">
                <a:solidFill>
                  <a:schemeClr val="bg1"/>
                </a:solidFill>
                <a:latin typeface="+mj-lt"/>
              </a:defRPr>
            </a:lvl3pPr>
            <a:lvl4pPr>
              <a:lnSpc>
                <a:spcPct val="90000"/>
              </a:lnSpc>
              <a:spcBef>
                <a:spcPts val="700"/>
              </a:spcBef>
              <a:defRPr sz="2000" b="0">
                <a:solidFill>
                  <a:schemeClr val="bg1"/>
                </a:solidFill>
                <a:latin typeface="+mj-lt"/>
              </a:defRPr>
            </a:lvl4pPr>
            <a:lvl5pPr>
              <a:lnSpc>
                <a:spcPct val="90000"/>
              </a:lnSpc>
              <a:spcBef>
                <a:spcPts val="700"/>
              </a:spcBef>
              <a:defRPr sz="19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34025039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3" name="Content Placeholder 2"/>
          <p:cNvSpPr>
            <a:spLocks noGrp="1"/>
          </p:cNvSpPr>
          <p:nvPr>
            <p:ph sz="half" idx="1"/>
          </p:nvPr>
        </p:nvSpPr>
        <p:spPr>
          <a:xfrm>
            <a:off x="381000" y="1411553"/>
            <a:ext cx="4114800" cy="2262158"/>
          </a:xfrm>
        </p:spPr>
        <p:txBody>
          <a:bodyPr/>
          <a:lstStyle>
            <a:lvl1pPr marL="339976" indent="-339976">
              <a:lnSpc>
                <a:spcPct val="100000"/>
              </a:lnSpc>
              <a:spcBef>
                <a:spcPts val="1500"/>
              </a:spcBef>
              <a:defRPr sz="2200">
                <a:latin typeface="+mj-lt"/>
              </a:defRPr>
            </a:lvl1pPr>
            <a:lvl2pPr marL="673338" indent="-325424">
              <a:lnSpc>
                <a:spcPct val="90000"/>
              </a:lnSpc>
              <a:spcBef>
                <a:spcPts val="1200"/>
              </a:spcBef>
              <a:defRPr sz="2000">
                <a:latin typeface="+mj-lt"/>
              </a:defRPr>
            </a:lvl2pPr>
            <a:lvl3pPr marL="953785" indent="-288384">
              <a:lnSpc>
                <a:spcPct val="90000"/>
              </a:lnSpc>
              <a:spcBef>
                <a:spcPts val="1200"/>
              </a:spcBef>
              <a:defRPr sz="1800">
                <a:latin typeface="+mj-lt"/>
              </a:defRPr>
            </a:lvl3pPr>
            <a:lvl4pPr marL="1227618" indent="-273833">
              <a:lnSpc>
                <a:spcPct val="90000"/>
              </a:lnSpc>
              <a:spcBef>
                <a:spcPts val="1200"/>
              </a:spcBef>
              <a:defRPr sz="1600" b="0">
                <a:latin typeface="+mj-lt"/>
              </a:defRPr>
            </a:lvl4pPr>
            <a:lvl5pPr marL="1516002" indent="-280447">
              <a:lnSpc>
                <a:spcPct val="90000"/>
              </a:lnSpc>
              <a:spcBef>
                <a:spcPts val="1200"/>
              </a:spcBef>
              <a:defRPr sz="1600" b="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648200" y="1411553"/>
            <a:ext cx="4114800" cy="2262158"/>
          </a:xfrm>
        </p:spPr>
        <p:txBody>
          <a:bodyPr/>
          <a:lstStyle>
            <a:lvl1pPr marL="347914" indent="-347914">
              <a:lnSpc>
                <a:spcPct val="100000"/>
              </a:lnSpc>
              <a:spcBef>
                <a:spcPts val="1500"/>
              </a:spcBef>
              <a:defRPr sz="2200">
                <a:latin typeface="+mj-lt"/>
              </a:defRPr>
            </a:lvl1pPr>
            <a:lvl2pPr marL="673338" indent="-339976">
              <a:lnSpc>
                <a:spcPct val="90000"/>
              </a:lnSpc>
              <a:spcBef>
                <a:spcPts val="1200"/>
              </a:spcBef>
              <a:defRPr sz="2000">
                <a:latin typeface="+mj-lt"/>
              </a:defRPr>
            </a:lvl2pPr>
            <a:lvl3pPr marL="961722" indent="-302936">
              <a:lnSpc>
                <a:spcPct val="90000"/>
              </a:lnSpc>
              <a:spcBef>
                <a:spcPts val="1200"/>
              </a:spcBef>
              <a:defRPr sz="1800">
                <a:latin typeface="+mj-lt"/>
              </a:defRPr>
            </a:lvl3pPr>
            <a:lvl4pPr marL="1227618" indent="-265896">
              <a:lnSpc>
                <a:spcPct val="90000"/>
              </a:lnSpc>
              <a:spcBef>
                <a:spcPts val="1200"/>
              </a:spcBef>
              <a:defRPr sz="1600">
                <a:latin typeface="+mj-lt"/>
              </a:defRPr>
            </a:lvl4pPr>
            <a:lvl5pPr marL="1516002" indent="-273833">
              <a:lnSpc>
                <a:spcPct val="90000"/>
              </a:lnSpc>
              <a:spcBef>
                <a:spcPts val="1200"/>
              </a:spcBef>
              <a:defRPr sz="16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YazıSol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4" name="Content Placeholder 3"/>
          <p:cNvSpPr>
            <a:spLocks noGrp="1"/>
          </p:cNvSpPr>
          <p:nvPr>
            <p:ph sz="half" idx="2"/>
          </p:nvPr>
        </p:nvSpPr>
        <p:spPr>
          <a:xfrm>
            <a:off x="323528" y="1340768"/>
            <a:ext cx="4191000" cy="2416046"/>
          </a:xfrm>
        </p:spPr>
        <p:txBody>
          <a:bodyPr/>
          <a:lstStyle>
            <a:lvl1pPr marL="347914" indent="-347914">
              <a:lnSpc>
                <a:spcPct val="90000"/>
              </a:lnSpc>
              <a:spcBef>
                <a:spcPts val="1200"/>
              </a:spcBef>
              <a:defRPr sz="2400">
                <a:latin typeface="+mj-lt"/>
              </a:defRPr>
            </a:lvl1pPr>
            <a:lvl2pPr marL="673338" indent="-339976">
              <a:lnSpc>
                <a:spcPct val="90000"/>
              </a:lnSpc>
              <a:spcBef>
                <a:spcPts val="1200"/>
              </a:spcBef>
              <a:defRPr sz="2300">
                <a:latin typeface="+mj-lt"/>
              </a:defRPr>
            </a:lvl2pPr>
            <a:lvl3pPr marL="961722" indent="-302936">
              <a:lnSpc>
                <a:spcPct val="90000"/>
              </a:lnSpc>
              <a:spcBef>
                <a:spcPts val="1200"/>
              </a:spcBef>
              <a:defRPr sz="2200">
                <a:latin typeface="+mj-lt"/>
              </a:defRPr>
            </a:lvl3pPr>
            <a:lvl4pPr marL="1227618" indent="-265896">
              <a:lnSpc>
                <a:spcPct val="90000"/>
              </a:lnSpc>
              <a:spcBef>
                <a:spcPts val="1200"/>
              </a:spcBef>
              <a:defRPr sz="2000">
                <a:latin typeface="+mj-lt"/>
              </a:defRPr>
            </a:lvl4pPr>
            <a:lvl5pPr marL="1516002" indent="-273833">
              <a:lnSpc>
                <a:spcPct val="90000"/>
              </a:lnSpc>
              <a:spcBef>
                <a:spcPts val="1200"/>
              </a:spcBef>
              <a:defRPr sz="18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5811424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88640"/>
            <a:ext cx="8382000" cy="553998"/>
          </a:xfrm>
          <a:prstGeom prst="rect">
            <a:avLst/>
          </a:prstGeom>
        </p:spPr>
        <p:txBody>
          <a:bodyPr/>
          <a:lstStyle>
            <a:lvl1pPr>
              <a:defRPr b="1">
                <a:latin typeface="+mj-lt"/>
              </a:defRPr>
            </a:lvl1pPr>
          </a:lstStyle>
          <a:p>
            <a:r>
              <a:rPr lang="tr-TR" dirty="0" smtClean="0"/>
              <a:t>Asıl Başlık Stili İçin Tıklatın</a:t>
            </a:r>
            <a:endParaRPr lang="en-US" dirty="0"/>
          </a:p>
        </p:txBody>
      </p:sp>
      <p:sp>
        <p:nvSpPr>
          <p:cNvPr id="3" name="Text Placeholder 2"/>
          <p:cNvSpPr>
            <a:spLocks noGrp="1"/>
          </p:cNvSpPr>
          <p:nvPr>
            <p:ph type="body" idx="1"/>
          </p:nvPr>
        </p:nvSpPr>
        <p:spPr>
          <a:xfrm>
            <a:off x="381000" y="1268760"/>
            <a:ext cx="4114800" cy="581698"/>
          </a:xfrm>
        </p:spPr>
        <p:txBody>
          <a:bodyPr anchor="b"/>
          <a:lstStyle>
            <a:lvl1pPr marL="0" indent="0">
              <a:lnSpc>
                <a:spcPct val="90000"/>
              </a:lnSpc>
              <a:spcBef>
                <a:spcPts val="0"/>
              </a:spcBef>
              <a:spcAft>
                <a:spcPts val="12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380999" y="2174875"/>
            <a:ext cx="4114800" cy="2579168"/>
          </a:xfrm>
        </p:spPr>
        <p:txBody>
          <a:bodyPr/>
          <a:lstStyle>
            <a:lvl1pPr marL="281770" indent="-281770">
              <a:spcBef>
                <a:spcPts val="1600"/>
              </a:spcBef>
              <a:defRPr sz="2100">
                <a:latin typeface="+mj-lt"/>
              </a:defRPr>
            </a:lvl1pPr>
            <a:lvl2pPr marL="562218" indent="-265896">
              <a:spcBef>
                <a:spcPts val="1200"/>
              </a:spcBef>
              <a:defRPr sz="2000">
                <a:latin typeface="+mj-lt"/>
              </a:defRPr>
            </a:lvl2pPr>
            <a:lvl3pPr marL="813562" indent="-243407">
              <a:spcBef>
                <a:spcPts val="1200"/>
              </a:spcBef>
              <a:defRPr sz="1800">
                <a:latin typeface="+mj-lt"/>
              </a:defRPr>
            </a:lvl3pPr>
            <a:lvl4pPr marL="1050354" indent="-228856">
              <a:spcBef>
                <a:spcPts val="1200"/>
              </a:spcBef>
              <a:defRPr sz="1800">
                <a:latin typeface="+mj-lt"/>
              </a:defRPr>
            </a:lvl4pPr>
            <a:lvl5pPr marL="1279210" indent="-206367">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5981" y="1268760"/>
            <a:ext cx="4117019" cy="581698"/>
          </a:xfrm>
        </p:spPr>
        <p:txBody>
          <a:bodyPr anchor="b"/>
          <a:lstStyle>
            <a:lvl1pPr marL="0" indent="0">
              <a:lnSpc>
                <a:spcPct val="90000"/>
              </a:lnSpc>
              <a:spcBef>
                <a:spcPts val="0"/>
              </a:spcBef>
              <a:spcAft>
                <a:spcPts val="6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645026" y="2174875"/>
            <a:ext cx="4117974" cy="2579168"/>
          </a:xfrm>
        </p:spPr>
        <p:txBody>
          <a:bodyPr/>
          <a:lstStyle>
            <a:lvl1pPr marL="296321" indent="-296321">
              <a:spcBef>
                <a:spcPts val="1600"/>
              </a:spcBef>
              <a:defRPr sz="2100">
                <a:latin typeface="+mj-lt"/>
              </a:defRPr>
            </a:lvl1pPr>
            <a:lvl2pPr marL="570155" indent="-273833">
              <a:spcBef>
                <a:spcPts val="1200"/>
              </a:spcBef>
              <a:defRPr sz="2000">
                <a:latin typeface="+mj-lt"/>
              </a:defRPr>
            </a:lvl2pPr>
            <a:lvl3pPr marL="821499" indent="-244730">
              <a:spcBef>
                <a:spcPts val="1200"/>
              </a:spcBef>
              <a:defRPr sz="1800">
                <a:latin typeface="+mj-lt"/>
              </a:defRPr>
            </a:lvl3pPr>
            <a:lvl4pPr marL="1050354" indent="-236793">
              <a:spcBef>
                <a:spcPts val="1200"/>
              </a:spcBef>
              <a:defRPr sz="1800">
                <a:latin typeface="+mj-lt"/>
              </a:defRPr>
            </a:lvl4pPr>
            <a:lvl5pPr marL="1279210" indent="-220919">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sim">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onSlayt">
    <p:spTree>
      <p:nvGrpSpPr>
        <p:cNvPr id="1" name=""/>
        <p:cNvGrpSpPr/>
        <p:nvPr/>
      </p:nvGrpSpPr>
      <p:grpSpPr>
        <a:xfrm>
          <a:off x="0" y="0"/>
          <a:ext cx="0" cy="0"/>
          <a:chOff x="0" y="0"/>
          <a:chExt cx="0" cy="0"/>
        </a:xfrm>
      </p:grpSpPr>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260648"/>
            <a:ext cx="9144000" cy="6552728"/>
          </a:xfrm>
          <a:prstGeom prst="rect">
            <a:avLst/>
          </a:prstGeom>
        </p:spPr>
      </p:pic>
      <p:sp>
        <p:nvSpPr>
          <p:cNvPr id="4" name="Dikdörtgen 3"/>
          <p:cNvSpPr/>
          <p:nvPr/>
        </p:nvSpPr>
        <p:spPr>
          <a:xfrm>
            <a:off x="2843808" y="5085184"/>
            <a:ext cx="3384376" cy="1569660"/>
          </a:xfrm>
          <a:prstGeom prst="rect">
            <a:avLst/>
          </a:prstGeom>
          <a:noFill/>
          <a:effectLst>
            <a:outerShdw blurRad="330200" dist="38100" dir="1920000" algn="tl" rotWithShape="0">
              <a:prstClr val="black">
                <a:alpha val="40000"/>
              </a:prstClr>
            </a:outerShdw>
          </a:effectLst>
        </p:spPr>
        <p:txBody>
          <a:bodyPr wrap="square" lIns="91440" tIns="45720" rIns="91440" bIns="45720">
            <a:spAutoFit/>
          </a:bodyPr>
          <a:lstStyle/>
          <a:p>
            <a:pPr algn="ctr"/>
            <a:r>
              <a:rPr lang="tr-TR" sz="9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rPr>
              <a:t>2020</a:t>
            </a:r>
            <a:endParaRPr lang="tr-TR" sz="9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endParaRPr>
          </a:p>
        </p:txBody>
      </p:sp>
    </p:spTree>
    <p:extLst>
      <p:ext uri="{BB962C8B-B14F-4D97-AF65-F5344CB8AC3E}">
        <p14:creationId xmlns:p14="http://schemas.microsoft.com/office/powerpoint/2010/main" val="88460040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şekkürSlaytı">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5" y="1905000"/>
            <a:ext cx="10099675" cy="2281652"/>
          </a:xfrm>
          <a:prstGeom prst="rect">
            <a:avLst/>
          </a:prstGeom>
        </p:spPr>
      </p:pic>
      <p:sp>
        <p:nvSpPr>
          <p:cNvPr id="2" name="Title 1"/>
          <p:cNvSpPr>
            <a:spLocks noGrp="1"/>
          </p:cNvSpPr>
          <p:nvPr>
            <p:ph type="ctrTitle" hasCustomPrompt="1"/>
          </p:nvPr>
        </p:nvSpPr>
        <p:spPr>
          <a:xfrm>
            <a:off x="755576" y="4365104"/>
            <a:ext cx="7992888" cy="1523494"/>
          </a:xfrm>
          <a:prstGeom prst="rect">
            <a:avLst/>
          </a:prstGeom>
        </p:spPr>
        <p:txBody>
          <a:bodyPr anchor="ctr" anchorCtr="0">
            <a:noAutofit/>
          </a:bodyPr>
          <a:lstStyle>
            <a:lvl1pPr algn="ctr">
              <a:lnSpc>
                <a:spcPct val="90000"/>
              </a:lnSpc>
              <a:defRPr sz="6000" b="1" i="1">
                <a:solidFill>
                  <a:schemeClr val="bg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tr-TR" dirty="0" smtClean="0"/>
              <a:t>Sabrınız için teşekkürler</a:t>
            </a:r>
            <a:endParaRPr lang="en-US" dirty="0"/>
          </a:p>
        </p:txBody>
      </p:sp>
      <p:sp>
        <p:nvSpPr>
          <p:cNvPr id="7" name="Text Placeholder 6"/>
          <p:cNvSpPr>
            <a:spLocks noGrp="1"/>
          </p:cNvSpPr>
          <p:nvPr>
            <p:ph type="body" sz="quarter" idx="10" hasCustomPrompt="1"/>
          </p:nvPr>
        </p:nvSpPr>
        <p:spPr>
          <a:xfrm>
            <a:off x="755576" y="2072174"/>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ctr">
              <a:lnSpc>
                <a:spcPct val="100000"/>
              </a:lnSpc>
              <a:spcBef>
                <a:spcPts val="0"/>
              </a:spcBef>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r>
              <a:rPr lang="tr-TR" dirty="0" smtClean="0"/>
              <a:t>ftronline.com</a:t>
            </a:r>
            <a:endParaRPr lang="tr-TR" dirty="0"/>
          </a:p>
        </p:txBody>
      </p:sp>
      <p:sp>
        <p:nvSpPr>
          <p:cNvPr id="6" name="Title 1"/>
          <p:cNvSpPr txBox="1">
            <a:spLocks/>
          </p:cNvSpPr>
          <p:nvPr/>
        </p:nvSpPr>
        <p:spPr>
          <a:xfrm>
            <a:off x="971600" y="548680"/>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outerShdw blurRad="114300" dir="2700000" algn="tl" rotWithShape="0">
                    <a:prstClr val="black">
                      <a:alpha val="51000"/>
                    </a:prstClr>
                  </a:outerShdw>
                </a:effectLst>
                <a:latin typeface="+mj-lt"/>
                <a:ea typeface="+mn-ea"/>
                <a:cs typeface="Arial" charset="0"/>
              </a:defRPr>
            </a:lvl1pPr>
          </a:lstStyle>
          <a:p>
            <a:endParaRPr lang="tr-TR" dirty="0"/>
          </a:p>
        </p:txBody>
      </p:sp>
      <p:sp>
        <p:nvSpPr>
          <p:cNvPr id="8" name="Title 1"/>
          <p:cNvSpPr txBox="1">
            <a:spLocks/>
          </p:cNvSpPr>
          <p:nvPr/>
        </p:nvSpPr>
        <p:spPr>
          <a:xfrm>
            <a:off x="1187624" y="381506"/>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mj-lt"/>
                <a:ea typeface="+mn-ea"/>
                <a:cs typeface="Arial" charset="0"/>
              </a:defRPr>
            </a:lvl1pPr>
          </a:lstStyle>
          <a:p>
            <a:r>
              <a:rPr lang="tr-TR" sz="7200" b="0" dirty="0" smtClean="0">
                <a:latin typeface="Futura XBlk BT" panose="020B0903020204020204" pitchFamily="34" charset="0"/>
              </a:rPr>
              <a:t>Teşekkürler</a:t>
            </a:r>
            <a:endParaRPr lang="tr-TR" sz="7200" b="0" dirty="0">
              <a:latin typeface="Futura XBlk BT" panose="020B0903020204020204" pitchFamily="34" charset="0"/>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5536" y="1224168"/>
            <a:ext cx="8424936" cy="2348848"/>
          </a:xfrm>
          <a:prstGeom prst="rect">
            <a:avLst/>
          </a:prstGeom>
        </p:spPr>
        <p:txBody>
          <a:bodyPr vert="horz" wrap="square" lIns="0" tIns="0" rIns="0" bIns="0" rtlCol="0">
            <a:spAutoFit/>
          </a:bodyPr>
          <a:lstStyle/>
          <a:p>
            <a:pPr lvl="0"/>
            <a:r>
              <a:rPr lang="tr-TR" dirty="0" smtClean="0"/>
              <a:t>Asıl metin stillerini düzenlemek için tıklatın</a:t>
            </a:r>
          </a:p>
          <a:p>
            <a:pPr lvl="1"/>
            <a:r>
              <a:rPr lang="tr-TR" dirty="0" smtClean="0"/>
              <a:t>İkinci düzey</a:t>
            </a:r>
          </a:p>
          <a:p>
            <a:pPr lvl="2"/>
            <a:r>
              <a:rPr lang="tr-TR" dirty="0" smtClean="0"/>
              <a:t>Üçüncü düzey</a:t>
            </a:r>
          </a:p>
          <a:p>
            <a:pPr lvl="3"/>
            <a:r>
              <a:rPr lang="tr-TR" dirty="0" smtClean="0"/>
              <a:t>Dördüncü düzey</a:t>
            </a:r>
          </a:p>
          <a:p>
            <a:pPr lvl="4"/>
            <a:r>
              <a:rPr lang="tr-TR" dirty="0" smtClean="0"/>
              <a:t>Beşinci düzey</a:t>
            </a:r>
            <a:endParaRPr lang="en-US" dirty="0"/>
          </a:p>
        </p:txBody>
      </p:sp>
      <p:sp>
        <p:nvSpPr>
          <p:cNvPr id="2" name="Başlık Yer Tutucusu 1"/>
          <p:cNvSpPr>
            <a:spLocks noGrp="1"/>
          </p:cNvSpPr>
          <p:nvPr>
            <p:ph type="title"/>
          </p:nvPr>
        </p:nvSpPr>
        <p:spPr>
          <a:xfrm>
            <a:off x="467544" y="404664"/>
            <a:ext cx="8229600" cy="576064"/>
          </a:xfrm>
          <a:prstGeom prst="rect">
            <a:avLst/>
          </a:prstGeom>
        </p:spPr>
        <p:txBody>
          <a:bodyPr vert="horz" lIns="91440" tIns="45720" rIns="91440" bIns="45720" rtlCol="0" anchor="ctr">
            <a:noAutofit/>
          </a:bodyPr>
          <a:lstStyle/>
          <a:p>
            <a:r>
              <a:rPr lang="tr-TR" dirty="0" smtClean="0"/>
              <a:t>Asıl Başlık Stili İçin Tıklatın</a:t>
            </a:r>
            <a:endParaRPr lang="tr-TR" dirty="0"/>
          </a:p>
        </p:txBody>
      </p:sp>
      <p:sp>
        <p:nvSpPr>
          <p:cNvPr id="4" name="Dikdörtgen 3"/>
          <p:cNvSpPr/>
          <p:nvPr/>
        </p:nvSpPr>
        <p:spPr bwMode="auto">
          <a:xfrm>
            <a:off x="179512" y="6552728"/>
            <a:ext cx="8784976" cy="332656"/>
          </a:xfrm>
          <a:prstGeom prst="rect">
            <a:avLst/>
          </a:prstGeom>
          <a:solidFill>
            <a:srgbClr val="FF7F00"/>
          </a:solidFill>
          <a:ln>
            <a:noFill/>
            <a:headEnd type="none" w="med" len="med"/>
            <a:tailEnd type="none" w="med" len="med"/>
          </a:ln>
          <a:effectLst>
            <a:glow>
              <a:schemeClr val="accent1">
                <a:alpha val="48000"/>
              </a:schemeClr>
            </a:glow>
            <a:outerShdw blurRad="50800" dist="38100" dir="16200000" rotWithShape="0">
              <a:prstClr val="black">
                <a:alpha val="40000"/>
              </a:prstClr>
            </a:outerShdw>
            <a:softEdge rad="12700"/>
          </a:effectLst>
        </p:spPr>
        <p:style>
          <a:lnRef idx="3">
            <a:schemeClr val="lt1"/>
          </a:lnRef>
          <a:fillRef idx="1">
            <a:schemeClr val="accent1"/>
          </a:fillRef>
          <a:effectRef idx="1">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tr-TR" sz="1800" spc="1000" baseline="0" dirty="0" smtClean="0">
                <a:solidFill>
                  <a:srgbClr val="FF962D"/>
                </a:solidFill>
                <a:effectLst/>
                <a:latin typeface="Times New Roman" panose="02020603050405020304" pitchFamily="18" charset="0"/>
                <a:cs typeface="Times New Roman" panose="02020603050405020304" pitchFamily="18" charset="0"/>
              </a:rPr>
              <a:t>www.ftronline.com</a:t>
            </a:r>
          </a:p>
        </p:txBody>
      </p:sp>
    </p:spTree>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Lst>
  <p:transition>
    <p:fade/>
  </p:transition>
  <p:txStyles>
    <p:titleStyle>
      <a:lvl1pPr algn="ctr" defTabSz="914363" rtl="0" eaLnBrk="1" latinLnBrk="0" hangingPunct="1">
        <a:lnSpc>
          <a:spcPct val="90000"/>
        </a:lnSpc>
        <a:spcBef>
          <a:spcPct val="0"/>
        </a:spcBef>
        <a:buNone/>
        <a:defRPr lang="en-US" sz="3500" b="0" kern="1200" cap="none" spc="0" dirty="0">
          <a:ln>
            <a:noFill/>
          </a:ln>
          <a:solidFill>
            <a:schemeClr val="bg1">
              <a:lumMod val="85000"/>
              <a:lumOff val="15000"/>
            </a:schemeClr>
          </a:solidFill>
          <a:effectLst/>
          <a:latin typeface="+mj-lt"/>
          <a:ea typeface="Segoe UI" pitchFamily="34" charset="0"/>
          <a:cs typeface="Segoe UI" pitchFamily="34" charset="0"/>
        </a:defRPr>
      </a:lvl1pPr>
    </p:titleStyle>
    <p:bodyStyle>
      <a:lvl1pPr marL="396875" indent="-396875" algn="l" defTabSz="914363" rtl="0" eaLnBrk="1" latinLnBrk="0" hangingPunct="1">
        <a:lnSpc>
          <a:spcPct val="100000"/>
        </a:lnSpc>
        <a:spcBef>
          <a:spcPts val="1400"/>
        </a:spcBef>
        <a:spcAft>
          <a:spcPts val="600"/>
        </a:spcAft>
        <a:buFontTx/>
        <a:buBlip>
          <a:blip r:embed="rId17"/>
        </a:buBlip>
        <a:defRPr sz="2500" kern="1200">
          <a:solidFill>
            <a:schemeClr val="bg1"/>
          </a:solidFill>
          <a:latin typeface="+mj-lt"/>
          <a:ea typeface="+mn-ea"/>
          <a:cs typeface="+mn-cs"/>
        </a:defRPr>
      </a:lvl1pPr>
      <a:lvl2pPr marL="914400" indent="-396875" algn="l" defTabSz="914363" rtl="0" eaLnBrk="1" latinLnBrk="0" hangingPunct="1">
        <a:lnSpc>
          <a:spcPct val="100000"/>
        </a:lnSpc>
        <a:spcBef>
          <a:spcPts val="800"/>
        </a:spcBef>
        <a:spcAft>
          <a:spcPts val="200"/>
        </a:spcAft>
        <a:buFontTx/>
        <a:buBlip>
          <a:blip r:embed="rId17"/>
        </a:buBlip>
        <a:defRPr sz="2400" kern="1200">
          <a:solidFill>
            <a:schemeClr val="bg1"/>
          </a:solidFill>
          <a:latin typeface="+mj-lt"/>
          <a:ea typeface="+mn-ea"/>
          <a:cs typeface="+mn-cs"/>
        </a:defRPr>
      </a:lvl2pPr>
      <a:lvl3pPr marL="1258888" indent="-344488" algn="l" defTabSz="914363" rtl="0" eaLnBrk="1" latinLnBrk="0" hangingPunct="1">
        <a:lnSpc>
          <a:spcPct val="100000"/>
        </a:lnSpc>
        <a:spcBef>
          <a:spcPts val="800"/>
        </a:spcBef>
        <a:buFontTx/>
        <a:buBlip>
          <a:blip r:embed="rId17"/>
        </a:buBlip>
        <a:defRPr sz="2300" kern="1200">
          <a:solidFill>
            <a:schemeClr val="bg1"/>
          </a:solidFill>
          <a:latin typeface="+mj-lt"/>
          <a:ea typeface="+mn-ea"/>
          <a:cs typeface="+mn-cs"/>
        </a:defRPr>
      </a:lvl3pPr>
      <a:lvl4pPr marL="1604963" indent="-346075" algn="l" defTabSz="914363" rtl="0" eaLnBrk="1" latinLnBrk="0" hangingPunct="1">
        <a:lnSpc>
          <a:spcPct val="110000"/>
        </a:lnSpc>
        <a:spcBef>
          <a:spcPts val="700"/>
        </a:spcBef>
        <a:buFontTx/>
        <a:buBlip>
          <a:blip r:embed="rId17"/>
        </a:buBlip>
        <a:defRPr sz="2100" kern="1200">
          <a:solidFill>
            <a:schemeClr val="bg1"/>
          </a:solidFill>
          <a:latin typeface="+mj-lt"/>
          <a:ea typeface="+mn-ea"/>
          <a:cs typeface="+mn-cs"/>
        </a:defRPr>
      </a:lvl4pPr>
      <a:lvl5pPr marL="1941513" indent="-336550" algn="l" defTabSz="914363" rtl="0" eaLnBrk="1" latinLnBrk="0" hangingPunct="1">
        <a:lnSpc>
          <a:spcPct val="110000"/>
        </a:lnSpc>
        <a:spcBef>
          <a:spcPts val="700"/>
        </a:spcBef>
        <a:buFontTx/>
        <a:buBlip>
          <a:blip r:embed="rId17"/>
        </a:buBlip>
        <a:defRPr sz="2000" kern="1200">
          <a:solidFill>
            <a:schemeClr val="bg1"/>
          </a:solidFill>
          <a:latin typeface="+mj-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p:cNvSpPr>
            <a:spLocks noGrp="1"/>
          </p:cNvSpPr>
          <p:nvPr>
            <p:ph type="subTitle" idx="1"/>
          </p:nvPr>
        </p:nvSpPr>
        <p:spPr/>
        <p:txBody>
          <a:bodyPr/>
          <a:lstStyle/>
          <a:p>
            <a:r>
              <a:rPr lang="tr-TR" sz="2400" dirty="0" smtClean="0"/>
              <a:t>Hazırlayan: </a:t>
            </a:r>
            <a:r>
              <a:rPr lang="tr-TR" dirty="0" smtClean="0"/>
              <a:t>Dr. Muhammed Şahin </a:t>
            </a:r>
            <a:r>
              <a:rPr lang="tr-TR" sz="2400" dirty="0" smtClean="0"/>
              <a:t>2020 Nisan</a:t>
            </a:r>
            <a:endParaRPr lang="tr-TR" sz="2400" dirty="0"/>
          </a:p>
        </p:txBody>
      </p:sp>
      <p:sp>
        <p:nvSpPr>
          <p:cNvPr id="3" name="Başlık 2"/>
          <p:cNvSpPr>
            <a:spLocks noGrp="1"/>
          </p:cNvSpPr>
          <p:nvPr>
            <p:ph type="ctrTitle"/>
          </p:nvPr>
        </p:nvSpPr>
        <p:spPr>
          <a:xfrm>
            <a:off x="611560" y="2636912"/>
            <a:ext cx="8136904" cy="1368152"/>
          </a:xfrm>
        </p:spPr>
        <p:txBody>
          <a:bodyPr/>
          <a:lstStyle/>
          <a:p>
            <a:pPr>
              <a:lnSpc>
                <a:spcPct val="100000"/>
              </a:lnSpc>
            </a:pPr>
            <a:r>
              <a:rPr lang="tr-TR" dirty="0"/>
              <a:t>2019 EULAR </a:t>
            </a:r>
            <a:r>
              <a:rPr lang="tr-TR" dirty="0" smtClean="0"/>
              <a:t/>
            </a:r>
            <a:br>
              <a:rPr lang="tr-TR" dirty="0" smtClean="0"/>
            </a:br>
            <a:r>
              <a:rPr lang="tr-TR" dirty="0" smtClean="0"/>
              <a:t>Romatoid </a:t>
            </a:r>
            <a:r>
              <a:rPr lang="tr-TR" dirty="0"/>
              <a:t>Artrit Tedavisinde Sentetik ve Biyolojik DMARD </a:t>
            </a:r>
            <a:r>
              <a:rPr lang="tr-TR" dirty="0" smtClean="0"/>
              <a:t>Kullanım Önerileri</a:t>
            </a:r>
            <a:endParaRPr lang="tr-TR" dirty="0"/>
          </a:p>
        </p:txBody>
      </p:sp>
    </p:spTree>
    <p:extLst>
      <p:ext uri="{BB962C8B-B14F-4D97-AF65-F5344CB8AC3E}">
        <p14:creationId xmlns:p14="http://schemas.microsoft.com/office/powerpoint/2010/main" val="2387876192"/>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p:cNvSpPr>
            <a:spLocks noGrp="1"/>
          </p:cNvSpPr>
          <p:nvPr>
            <p:ph type="subTitle" idx="1"/>
          </p:nvPr>
        </p:nvSpPr>
        <p:spPr/>
        <p:txBody>
          <a:bodyPr/>
          <a:lstStyle/>
          <a:p>
            <a:r>
              <a:rPr lang="tr-TR" sz="2400" dirty="0" smtClean="0"/>
              <a:t>Hazırlayan: </a:t>
            </a:r>
            <a:r>
              <a:rPr lang="tr-TR" dirty="0" smtClean="0"/>
              <a:t>Dr. Muhammed Şahin </a:t>
            </a:r>
            <a:r>
              <a:rPr lang="tr-TR" sz="2400" dirty="0" smtClean="0"/>
              <a:t>2020 Nisan</a:t>
            </a:r>
            <a:endParaRPr lang="tr-TR" sz="2400" dirty="0"/>
          </a:p>
        </p:txBody>
      </p:sp>
      <p:sp>
        <p:nvSpPr>
          <p:cNvPr id="4" name="Başlık 3"/>
          <p:cNvSpPr>
            <a:spLocks noGrp="1"/>
          </p:cNvSpPr>
          <p:nvPr>
            <p:ph type="ctrTitle"/>
          </p:nvPr>
        </p:nvSpPr>
        <p:spPr/>
        <p:txBody>
          <a:bodyPr/>
          <a:lstStyle/>
          <a:p>
            <a:endParaRPr lang="tr-TR"/>
          </a:p>
        </p:txBody>
      </p:sp>
      <p:pic>
        <p:nvPicPr>
          <p:cNvPr id="5" name="Resi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980728"/>
            <a:ext cx="6408712" cy="5016978"/>
          </a:xfrm>
          <a:prstGeom prst="rect">
            <a:avLst/>
          </a:prstGeom>
        </p:spPr>
      </p:pic>
    </p:spTree>
    <p:extLst>
      <p:ext uri="{BB962C8B-B14F-4D97-AF65-F5344CB8AC3E}">
        <p14:creationId xmlns:p14="http://schemas.microsoft.com/office/powerpoint/2010/main" val="1207291187"/>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a:t>Özet</a:t>
            </a:r>
          </a:p>
        </p:txBody>
      </p:sp>
      <p:sp>
        <p:nvSpPr>
          <p:cNvPr id="5" name="Metin Yer Tutucusu 4"/>
          <p:cNvSpPr>
            <a:spLocks noGrp="1"/>
          </p:cNvSpPr>
          <p:nvPr>
            <p:ph type="body" sz="quarter" idx="10"/>
          </p:nvPr>
        </p:nvSpPr>
        <p:spPr>
          <a:xfrm>
            <a:off x="381000" y="1411552"/>
            <a:ext cx="8382000" cy="4529445"/>
          </a:xfrm>
        </p:spPr>
        <p:txBody>
          <a:bodyPr/>
          <a:lstStyle/>
          <a:p>
            <a:r>
              <a:rPr lang="tr-TR" dirty="0"/>
              <a:t>Amaç: </a:t>
            </a:r>
            <a:endParaRPr lang="tr-TR" dirty="0" smtClean="0"/>
          </a:p>
          <a:p>
            <a:pPr lvl="1"/>
            <a:r>
              <a:rPr lang="tr-TR" dirty="0" smtClean="0"/>
              <a:t>EULAR’ın </a:t>
            </a:r>
            <a:r>
              <a:rPr lang="tr-TR" dirty="0"/>
              <a:t>Romatoid Artrit tedavisindeki önerilerine sahadaki son gelişmeleri de hesaba katarak güncelleme yapılmasını sağlamak</a:t>
            </a:r>
          </a:p>
          <a:p>
            <a:r>
              <a:rPr lang="tr-TR" dirty="0"/>
              <a:t>Metot: </a:t>
            </a:r>
            <a:endParaRPr lang="tr-TR" dirty="0" smtClean="0"/>
          </a:p>
          <a:p>
            <a:pPr lvl="1"/>
            <a:r>
              <a:rPr lang="tr-TR" dirty="0" smtClean="0"/>
              <a:t>Uluslararası </a:t>
            </a:r>
            <a:r>
              <a:rPr lang="tr-TR" dirty="0"/>
              <a:t>çalışma grubu tarafından hastalık modifiye edici antiromatizmal ilaçların etkinlik  ve güvenliği ile ilgili son güncellemenin yapıldığı 2016 yılından 2019’a kadar olan süredeki önerileri destekleyen ya da çelişen yeni tedavi stratejilerini kavramaya yönelik 2 sistematik literatür taraması temel alınarak hazırlandı. </a:t>
            </a:r>
          </a:p>
        </p:txBody>
      </p:sp>
    </p:spTree>
    <p:extLst>
      <p:ext uri="{BB962C8B-B14F-4D97-AF65-F5344CB8AC3E}">
        <p14:creationId xmlns:p14="http://schemas.microsoft.com/office/powerpoint/2010/main" val="161020653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a:t>Özet</a:t>
            </a:r>
          </a:p>
        </p:txBody>
      </p:sp>
      <p:sp>
        <p:nvSpPr>
          <p:cNvPr id="5" name="Metin Yer Tutucusu 4"/>
          <p:cNvSpPr>
            <a:spLocks noGrp="1"/>
          </p:cNvSpPr>
          <p:nvPr>
            <p:ph type="body" sz="quarter" idx="10"/>
          </p:nvPr>
        </p:nvSpPr>
        <p:spPr>
          <a:xfrm>
            <a:off x="381000" y="1411552"/>
            <a:ext cx="8382000" cy="5057795"/>
          </a:xfrm>
        </p:spPr>
        <p:txBody>
          <a:bodyPr/>
          <a:lstStyle/>
          <a:p>
            <a:r>
              <a:rPr lang="tr-TR" dirty="0" smtClean="0"/>
              <a:t>Sonuçlar</a:t>
            </a:r>
            <a:r>
              <a:rPr lang="tr-TR" dirty="0"/>
              <a:t>: </a:t>
            </a:r>
            <a:endParaRPr lang="tr-TR" dirty="0" smtClean="0"/>
          </a:p>
          <a:p>
            <a:pPr lvl="1"/>
            <a:r>
              <a:rPr lang="tr-TR" dirty="0" smtClean="0"/>
              <a:t>Çalışma </a:t>
            </a:r>
            <a:r>
              <a:rPr lang="tr-TR" dirty="0"/>
              <a:t>grubu geleneksel sentetik (</a:t>
            </a:r>
            <a:r>
              <a:rPr lang="tr-TR" dirty="0" err="1"/>
              <a:t>cs</a:t>
            </a:r>
            <a:r>
              <a:rPr lang="tr-TR" dirty="0"/>
              <a:t>) </a:t>
            </a:r>
            <a:r>
              <a:rPr lang="tr-TR" dirty="0" err="1"/>
              <a:t>DMARD’ları</a:t>
            </a:r>
            <a:r>
              <a:rPr lang="tr-TR" dirty="0"/>
              <a:t> (metotreksat (MTX), leflunomid, sülfasalazin); glukokortikoidleri (</a:t>
            </a:r>
            <a:r>
              <a:rPr lang="tr-TR" dirty="0" err="1"/>
              <a:t>GCs</a:t>
            </a:r>
            <a:r>
              <a:rPr lang="tr-TR" dirty="0"/>
              <a:t>); biyolojik (b) </a:t>
            </a:r>
            <a:r>
              <a:rPr lang="tr-TR" dirty="0" err="1"/>
              <a:t>DMARD’ları</a:t>
            </a:r>
            <a:r>
              <a:rPr lang="tr-TR" dirty="0"/>
              <a:t> ( TNF inhibitörleri (</a:t>
            </a:r>
            <a:r>
              <a:rPr lang="tr-TR" dirty="0" err="1"/>
              <a:t>adalimumab</a:t>
            </a:r>
            <a:r>
              <a:rPr lang="tr-TR" dirty="0"/>
              <a:t>, </a:t>
            </a:r>
            <a:r>
              <a:rPr lang="tr-TR" dirty="0" err="1"/>
              <a:t>certolizumabpegol</a:t>
            </a:r>
            <a:r>
              <a:rPr lang="tr-TR" dirty="0"/>
              <a:t>, </a:t>
            </a:r>
            <a:r>
              <a:rPr lang="tr-TR" dirty="0" err="1"/>
              <a:t>etanercept</a:t>
            </a:r>
            <a:r>
              <a:rPr lang="tr-TR" dirty="0"/>
              <a:t>, </a:t>
            </a:r>
            <a:r>
              <a:rPr lang="tr-TR" dirty="0" err="1"/>
              <a:t>golimumab</a:t>
            </a:r>
            <a:r>
              <a:rPr lang="tr-TR" dirty="0"/>
              <a:t>, </a:t>
            </a:r>
            <a:r>
              <a:rPr lang="tr-TR" dirty="0" err="1"/>
              <a:t>infliksimab</a:t>
            </a:r>
            <a:r>
              <a:rPr lang="tr-TR" dirty="0"/>
              <a:t>), </a:t>
            </a:r>
            <a:r>
              <a:rPr lang="tr-TR" dirty="0" err="1"/>
              <a:t>abatacept</a:t>
            </a:r>
            <a:r>
              <a:rPr lang="tr-TR" dirty="0"/>
              <a:t>, </a:t>
            </a:r>
            <a:r>
              <a:rPr lang="tr-TR" dirty="0" err="1"/>
              <a:t>rituksimab</a:t>
            </a:r>
            <a:r>
              <a:rPr lang="tr-TR" dirty="0"/>
              <a:t>, </a:t>
            </a:r>
            <a:r>
              <a:rPr lang="tr-TR" dirty="0" err="1"/>
              <a:t>tocilizumab</a:t>
            </a:r>
            <a:r>
              <a:rPr lang="tr-TR" dirty="0"/>
              <a:t>, </a:t>
            </a:r>
            <a:r>
              <a:rPr lang="tr-TR" dirty="0" err="1"/>
              <a:t>sarilumab</a:t>
            </a:r>
            <a:r>
              <a:rPr lang="tr-TR" dirty="0"/>
              <a:t> ve </a:t>
            </a:r>
            <a:r>
              <a:rPr lang="tr-TR" dirty="0" err="1"/>
              <a:t>biyoeşdeğer</a:t>
            </a:r>
            <a:r>
              <a:rPr lang="tr-TR" dirty="0"/>
              <a:t> (</a:t>
            </a:r>
            <a:r>
              <a:rPr lang="tr-TR" dirty="0" err="1"/>
              <a:t>bs</a:t>
            </a:r>
            <a:r>
              <a:rPr lang="tr-TR" dirty="0"/>
              <a:t>) </a:t>
            </a:r>
            <a:r>
              <a:rPr lang="tr-TR" dirty="0" err="1"/>
              <a:t>DMARD’lar</a:t>
            </a:r>
            <a:r>
              <a:rPr lang="tr-TR" dirty="0"/>
              <a:t>) ve hedefli sentetik (</a:t>
            </a:r>
            <a:r>
              <a:rPr lang="tr-TR" dirty="0" err="1"/>
              <a:t>ts</a:t>
            </a:r>
            <a:r>
              <a:rPr lang="tr-TR" dirty="0"/>
              <a:t>) </a:t>
            </a:r>
            <a:r>
              <a:rPr lang="tr-TR" dirty="0" err="1"/>
              <a:t>DMARD’ların</a:t>
            </a:r>
            <a:r>
              <a:rPr lang="tr-TR" dirty="0"/>
              <a:t> (</a:t>
            </a:r>
            <a:r>
              <a:rPr lang="tr-TR" dirty="0" err="1"/>
              <a:t>Januskinaz</a:t>
            </a:r>
            <a:r>
              <a:rPr lang="tr-TR" dirty="0"/>
              <a:t> (JAK) inhibitörleri </a:t>
            </a:r>
            <a:r>
              <a:rPr lang="tr-TR" dirty="0" err="1"/>
              <a:t>tofacitinib</a:t>
            </a:r>
            <a:r>
              <a:rPr lang="tr-TR" dirty="0"/>
              <a:t>, </a:t>
            </a:r>
            <a:r>
              <a:rPr lang="tr-TR" dirty="0" err="1"/>
              <a:t>baricitinib</a:t>
            </a:r>
            <a:r>
              <a:rPr lang="tr-TR" dirty="0"/>
              <a:t>, </a:t>
            </a:r>
            <a:r>
              <a:rPr lang="tr-TR" dirty="0" err="1"/>
              <a:t>filgotinib</a:t>
            </a:r>
            <a:r>
              <a:rPr lang="tr-TR" dirty="0"/>
              <a:t>, </a:t>
            </a:r>
            <a:r>
              <a:rPr lang="tr-TR" dirty="0" err="1"/>
              <a:t>upadacitinib</a:t>
            </a:r>
            <a:r>
              <a:rPr lang="tr-TR" dirty="0"/>
              <a:t>) kullanımı üzerine 5 kapsamlı prensip ve 12 maddelik öneri üzerine fikir birliğine varıldı. </a:t>
            </a:r>
          </a:p>
          <a:p>
            <a:endParaRPr lang="tr-TR" dirty="0"/>
          </a:p>
        </p:txBody>
      </p:sp>
    </p:spTree>
    <p:extLst>
      <p:ext uri="{BB962C8B-B14F-4D97-AF65-F5344CB8AC3E}">
        <p14:creationId xmlns:p14="http://schemas.microsoft.com/office/powerpoint/2010/main" val="185224501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a:t>Özet</a:t>
            </a:r>
          </a:p>
        </p:txBody>
      </p:sp>
      <p:sp>
        <p:nvSpPr>
          <p:cNvPr id="5" name="Metin Yer Tutucusu 4"/>
          <p:cNvSpPr>
            <a:spLocks noGrp="1"/>
          </p:cNvSpPr>
          <p:nvPr>
            <p:ph type="body" sz="quarter" idx="10"/>
          </p:nvPr>
        </p:nvSpPr>
        <p:spPr>
          <a:xfrm>
            <a:off x="381000" y="980728"/>
            <a:ext cx="8382000" cy="5452775"/>
          </a:xfrm>
        </p:spPr>
        <p:txBody>
          <a:bodyPr/>
          <a:lstStyle/>
          <a:p>
            <a:r>
              <a:rPr lang="tr-TR" dirty="0" smtClean="0"/>
              <a:t>Sonuçlar</a:t>
            </a:r>
            <a:r>
              <a:rPr lang="tr-TR" dirty="0"/>
              <a:t>: </a:t>
            </a:r>
            <a:endParaRPr lang="tr-TR" dirty="0" smtClean="0"/>
          </a:p>
          <a:p>
            <a:pPr lvl="1"/>
            <a:r>
              <a:rPr lang="tr-TR" dirty="0"/>
              <a:t>Monoterapi ve kombinasyon tedavileri ile remisyon sağlanması ve sürdürülmesi hedeflendi. </a:t>
            </a:r>
          </a:p>
          <a:p>
            <a:pPr lvl="1"/>
            <a:r>
              <a:rPr lang="tr-TR" dirty="0"/>
              <a:t>Başlangıçta maliyet ve sıralama açısından MTX ve glukokortikoidlerin kullanımı önerilirken, 3-6 aylık tedaviye yetersiz yanıt alınması ve risk faktörlerine göre biyolojik ve sentetik DMARD’lara yönelme tavsiye edildi. </a:t>
            </a:r>
          </a:p>
          <a:p>
            <a:pPr lvl="1"/>
            <a:r>
              <a:rPr lang="tr-TR" dirty="0"/>
              <a:t>Otoantikor varlığı, yüksek hastalık aktivitesi, ikili </a:t>
            </a:r>
            <a:r>
              <a:rPr lang="tr-TR" dirty="0" err="1"/>
              <a:t>csDMARD</a:t>
            </a:r>
            <a:r>
              <a:rPr lang="tr-TR" dirty="0"/>
              <a:t> kullanımına rağmen erozyonların erken başlaması gibi kötü prognostik faktörlerin varlığında bDMARD ve JAK inhibitörlerinin eklenmesi önerildi. Eğer bu tedavilerin birinden fayda görmezse aynı sınıftan başka bir ilaç kullanılması önerildi. </a:t>
            </a:r>
          </a:p>
        </p:txBody>
      </p:sp>
    </p:spTree>
    <p:extLst>
      <p:ext uri="{BB962C8B-B14F-4D97-AF65-F5344CB8AC3E}">
        <p14:creationId xmlns:p14="http://schemas.microsoft.com/office/powerpoint/2010/main" val="2707149651"/>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a:t>Özet</a:t>
            </a:r>
          </a:p>
        </p:txBody>
      </p:sp>
      <p:sp>
        <p:nvSpPr>
          <p:cNvPr id="5" name="Metin Yer Tutucusu 4"/>
          <p:cNvSpPr>
            <a:spLocks noGrp="1"/>
          </p:cNvSpPr>
          <p:nvPr>
            <p:ph type="body" sz="quarter" idx="10"/>
          </p:nvPr>
        </p:nvSpPr>
        <p:spPr>
          <a:xfrm>
            <a:off x="381000" y="980728"/>
            <a:ext cx="8382000" cy="3185487"/>
          </a:xfrm>
        </p:spPr>
        <p:txBody>
          <a:bodyPr/>
          <a:lstStyle/>
          <a:p>
            <a:r>
              <a:rPr lang="tr-TR" dirty="0" smtClean="0"/>
              <a:t>Sonuçlar</a:t>
            </a:r>
            <a:r>
              <a:rPr lang="tr-TR" dirty="0"/>
              <a:t>: </a:t>
            </a:r>
            <a:endParaRPr lang="tr-TR" dirty="0" smtClean="0"/>
          </a:p>
          <a:p>
            <a:pPr lvl="1"/>
            <a:r>
              <a:rPr lang="tr-TR" dirty="0" smtClean="0"/>
              <a:t>Remisyonun </a:t>
            </a:r>
            <a:r>
              <a:rPr lang="tr-TR" dirty="0"/>
              <a:t>devamı için </a:t>
            </a:r>
            <a:r>
              <a:rPr lang="tr-TR" dirty="0" err="1"/>
              <a:t>DMARD’ların</a:t>
            </a:r>
            <a:r>
              <a:rPr lang="tr-TR" dirty="0"/>
              <a:t> azaltılması fakat kesilmemesi önerildi. </a:t>
            </a:r>
          </a:p>
          <a:p>
            <a:pPr lvl="1"/>
            <a:r>
              <a:rPr lang="tr-TR" dirty="0"/>
              <a:t>Kanıt düzeyi ve fikir birliği üst seviyedeydi. </a:t>
            </a:r>
          </a:p>
          <a:p>
            <a:r>
              <a:rPr lang="tr-TR" dirty="0"/>
              <a:t>Sonuç: Güncellenen EULAR önerileri sayesinde RA tedavisinde fayda, güvenlik, üstünlük ve maliyet konularında fikir birliği sağlandı.</a:t>
            </a:r>
          </a:p>
        </p:txBody>
      </p:sp>
    </p:spTree>
    <p:extLst>
      <p:ext uri="{BB962C8B-B14F-4D97-AF65-F5344CB8AC3E}">
        <p14:creationId xmlns:p14="http://schemas.microsoft.com/office/powerpoint/2010/main" val="341585692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138698"/>
            <a:ext cx="8382000" cy="553998"/>
          </a:xfrm>
        </p:spPr>
        <p:txBody>
          <a:bodyPr/>
          <a:lstStyle/>
          <a:p>
            <a:r>
              <a:rPr lang="tr-TR" dirty="0" smtClean="0"/>
              <a:t>Giriş</a:t>
            </a:r>
            <a:endParaRPr lang="tr-TR" dirty="0"/>
          </a:p>
        </p:txBody>
      </p:sp>
      <p:sp>
        <p:nvSpPr>
          <p:cNvPr id="3" name="Metin Yer Tutucusu 2"/>
          <p:cNvSpPr>
            <a:spLocks noGrp="1"/>
          </p:cNvSpPr>
          <p:nvPr>
            <p:ph idx="1"/>
          </p:nvPr>
        </p:nvSpPr>
        <p:spPr>
          <a:xfrm>
            <a:off x="381000" y="826155"/>
            <a:ext cx="8382000" cy="5627181"/>
          </a:xfrm>
        </p:spPr>
        <p:txBody>
          <a:bodyPr/>
          <a:lstStyle/>
          <a:p>
            <a:r>
              <a:rPr lang="tr-TR" dirty="0"/>
              <a:t>EULAR ilk defa 2010 yılında RA tedavisinde sentetik ve biyolojik </a:t>
            </a:r>
            <a:r>
              <a:rPr lang="tr-TR" dirty="0" err="1"/>
              <a:t>DMARD’ların</a:t>
            </a:r>
            <a:r>
              <a:rPr lang="tr-TR" dirty="0"/>
              <a:t> kullanımı konusundaki önerilerini geliştirdi. </a:t>
            </a:r>
          </a:p>
          <a:p>
            <a:r>
              <a:rPr lang="tr-TR" dirty="0"/>
              <a:t>Son 10 yıl boyunca yeni ACR-EULAR remisyon tanımları, tedavi algoritma ve stratejilerinin değişimi ve yeni geliştirilen ilaçlar EULAR önerilerinin 2 defa güncellenmesini zorunlu kıldı.</a:t>
            </a:r>
          </a:p>
          <a:p>
            <a:r>
              <a:rPr lang="tr-TR" dirty="0"/>
              <a:t>Klinik remisyon, </a:t>
            </a:r>
            <a:r>
              <a:rPr lang="tr-TR" dirty="0" err="1"/>
              <a:t>RA’lı</a:t>
            </a:r>
            <a:r>
              <a:rPr lang="tr-TR" dirty="0"/>
              <a:t> hastalarda ana tedavi hedefi olarak kabul edilmektedir. </a:t>
            </a:r>
            <a:endParaRPr lang="tr-TR" dirty="0" smtClean="0"/>
          </a:p>
          <a:p>
            <a:r>
              <a:rPr lang="tr-TR" dirty="0" smtClean="0"/>
              <a:t>Tam </a:t>
            </a:r>
            <a:r>
              <a:rPr lang="tr-TR" dirty="0"/>
              <a:t>kür sağlanamadığından, düşük hastalık aktivitesi (LDA) en iyi muhtemel alternatiftir. </a:t>
            </a:r>
            <a:endParaRPr lang="tr-TR" dirty="0" smtClean="0"/>
          </a:p>
          <a:p>
            <a:r>
              <a:rPr lang="tr-TR" dirty="0" smtClean="0"/>
              <a:t>Hedefe </a:t>
            </a:r>
            <a:r>
              <a:rPr lang="tr-TR" dirty="0"/>
              <a:t>yönelik tedavi (T2T) stratejisi </a:t>
            </a:r>
            <a:r>
              <a:rPr lang="tr-TR" dirty="0" err="1"/>
              <a:t>RA’lı</a:t>
            </a:r>
            <a:r>
              <a:rPr lang="tr-TR" dirty="0"/>
              <a:t> hastalarda uygulanmalıdır</a:t>
            </a:r>
            <a:r>
              <a:rPr lang="tr-TR" dirty="0" smtClean="0"/>
              <a:t>.</a:t>
            </a:r>
            <a:endParaRPr lang="tr-TR" dirty="0"/>
          </a:p>
        </p:txBody>
      </p:sp>
    </p:spTree>
    <p:extLst>
      <p:ext uri="{BB962C8B-B14F-4D97-AF65-F5344CB8AC3E}">
        <p14:creationId xmlns:p14="http://schemas.microsoft.com/office/powerpoint/2010/main" val="338764521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Giriş</a:t>
            </a:r>
            <a:endParaRPr lang="tr-TR" dirty="0"/>
          </a:p>
        </p:txBody>
      </p:sp>
      <p:sp>
        <p:nvSpPr>
          <p:cNvPr id="3" name="Metin Yer Tutucusu 2"/>
          <p:cNvSpPr>
            <a:spLocks noGrp="1"/>
          </p:cNvSpPr>
          <p:nvPr>
            <p:ph idx="1"/>
          </p:nvPr>
        </p:nvSpPr>
        <p:spPr>
          <a:xfrm>
            <a:off x="381000" y="1411552"/>
            <a:ext cx="8382000" cy="3760004"/>
          </a:xfrm>
        </p:spPr>
        <p:txBody>
          <a:bodyPr/>
          <a:lstStyle/>
          <a:p>
            <a:r>
              <a:rPr lang="tr-TR" dirty="0" smtClean="0"/>
              <a:t>Son </a:t>
            </a:r>
            <a:r>
              <a:rPr lang="tr-TR" dirty="0"/>
              <a:t>güncellemeden bu yana 3 yıl geçmişti. </a:t>
            </a:r>
          </a:p>
          <a:p>
            <a:pPr lvl="1"/>
            <a:r>
              <a:rPr lang="tr-TR" dirty="0" smtClean="0"/>
              <a:t>Yeni lisans alan ilaçlar</a:t>
            </a:r>
          </a:p>
          <a:p>
            <a:pPr lvl="1"/>
            <a:r>
              <a:rPr lang="tr-TR" dirty="0" smtClean="0"/>
              <a:t>Onaylanan ilaçların uzun dönem etkinlik ve güvenirliği</a:t>
            </a:r>
          </a:p>
          <a:p>
            <a:pPr lvl="1"/>
            <a:r>
              <a:rPr lang="tr-TR" dirty="0" smtClean="0"/>
              <a:t>Etkinlik çalışmalarının karşılaştırılması</a:t>
            </a:r>
          </a:p>
          <a:p>
            <a:pPr lvl="1"/>
            <a:r>
              <a:rPr lang="tr-TR" dirty="0" smtClean="0"/>
              <a:t>Sağlık hedefleri ve tedavi stratejileri</a:t>
            </a:r>
          </a:p>
          <a:p>
            <a:pPr lvl="1"/>
            <a:r>
              <a:rPr lang="tr-TR" dirty="0" smtClean="0"/>
              <a:t>Güvenlik yönünden </a:t>
            </a:r>
            <a:r>
              <a:rPr lang="tr-TR" dirty="0"/>
              <a:t>ve maliyet açısından değerlendirme</a:t>
            </a:r>
          </a:p>
          <a:p>
            <a:pPr lvl="1"/>
            <a:r>
              <a:rPr lang="tr-TR" dirty="0" smtClean="0"/>
              <a:t>2016 </a:t>
            </a:r>
            <a:r>
              <a:rPr lang="tr-TR" dirty="0"/>
              <a:t>araştırma gündemine ait son birkaç yılda sonuçlandırılan spesifik maddelerin varlığı nedeniyle mevcut bilgileri değerlendirme zamanı gelmişti</a:t>
            </a:r>
            <a:r>
              <a:rPr lang="tr-TR" dirty="0" smtClean="0"/>
              <a:t>.</a:t>
            </a:r>
            <a:endParaRPr lang="tr-TR" dirty="0"/>
          </a:p>
        </p:txBody>
      </p:sp>
    </p:spTree>
    <p:extLst>
      <p:ext uri="{BB962C8B-B14F-4D97-AF65-F5344CB8AC3E}">
        <p14:creationId xmlns:p14="http://schemas.microsoft.com/office/powerpoint/2010/main" val="3247637566"/>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Giriş</a:t>
            </a:r>
            <a:endParaRPr lang="tr-TR" dirty="0"/>
          </a:p>
        </p:txBody>
      </p:sp>
      <p:sp>
        <p:nvSpPr>
          <p:cNvPr id="3" name="Metin Yer Tutucusu 2"/>
          <p:cNvSpPr>
            <a:spLocks noGrp="1"/>
          </p:cNvSpPr>
          <p:nvPr>
            <p:ph idx="1"/>
          </p:nvPr>
        </p:nvSpPr>
        <p:spPr>
          <a:xfrm>
            <a:off x="381000" y="1411552"/>
            <a:ext cx="8382000" cy="3441968"/>
          </a:xfrm>
        </p:spPr>
        <p:txBody>
          <a:bodyPr/>
          <a:lstStyle/>
          <a:p>
            <a:r>
              <a:rPr lang="tr-TR" dirty="0" smtClean="0"/>
              <a:t>EULAR </a:t>
            </a:r>
            <a:r>
              <a:rPr lang="tr-TR" dirty="0"/>
              <a:t>önerilerinin ana odağı devam eden DMARD tedavileri üzerinedir. “Hastalık modifikasyonu” tabiri, işaret ve bulguların sağaltımı, fiziksel fonksiyon, hayat kalitesi, sosyal ve iş kapasitesinin geliştirilmesi veya normalleşmesi, kıkırdak ve kemik doku hasarının önlenmesini kapsamaktadır.</a:t>
            </a:r>
          </a:p>
          <a:p>
            <a:r>
              <a:rPr lang="tr-TR" dirty="0" err="1"/>
              <a:t>Biyoeşdeğer</a:t>
            </a:r>
            <a:r>
              <a:rPr lang="tr-TR" dirty="0"/>
              <a:t> (</a:t>
            </a:r>
            <a:r>
              <a:rPr lang="tr-TR" dirty="0" err="1"/>
              <a:t>bs</a:t>
            </a:r>
            <a:r>
              <a:rPr lang="tr-TR" dirty="0"/>
              <a:t>) </a:t>
            </a:r>
            <a:r>
              <a:rPr lang="tr-TR" dirty="0" err="1"/>
              <a:t>DMARD’ların</a:t>
            </a:r>
            <a:r>
              <a:rPr lang="tr-TR" dirty="0"/>
              <a:t> geliştirilip onaylanması, biyolojik (b)</a:t>
            </a:r>
            <a:r>
              <a:rPr lang="tr-TR" dirty="0" err="1"/>
              <a:t>DMARD’ların</a:t>
            </a:r>
            <a:r>
              <a:rPr lang="tr-TR" dirty="0"/>
              <a:t> net maliyetlerinde azalma sağlamaktadır. </a:t>
            </a:r>
          </a:p>
        </p:txBody>
      </p:sp>
    </p:spTree>
    <p:extLst>
      <p:ext uri="{BB962C8B-B14F-4D97-AF65-F5344CB8AC3E}">
        <p14:creationId xmlns:p14="http://schemas.microsoft.com/office/powerpoint/2010/main" val="202823831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Metot</a:t>
            </a:r>
            <a:endParaRPr lang="tr-TR" dirty="0"/>
          </a:p>
        </p:txBody>
      </p:sp>
      <p:sp>
        <p:nvSpPr>
          <p:cNvPr id="3" name="Metin Yer Tutucusu 2"/>
          <p:cNvSpPr>
            <a:spLocks noGrp="1"/>
          </p:cNvSpPr>
          <p:nvPr>
            <p:ph type="body" sz="quarter" idx="10"/>
          </p:nvPr>
        </p:nvSpPr>
        <p:spPr>
          <a:xfrm>
            <a:off x="381000" y="1052736"/>
            <a:ext cx="8382000" cy="5227072"/>
          </a:xfrm>
        </p:spPr>
        <p:txBody>
          <a:bodyPr/>
          <a:lstStyle/>
          <a:p>
            <a:r>
              <a:rPr lang="tr-TR" dirty="0" smtClean="0"/>
              <a:t>Konsensüs Bulguları</a:t>
            </a:r>
          </a:p>
          <a:p>
            <a:pPr lvl="1"/>
            <a:r>
              <a:rPr lang="tr-TR" dirty="0" smtClean="0"/>
              <a:t>1. Önceki 2016 önerileri (4 genel ilke ve 12 öneri) anahtar hükmündeydi. Fakat değişim ve düzeltmeye uygundu.</a:t>
            </a:r>
          </a:p>
          <a:p>
            <a:pPr lvl="1"/>
            <a:r>
              <a:rPr lang="tr-TR" dirty="0" smtClean="0"/>
              <a:t>2. Var olan önerilerin yeni kanıtlarla tartışılması gerekiyordu.</a:t>
            </a:r>
          </a:p>
          <a:p>
            <a:pPr lvl="1"/>
            <a:r>
              <a:rPr lang="tr-TR" dirty="0" smtClean="0"/>
              <a:t>3. Avrupa’da onayı olmayan fakat dünyanın başka bir coğrafyasında kullanımı olan ya da faz 3 klinik çalışmaları devam eden ilaçların önerilerde değerlendirilmesi gerekiyordu.</a:t>
            </a:r>
          </a:p>
          <a:p>
            <a:pPr lvl="1"/>
            <a:r>
              <a:rPr lang="tr-TR" dirty="0" smtClean="0"/>
              <a:t>4. Kayıt verilerindeki endikasyonların güvenilirliğinin sorunlu olması nedeniyle etkinlik değerlendirilemiyordu.</a:t>
            </a:r>
            <a:endParaRPr lang="tr-TR" dirty="0"/>
          </a:p>
        </p:txBody>
      </p:sp>
    </p:spTree>
    <p:extLst>
      <p:ext uri="{BB962C8B-B14F-4D97-AF65-F5344CB8AC3E}">
        <p14:creationId xmlns:p14="http://schemas.microsoft.com/office/powerpoint/2010/main" val="2473699470"/>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Metot</a:t>
            </a:r>
            <a:endParaRPr lang="tr-TR" dirty="0"/>
          </a:p>
        </p:txBody>
      </p:sp>
      <p:sp>
        <p:nvSpPr>
          <p:cNvPr id="3" name="Metin Yer Tutucusu 2"/>
          <p:cNvSpPr>
            <a:spLocks noGrp="1"/>
          </p:cNvSpPr>
          <p:nvPr>
            <p:ph type="body" sz="quarter" idx="10"/>
          </p:nvPr>
        </p:nvSpPr>
        <p:spPr>
          <a:xfrm>
            <a:off x="381000" y="1411552"/>
            <a:ext cx="8382000" cy="4519186"/>
          </a:xfrm>
        </p:spPr>
        <p:txBody>
          <a:bodyPr/>
          <a:lstStyle/>
          <a:p>
            <a:r>
              <a:rPr lang="tr-TR" dirty="0" smtClean="0"/>
              <a:t>Konsensüs Bulguları</a:t>
            </a:r>
          </a:p>
          <a:p>
            <a:pPr lvl="1"/>
            <a:r>
              <a:rPr lang="tr-TR" dirty="0" smtClean="0"/>
              <a:t>Çalışma grubu 3 kola bölündü. İlk grup, tedavi stratejileri ve hedeflerinin yeni kanıtları ve genel ilkeleri inceledi. </a:t>
            </a:r>
          </a:p>
          <a:p>
            <a:pPr lvl="1"/>
            <a:r>
              <a:rPr lang="tr-TR" dirty="0" smtClean="0"/>
              <a:t>İkinci grup, bDMARD ve </a:t>
            </a:r>
            <a:r>
              <a:rPr lang="tr-TR" dirty="0" err="1" smtClean="0"/>
              <a:t>tsDMARD’ların</a:t>
            </a:r>
            <a:r>
              <a:rPr lang="tr-TR" dirty="0" smtClean="0"/>
              <a:t> yeni kanıtlarını taramayı hedefledi. </a:t>
            </a:r>
          </a:p>
          <a:p>
            <a:pPr lvl="1"/>
            <a:r>
              <a:rPr lang="tr-TR" dirty="0" smtClean="0"/>
              <a:t>Üçüncü grup, </a:t>
            </a:r>
            <a:r>
              <a:rPr lang="tr-TR" dirty="0" err="1" smtClean="0"/>
              <a:t>csDMARD</a:t>
            </a:r>
            <a:r>
              <a:rPr lang="tr-TR" dirty="0" smtClean="0"/>
              <a:t> (monoterapi ve kombinasyonları) ile glukokortikoid (GC) kullanımının yeni kanıtları ile uğraştı. </a:t>
            </a:r>
          </a:p>
          <a:p>
            <a:pPr lvl="1"/>
            <a:r>
              <a:rPr lang="tr-TR" dirty="0" smtClean="0"/>
              <a:t>Çalışma grubundan %75 in üzerinde oy alan yeni öneriler kabul edildi.</a:t>
            </a:r>
            <a:endParaRPr lang="tr-TR" dirty="0"/>
          </a:p>
        </p:txBody>
      </p:sp>
    </p:spTree>
    <p:extLst>
      <p:ext uri="{BB962C8B-B14F-4D97-AF65-F5344CB8AC3E}">
        <p14:creationId xmlns:p14="http://schemas.microsoft.com/office/powerpoint/2010/main" val="4000548090"/>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smtClean="0"/>
              <a:t>Sonuçlar</a:t>
            </a:r>
            <a:endParaRPr lang="tr-TR" dirty="0"/>
          </a:p>
        </p:txBody>
      </p:sp>
      <p:sp>
        <p:nvSpPr>
          <p:cNvPr id="5" name="Metin Yer Tutucusu 4"/>
          <p:cNvSpPr>
            <a:spLocks noGrp="1"/>
          </p:cNvSpPr>
          <p:nvPr>
            <p:ph idx="1"/>
          </p:nvPr>
        </p:nvSpPr>
        <p:spPr>
          <a:xfrm>
            <a:off x="381000" y="1411552"/>
            <a:ext cx="8382000" cy="4308872"/>
          </a:xfrm>
        </p:spPr>
        <p:txBody>
          <a:bodyPr/>
          <a:lstStyle/>
          <a:p>
            <a:r>
              <a:rPr lang="tr-TR" dirty="0" smtClean="0"/>
              <a:t>EULAR</a:t>
            </a:r>
            <a:r>
              <a:rPr lang="tr-TR" dirty="0"/>
              <a:t>, RA tedavisinde kullanılan ilaçların güvenliği hakkında bir dizi belge geliştirmiştir. </a:t>
            </a:r>
          </a:p>
          <a:p>
            <a:r>
              <a:rPr lang="tr-TR" dirty="0"/>
              <a:t>Sistematik literatür taramalarına göre bDMARD ve </a:t>
            </a:r>
            <a:r>
              <a:rPr lang="tr-TR" dirty="0" err="1"/>
              <a:t>tsDMARD’ların</a:t>
            </a:r>
            <a:r>
              <a:rPr lang="tr-TR" dirty="0"/>
              <a:t> güvenliğinde majör risk faktörü enfeksiyonlardır. </a:t>
            </a:r>
            <a:endParaRPr lang="tr-TR" dirty="0" smtClean="0"/>
          </a:p>
          <a:p>
            <a:r>
              <a:rPr lang="tr-TR" b="1" dirty="0"/>
              <a:t>Biyolojik DMARD kullanan </a:t>
            </a:r>
            <a:r>
              <a:rPr lang="tr-TR" b="1" dirty="0" smtClean="0"/>
              <a:t>hastalarda, </a:t>
            </a:r>
            <a:r>
              <a:rPr lang="tr-TR" b="1" dirty="0"/>
              <a:t>enfeksiyon riski yönüyle </a:t>
            </a:r>
            <a:r>
              <a:rPr lang="tr-TR" b="1" dirty="0" smtClean="0"/>
              <a:t>hesaplamaya imkan </a:t>
            </a:r>
            <a:r>
              <a:rPr lang="tr-TR" b="1" dirty="0"/>
              <a:t>tanıyan skorlama sistemi ile birlikte aşılama önerileri </a:t>
            </a:r>
            <a:r>
              <a:rPr lang="tr-TR" b="1" dirty="0" smtClean="0"/>
              <a:t>geliştirilmiştir.</a:t>
            </a:r>
          </a:p>
          <a:p>
            <a:r>
              <a:rPr lang="tr-TR" dirty="0" smtClean="0"/>
              <a:t>Çalışma </a:t>
            </a:r>
            <a:r>
              <a:rPr lang="tr-TR" dirty="0"/>
              <a:t>grubu, </a:t>
            </a:r>
            <a:r>
              <a:rPr lang="tr-TR" dirty="0" err="1"/>
              <a:t>DMARD’lar</a:t>
            </a:r>
            <a:r>
              <a:rPr lang="tr-TR" dirty="0"/>
              <a:t> sınıflandırılırken Tablo 1’de yer alan terimlere sadık kaldı. </a:t>
            </a:r>
          </a:p>
        </p:txBody>
      </p:sp>
    </p:spTree>
    <p:extLst>
      <p:ext uri="{BB962C8B-B14F-4D97-AF65-F5344CB8AC3E}">
        <p14:creationId xmlns:p14="http://schemas.microsoft.com/office/powerpoint/2010/main" val="2167371365"/>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smtClean="0"/>
              <a:t>Sonuçlar</a:t>
            </a:r>
            <a:endParaRPr lang="tr-TR" dirty="0"/>
          </a:p>
        </p:txBody>
      </p:sp>
      <p:sp>
        <p:nvSpPr>
          <p:cNvPr id="5" name="Metin Yer Tutucusu 4"/>
          <p:cNvSpPr>
            <a:spLocks noGrp="1"/>
          </p:cNvSpPr>
          <p:nvPr>
            <p:ph idx="1"/>
          </p:nvPr>
        </p:nvSpPr>
        <p:spPr>
          <a:xfrm>
            <a:off x="381000" y="1411552"/>
            <a:ext cx="8382000" cy="5016758"/>
          </a:xfrm>
        </p:spPr>
        <p:txBody>
          <a:bodyPr/>
          <a:lstStyle/>
          <a:p>
            <a:r>
              <a:rPr lang="tr-TR" dirty="0" smtClean="0"/>
              <a:t>Çalışma </a:t>
            </a:r>
            <a:r>
              <a:rPr lang="tr-TR" dirty="0"/>
              <a:t>grubu erken ve kesin tanılı RA arasında ayrım yapmadı. Fakat tedavi sürecini 3 faza ayırdı. Faz 1’de DMARD denenmemiş hastalar; Faz 2’de </a:t>
            </a:r>
            <a:r>
              <a:rPr lang="tr-TR" dirty="0" err="1"/>
              <a:t>csDMARD’lara</a:t>
            </a:r>
            <a:r>
              <a:rPr lang="tr-TR" dirty="0"/>
              <a:t> yetersiz yanıt veren hastalar; Faz 3’te ilk bDMARD veya tsDMARD kullanıma yetersiz yanıt veren hastalar değerlendirildi. </a:t>
            </a:r>
          </a:p>
          <a:p>
            <a:r>
              <a:rPr lang="tr-TR" dirty="0"/>
              <a:t>Çalışma grubu, erken artrit ve andiferansiye artritlerde hastalığın gidişatı hesap etmeye yarayan prognostik faktörlere Tablo 1’de yer verdi. </a:t>
            </a:r>
            <a:endParaRPr lang="tr-TR" dirty="0" smtClean="0"/>
          </a:p>
          <a:p>
            <a:r>
              <a:rPr lang="tr-TR" dirty="0" smtClean="0"/>
              <a:t>Fakat </a:t>
            </a:r>
            <a:r>
              <a:rPr lang="tr-TR" dirty="0"/>
              <a:t>öneriler </a:t>
            </a:r>
            <a:r>
              <a:rPr lang="tr-TR" dirty="0" err="1"/>
              <a:t>RA’ya</a:t>
            </a:r>
            <a:r>
              <a:rPr lang="tr-TR" dirty="0"/>
              <a:t> dönüşme riski olan andiferansiye artrit ve </a:t>
            </a:r>
            <a:r>
              <a:rPr lang="tr-TR" dirty="0" smtClean="0"/>
              <a:t>artraljileri </a:t>
            </a:r>
            <a:r>
              <a:rPr lang="tr-TR" dirty="0"/>
              <a:t>kapsamamakla birlikte, sadece hastanın RA tanısı aldığı andan itibaren dikkate sunuluyordu.</a:t>
            </a:r>
          </a:p>
          <a:p>
            <a:endParaRPr lang="tr-TR" dirty="0"/>
          </a:p>
        </p:txBody>
      </p:sp>
    </p:spTree>
    <p:extLst>
      <p:ext uri="{BB962C8B-B14F-4D97-AF65-F5344CB8AC3E}">
        <p14:creationId xmlns:p14="http://schemas.microsoft.com/office/powerpoint/2010/main" val="199070834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smtClean="0"/>
              <a:t>Ek Bilgi</a:t>
            </a:r>
            <a:endParaRPr lang="tr-TR" dirty="0"/>
          </a:p>
        </p:txBody>
      </p:sp>
      <p:sp>
        <p:nvSpPr>
          <p:cNvPr id="3" name="Metin kutusu 2"/>
          <p:cNvSpPr txBox="1"/>
          <p:nvPr/>
        </p:nvSpPr>
        <p:spPr>
          <a:xfrm>
            <a:off x="3325826" y="4402067"/>
            <a:ext cx="2597543" cy="369332"/>
          </a:xfrm>
          <a:prstGeom prst="rect">
            <a:avLst/>
          </a:prstGeom>
          <a:noFill/>
        </p:spPr>
        <p:txBody>
          <a:bodyPr wrap="square" rtlCol="0">
            <a:spAutoFit/>
          </a:bodyPr>
          <a:lstStyle/>
          <a:p>
            <a:pPr algn="ctr"/>
            <a:r>
              <a:rPr lang="tr-TR" b="1" i="1" dirty="0" smtClean="0">
                <a:effectLst>
                  <a:outerShdw blurRad="38100" dist="38100" dir="2700000" algn="tl">
                    <a:srgbClr val="000000">
                      <a:alpha val="43137"/>
                    </a:srgbClr>
                  </a:outerShdw>
                </a:effectLst>
              </a:rPr>
              <a:t>DMARD SINIFLAMASI</a:t>
            </a:r>
            <a:endParaRPr lang="tr-TR"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5197328"/>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DMARD’lar</a:t>
            </a:r>
            <a:r>
              <a:rPr lang="tr-TR" dirty="0" smtClean="0"/>
              <a:t> </a:t>
            </a:r>
            <a:r>
              <a:rPr lang="tr-TR" dirty="0"/>
              <a:t>iki sınıfa ayrılır</a:t>
            </a:r>
            <a:r>
              <a:rPr lang="tr-TR" dirty="0" smtClean="0"/>
              <a:t>;</a:t>
            </a:r>
            <a:endParaRPr lang="tr-TR" dirty="0"/>
          </a:p>
        </p:txBody>
      </p:sp>
      <p:sp>
        <p:nvSpPr>
          <p:cNvPr id="3" name="Metin Yer Tutucusu 2"/>
          <p:cNvSpPr>
            <a:spLocks noGrp="1"/>
          </p:cNvSpPr>
          <p:nvPr>
            <p:ph type="body" sz="quarter" idx="10"/>
          </p:nvPr>
        </p:nvSpPr>
        <p:spPr>
          <a:xfrm>
            <a:off x="381000" y="1411552"/>
            <a:ext cx="8382000" cy="4855688"/>
          </a:xfrm>
        </p:spPr>
        <p:txBody>
          <a:bodyPr/>
          <a:lstStyle/>
          <a:p>
            <a:r>
              <a:rPr lang="tr-TR" dirty="0" smtClean="0"/>
              <a:t>1</a:t>
            </a:r>
            <a:r>
              <a:rPr lang="tr-TR" dirty="0"/>
              <a:t>.	Sentetik kimyasal bileşenler (</a:t>
            </a:r>
            <a:r>
              <a:rPr lang="tr-TR" dirty="0" err="1"/>
              <a:t>sDMARDs</a:t>
            </a:r>
            <a:r>
              <a:rPr lang="tr-TR" dirty="0"/>
              <a:t>)</a:t>
            </a:r>
          </a:p>
          <a:p>
            <a:pPr lvl="1"/>
            <a:r>
              <a:rPr lang="tr-TR" dirty="0" err="1" smtClean="0"/>
              <a:t>KonvensiyonelsDMARDs</a:t>
            </a:r>
            <a:r>
              <a:rPr lang="tr-TR" dirty="0" smtClean="0"/>
              <a:t> </a:t>
            </a:r>
            <a:r>
              <a:rPr lang="tr-TR" dirty="0"/>
              <a:t>(</a:t>
            </a:r>
            <a:r>
              <a:rPr lang="tr-TR" dirty="0" err="1"/>
              <a:t>csDMARDs</a:t>
            </a:r>
            <a:r>
              <a:rPr lang="tr-TR" dirty="0"/>
              <a:t>)</a:t>
            </a:r>
          </a:p>
          <a:p>
            <a:pPr lvl="2"/>
            <a:r>
              <a:rPr lang="tr-TR" dirty="0" smtClean="0"/>
              <a:t>Metotreksat </a:t>
            </a:r>
            <a:r>
              <a:rPr lang="tr-TR" dirty="0"/>
              <a:t>(MTX)</a:t>
            </a:r>
          </a:p>
          <a:p>
            <a:pPr lvl="2"/>
            <a:r>
              <a:rPr lang="tr-TR" dirty="0" smtClean="0"/>
              <a:t>Sülfasalazin</a:t>
            </a:r>
            <a:endParaRPr lang="tr-TR" dirty="0"/>
          </a:p>
          <a:p>
            <a:pPr lvl="2"/>
            <a:r>
              <a:rPr lang="tr-TR" dirty="0" smtClean="0"/>
              <a:t>Leflunomid</a:t>
            </a:r>
            <a:endParaRPr lang="tr-TR" dirty="0"/>
          </a:p>
          <a:p>
            <a:pPr lvl="1"/>
            <a:r>
              <a:rPr lang="tr-TR" dirty="0" smtClean="0"/>
              <a:t>Hedefli </a:t>
            </a:r>
            <a:r>
              <a:rPr lang="tr-TR" dirty="0"/>
              <a:t>sentetik </a:t>
            </a:r>
            <a:r>
              <a:rPr lang="tr-TR" dirty="0" err="1"/>
              <a:t>DMARDs</a:t>
            </a:r>
            <a:r>
              <a:rPr lang="tr-TR" dirty="0"/>
              <a:t> (tsDMARD) (</a:t>
            </a:r>
            <a:r>
              <a:rPr lang="tr-TR" dirty="0" err="1"/>
              <a:t>JAKs</a:t>
            </a:r>
            <a:r>
              <a:rPr lang="tr-TR" dirty="0"/>
              <a:t> –</a:t>
            </a:r>
            <a:r>
              <a:rPr lang="tr-TR" dirty="0" err="1"/>
              <a:t>januskinazinh</a:t>
            </a:r>
            <a:r>
              <a:rPr lang="tr-TR" dirty="0"/>
              <a:t>.)</a:t>
            </a:r>
          </a:p>
          <a:p>
            <a:pPr lvl="2"/>
            <a:r>
              <a:rPr lang="tr-TR" dirty="0" err="1" smtClean="0"/>
              <a:t>Tofacitinib</a:t>
            </a:r>
            <a:endParaRPr lang="tr-TR" dirty="0"/>
          </a:p>
          <a:p>
            <a:pPr lvl="2"/>
            <a:r>
              <a:rPr lang="tr-TR" dirty="0" err="1" smtClean="0"/>
              <a:t>Baricitinib</a:t>
            </a:r>
            <a:endParaRPr lang="tr-TR" dirty="0"/>
          </a:p>
          <a:p>
            <a:pPr lvl="2"/>
            <a:r>
              <a:rPr lang="tr-TR" dirty="0" err="1" smtClean="0"/>
              <a:t>Pericitinib</a:t>
            </a:r>
            <a:r>
              <a:rPr lang="tr-TR" dirty="0" smtClean="0"/>
              <a:t> </a:t>
            </a:r>
            <a:endParaRPr lang="tr-TR" dirty="0"/>
          </a:p>
          <a:p>
            <a:pPr lvl="2"/>
            <a:r>
              <a:rPr lang="tr-TR" dirty="0" err="1" smtClean="0"/>
              <a:t>Upadacitinib</a:t>
            </a:r>
            <a:endParaRPr lang="tr-TR" dirty="0"/>
          </a:p>
          <a:p>
            <a:pPr lvl="2"/>
            <a:r>
              <a:rPr lang="tr-TR" dirty="0" err="1" smtClean="0"/>
              <a:t>Filgotinib</a:t>
            </a:r>
            <a:endParaRPr lang="tr-TR" dirty="0"/>
          </a:p>
        </p:txBody>
      </p:sp>
    </p:spTree>
    <p:extLst>
      <p:ext uri="{BB962C8B-B14F-4D97-AF65-F5344CB8AC3E}">
        <p14:creationId xmlns:p14="http://schemas.microsoft.com/office/powerpoint/2010/main" val="4227659962"/>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DMARD’lar</a:t>
            </a:r>
            <a:r>
              <a:rPr lang="tr-TR" dirty="0" smtClean="0"/>
              <a:t> </a:t>
            </a:r>
            <a:r>
              <a:rPr lang="tr-TR" dirty="0"/>
              <a:t>iki sınıfa ayrılır</a:t>
            </a:r>
            <a:r>
              <a:rPr lang="tr-TR" dirty="0" smtClean="0"/>
              <a:t>;</a:t>
            </a:r>
            <a:endParaRPr lang="tr-TR" dirty="0"/>
          </a:p>
        </p:txBody>
      </p:sp>
      <p:sp>
        <p:nvSpPr>
          <p:cNvPr id="3" name="Metin Yer Tutucusu 2"/>
          <p:cNvSpPr>
            <a:spLocks noGrp="1"/>
          </p:cNvSpPr>
          <p:nvPr>
            <p:ph type="body" sz="quarter" idx="10"/>
          </p:nvPr>
        </p:nvSpPr>
        <p:spPr/>
        <p:txBody>
          <a:bodyPr/>
          <a:lstStyle/>
          <a:p>
            <a:r>
              <a:rPr lang="tr-TR" dirty="0" smtClean="0"/>
              <a:t>2</a:t>
            </a:r>
            <a:r>
              <a:rPr lang="tr-TR" dirty="0"/>
              <a:t>.	Biyolojik ajanlar (</a:t>
            </a:r>
            <a:r>
              <a:rPr lang="tr-TR" dirty="0" err="1"/>
              <a:t>bDMARDs</a:t>
            </a:r>
            <a:r>
              <a:rPr lang="tr-TR" dirty="0"/>
              <a:t>)</a:t>
            </a:r>
          </a:p>
          <a:p>
            <a:pPr lvl="1"/>
            <a:r>
              <a:rPr lang="tr-TR" dirty="0" smtClean="0"/>
              <a:t>Tümör </a:t>
            </a:r>
            <a:r>
              <a:rPr lang="tr-TR" dirty="0" err="1"/>
              <a:t>nekrosiz</a:t>
            </a:r>
            <a:r>
              <a:rPr lang="tr-TR" dirty="0"/>
              <a:t> faktör inhibitörleri (TNF </a:t>
            </a:r>
            <a:r>
              <a:rPr lang="tr-TR" dirty="0" err="1"/>
              <a:t>inh</a:t>
            </a:r>
            <a:r>
              <a:rPr lang="tr-TR" dirty="0"/>
              <a:t>.)</a:t>
            </a:r>
          </a:p>
          <a:p>
            <a:pPr lvl="2"/>
            <a:r>
              <a:rPr lang="tr-TR" dirty="0" smtClean="0"/>
              <a:t>Adalimumab</a:t>
            </a:r>
            <a:endParaRPr lang="tr-TR" dirty="0"/>
          </a:p>
          <a:p>
            <a:pPr lvl="2"/>
            <a:r>
              <a:rPr lang="tr-TR" dirty="0" smtClean="0"/>
              <a:t>Certolizumab </a:t>
            </a:r>
            <a:r>
              <a:rPr lang="tr-TR" dirty="0" err="1"/>
              <a:t>pegol</a:t>
            </a:r>
            <a:endParaRPr lang="tr-TR" dirty="0"/>
          </a:p>
          <a:p>
            <a:pPr lvl="2"/>
            <a:r>
              <a:rPr lang="tr-TR" dirty="0" err="1" smtClean="0"/>
              <a:t>Etanercept</a:t>
            </a:r>
            <a:endParaRPr lang="tr-TR" dirty="0"/>
          </a:p>
          <a:p>
            <a:pPr lvl="2"/>
            <a:r>
              <a:rPr lang="tr-TR" dirty="0" smtClean="0"/>
              <a:t>Golimumab</a:t>
            </a:r>
            <a:endParaRPr lang="tr-TR" dirty="0"/>
          </a:p>
          <a:p>
            <a:pPr lvl="2"/>
            <a:r>
              <a:rPr lang="tr-TR" dirty="0" smtClean="0"/>
              <a:t>İnfliksimab</a:t>
            </a:r>
            <a:endParaRPr lang="tr-TR" dirty="0"/>
          </a:p>
        </p:txBody>
      </p:sp>
    </p:spTree>
    <p:extLst>
      <p:ext uri="{BB962C8B-B14F-4D97-AF65-F5344CB8AC3E}">
        <p14:creationId xmlns:p14="http://schemas.microsoft.com/office/powerpoint/2010/main" val="474169461"/>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DMARD’lar</a:t>
            </a:r>
            <a:r>
              <a:rPr lang="tr-TR" dirty="0" smtClean="0"/>
              <a:t> </a:t>
            </a:r>
            <a:r>
              <a:rPr lang="tr-TR" dirty="0"/>
              <a:t>iki sınıfa ayrılır</a:t>
            </a:r>
            <a:r>
              <a:rPr lang="tr-TR" dirty="0" smtClean="0"/>
              <a:t>;</a:t>
            </a:r>
            <a:endParaRPr lang="tr-TR" dirty="0"/>
          </a:p>
        </p:txBody>
      </p:sp>
      <p:sp>
        <p:nvSpPr>
          <p:cNvPr id="3" name="Metin Yer Tutucusu 2"/>
          <p:cNvSpPr>
            <a:spLocks noGrp="1"/>
          </p:cNvSpPr>
          <p:nvPr>
            <p:ph type="body" sz="quarter" idx="10"/>
          </p:nvPr>
        </p:nvSpPr>
        <p:spPr>
          <a:xfrm>
            <a:off x="381000" y="1411552"/>
            <a:ext cx="8382000" cy="4324261"/>
          </a:xfrm>
        </p:spPr>
        <p:txBody>
          <a:bodyPr/>
          <a:lstStyle/>
          <a:p>
            <a:r>
              <a:rPr lang="tr-TR" dirty="0" smtClean="0"/>
              <a:t>2</a:t>
            </a:r>
            <a:r>
              <a:rPr lang="tr-TR" dirty="0"/>
              <a:t>.	Biyolojik ajanlar (</a:t>
            </a:r>
            <a:r>
              <a:rPr lang="tr-TR" dirty="0" err="1"/>
              <a:t>bDMARDs</a:t>
            </a:r>
            <a:r>
              <a:rPr lang="tr-TR" dirty="0"/>
              <a:t>)</a:t>
            </a:r>
          </a:p>
          <a:p>
            <a:pPr lvl="1"/>
            <a:r>
              <a:rPr lang="tr-TR" dirty="0" smtClean="0"/>
              <a:t>T </a:t>
            </a:r>
            <a:r>
              <a:rPr lang="tr-TR" dirty="0"/>
              <a:t>hücre </a:t>
            </a:r>
            <a:r>
              <a:rPr lang="tr-TR" dirty="0" err="1" smtClean="0"/>
              <a:t>ko</a:t>
            </a:r>
            <a:r>
              <a:rPr lang="tr-TR" dirty="0" smtClean="0"/>
              <a:t>-stimülasyon </a:t>
            </a:r>
            <a:r>
              <a:rPr lang="tr-TR" dirty="0"/>
              <a:t>inhibitörü </a:t>
            </a:r>
          </a:p>
          <a:p>
            <a:pPr lvl="2"/>
            <a:r>
              <a:rPr lang="tr-TR" dirty="0" err="1" smtClean="0"/>
              <a:t>Abatacept</a:t>
            </a:r>
            <a:endParaRPr lang="tr-TR" dirty="0" smtClean="0"/>
          </a:p>
          <a:p>
            <a:pPr lvl="1"/>
            <a:r>
              <a:rPr lang="tr-TR" dirty="0" smtClean="0"/>
              <a:t>Anti B hücresi ajanı</a:t>
            </a:r>
          </a:p>
          <a:p>
            <a:pPr lvl="2"/>
            <a:r>
              <a:rPr lang="tr-TR" dirty="0" err="1" smtClean="0"/>
              <a:t>Rituximab</a:t>
            </a:r>
            <a:endParaRPr lang="tr-TR" dirty="0"/>
          </a:p>
          <a:p>
            <a:pPr lvl="1"/>
            <a:r>
              <a:rPr lang="tr-TR" dirty="0" smtClean="0"/>
              <a:t>İL-6 </a:t>
            </a:r>
            <a:r>
              <a:rPr lang="tr-TR" dirty="0"/>
              <a:t>reseptör </a:t>
            </a:r>
            <a:r>
              <a:rPr lang="tr-TR" dirty="0" err="1"/>
              <a:t>blokorü</a:t>
            </a:r>
            <a:endParaRPr lang="tr-TR" dirty="0"/>
          </a:p>
          <a:p>
            <a:pPr lvl="2"/>
            <a:r>
              <a:rPr lang="tr-TR" dirty="0" err="1" smtClean="0"/>
              <a:t>Tocilizumab</a:t>
            </a:r>
            <a:endParaRPr lang="tr-TR" dirty="0"/>
          </a:p>
          <a:p>
            <a:pPr lvl="2"/>
            <a:r>
              <a:rPr lang="tr-TR" dirty="0" err="1" smtClean="0"/>
              <a:t>Sarilumab</a:t>
            </a:r>
            <a:endParaRPr lang="tr-TR" dirty="0"/>
          </a:p>
          <a:p>
            <a:pPr lvl="1"/>
            <a:r>
              <a:rPr lang="tr-TR" dirty="0" smtClean="0"/>
              <a:t>İL-1 </a:t>
            </a:r>
            <a:r>
              <a:rPr lang="tr-TR" dirty="0"/>
              <a:t>inhibitörü</a:t>
            </a:r>
          </a:p>
          <a:p>
            <a:pPr lvl="2"/>
            <a:r>
              <a:rPr lang="tr-TR" dirty="0" smtClean="0"/>
              <a:t>Anakinra </a:t>
            </a:r>
            <a:endParaRPr lang="tr-TR" dirty="0"/>
          </a:p>
        </p:txBody>
      </p:sp>
    </p:spTree>
    <p:extLst>
      <p:ext uri="{BB962C8B-B14F-4D97-AF65-F5344CB8AC3E}">
        <p14:creationId xmlns:p14="http://schemas.microsoft.com/office/powerpoint/2010/main" val="3428407784"/>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type="body" sz="quarter" idx="10"/>
          </p:nvPr>
        </p:nvSpPr>
        <p:spPr/>
        <p:txBody>
          <a:bodyPr/>
          <a:lstStyle/>
          <a:p>
            <a:endParaRPr lang="tr-TR"/>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378"/>
            <a:ext cx="8783210" cy="6859378"/>
          </a:xfrm>
          <a:prstGeom prst="rect">
            <a:avLst/>
          </a:prstGeom>
        </p:spPr>
      </p:pic>
    </p:spTree>
    <p:extLst>
      <p:ext uri="{BB962C8B-B14F-4D97-AF65-F5344CB8AC3E}">
        <p14:creationId xmlns:p14="http://schemas.microsoft.com/office/powerpoint/2010/main" val="3101011826"/>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type="body" sz="quarter" idx="10"/>
          </p:nvPr>
        </p:nvSpPr>
        <p:spPr/>
        <p:txBody>
          <a:bodyPr/>
          <a:lstStyle/>
          <a:p>
            <a:endParaRPr lang="tr-TR"/>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886" y="548680"/>
            <a:ext cx="8457964" cy="5400600"/>
          </a:xfrm>
          <a:prstGeom prst="rect">
            <a:avLst/>
          </a:prstGeom>
        </p:spPr>
      </p:pic>
    </p:spTree>
    <p:extLst>
      <p:ext uri="{BB962C8B-B14F-4D97-AF65-F5344CB8AC3E}">
        <p14:creationId xmlns:p14="http://schemas.microsoft.com/office/powerpoint/2010/main" val="1478257200"/>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type="body" sz="quarter" idx="10"/>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620688"/>
            <a:ext cx="8790482" cy="5688632"/>
          </a:xfrm>
          <a:prstGeom prst="rect">
            <a:avLst/>
          </a:prstGeom>
        </p:spPr>
      </p:pic>
    </p:spTree>
    <p:extLst>
      <p:ext uri="{BB962C8B-B14F-4D97-AF65-F5344CB8AC3E}">
        <p14:creationId xmlns:p14="http://schemas.microsoft.com/office/powerpoint/2010/main" val="759936501"/>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type="body" sz="quarter" idx="10"/>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4388"/>
            <a:ext cx="9144000" cy="4249223"/>
          </a:xfrm>
          <a:prstGeom prst="rect">
            <a:avLst/>
          </a:prstGeom>
        </p:spPr>
      </p:pic>
    </p:spTree>
    <p:extLst>
      <p:ext uri="{BB962C8B-B14F-4D97-AF65-F5344CB8AC3E}">
        <p14:creationId xmlns:p14="http://schemas.microsoft.com/office/powerpoint/2010/main" val="1173197319"/>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type="body" sz="quarter" idx="10"/>
          </p:nvPr>
        </p:nvSpPr>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35206"/>
            <a:ext cx="9144000" cy="3387587"/>
          </a:xfrm>
          <a:prstGeom prst="rect">
            <a:avLst/>
          </a:prstGeom>
        </p:spPr>
      </p:pic>
    </p:spTree>
    <p:extLst>
      <p:ext uri="{BB962C8B-B14F-4D97-AF65-F5344CB8AC3E}">
        <p14:creationId xmlns:p14="http://schemas.microsoft.com/office/powerpoint/2010/main" val="3093372880"/>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4" name="Metin Yer Tutucusu 3"/>
          <p:cNvSpPr>
            <a:spLocks noGrp="1"/>
          </p:cNvSpPr>
          <p:nvPr>
            <p:ph type="body" sz="quarter" idx="10"/>
          </p:nvPr>
        </p:nvSpPr>
        <p:spPr>
          <a:xfrm>
            <a:off x="381000" y="1411552"/>
            <a:ext cx="8382000" cy="3883114"/>
          </a:xfrm>
        </p:spPr>
        <p:txBody>
          <a:bodyPr/>
          <a:lstStyle/>
          <a:p>
            <a:pPr lvl="1"/>
            <a:r>
              <a:rPr lang="tr-TR" dirty="0"/>
              <a:t>2013 yılına kadar 3 genel ilke vardı. 2016 güncellemesinde 4. ilke eklendi. Bu güncellemede 5. ilkenin D maddesi olarak eklenme gereği duyuldu.</a:t>
            </a:r>
          </a:p>
          <a:p>
            <a:r>
              <a:rPr lang="tr-TR" dirty="0"/>
              <a:t>A) </a:t>
            </a:r>
            <a:endParaRPr lang="tr-TR" dirty="0" smtClean="0"/>
          </a:p>
          <a:p>
            <a:pPr lvl="1"/>
            <a:r>
              <a:rPr lang="tr-TR" i="1" dirty="0" smtClean="0">
                <a:solidFill>
                  <a:srgbClr val="FF0000"/>
                </a:solidFill>
              </a:rPr>
              <a:t>RA </a:t>
            </a:r>
            <a:r>
              <a:rPr lang="tr-TR" i="1" dirty="0">
                <a:solidFill>
                  <a:srgbClr val="FF0000"/>
                </a:solidFill>
              </a:rPr>
              <a:t>hastalarında en uygun tedavi planlanmalıdır ve bu tedavi hasta-hekim arasında verilen ortak bir karara dayalı olmalıdır.</a:t>
            </a:r>
          </a:p>
          <a:p>
            <a:pPr lvl="1"/>
            <a:r>
              <a:rPr lang="tr-TR" dirty="0"/>
              <a:t>Hasta eğitimi tedaviye bağlı kalmayı arttırır. </a:t>
            </a:r>
            <a:r>
              <a:rPr lang="tr-TR" dirty="0" err="1"/>
              <a:t>Romatoloğun</a:t>
            </a:r>
            <a:r>
              <a:rPr lang="tr-TR" dirty="0"/>
              <a:t> eğitimi ise uygun değerlendirme stratejilerine teşvik eder</a:t>
            </a:r>
            <a:r>
              <a:rPr lang="tr-TR" dirty="0" smtClean="0"/>
              <a:t>.</a:t>
            </a:r>
            <a:endParaRPr lang="tr-TR" dirty="0"/>
          </a:p>
        </p:txBody>
      </p:sp>
    </p:spTree>
    <p:extLst>
      <p:ext uri="{BB962C8B-B14F-4D97-AF65-F5344CB8AC3E}">
        <p14:creationId xmlns:p14="http://schemas.microsoft.com/office/powerpoint/2010/main" val="795968920"/>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4" name="Metin Yer Tutucusu 3"/>
          <p:cNvSpPr>
            <a:spLocks noGrp="1"/>
          </p:cNvSpPr>
          <p:nvPr>
            <p:ph type="body" sz="quarter" idx="10"/>
          </p:nvPr>
        </p:nvSpPr>
        <p:spPr>
          <a:xfrm>
            <a:off x="381000" y="1411552"/>
            <a:ext cx="8382000" cy="3436838"/>
          </a:xfrm>
        </p:spPr>
        <p:txBody>
          <a:bodyPr/>
          <a:lstStyle/>
          <a:p>
            <a:r>
              <a:rPr lang="tr-TR" dirty="0" smtClean="0"/>
              <a:t>B</a:t>
            </a:r>
            <a:r>
              <a:rPr lang="tr-TR" dirty="0"/>
              <a:t>) </a:t>
            </a:r>
            <a:endParaRPr lang="tr-TR" dirty="0" smtClean="0"/>
          </a:p>
          <a:p>
            <a:pPr lvl="1"/>
            <a:r>
              <a:rPr lang="tr-TR" i="1" dirty="0" smtClean="0">
                <a:solidFill>
                  <a:srgbClr val="FF0000"/>
                </a:solidFill>
              </a:rPr>
              <a:t>Tedavi </a:t>
            </a:r>
            <a:r>
              <a:rPr lang="tr-TR" i="1" dirty="0">
                <a:solidFill>
                  <a:srgbClr val="FF0000"/>
                </a:solidFill>
              </a:rPr>
              <a:t>kararları hastalık aktivitesi, güvenlik sorunları ve komorbiditeler ile doku hasarı artışı gibi hastaya ait etkenlere dayanılarak verilir. </a:t>
            </a:r>
          </a:p>
          <a:p>
            <a:pPr lvl="1"/>
            <a:r>
              <a:rPr lang="tr-TR" dirty="0"/>
              <a:t>Japonya ve Güney Kore’de JAK-</a:t>
            </a:r>
            <a:r>
              <a:rPr lang="tr-TR" dirty="0" err="1"/>
              <a:t>inhbitörlerine</a:t>
            </a:r>
            <a:r>
              <a:rPr lang="tr-TR" dirty="0"/>
              <a:t> bağlı görülen herpes zoster enfeksiyonu riski artışı bu ilkeye örnektir. </a:t>
            </a:r>
            <a:endParaRPr lang="tr-TR" dirty="0" smtClean="0"/>
          </a:p>
          <a:p>
            <a:pPr lvl="1"/>
            <a:r>
              <a:rPr lang="tr-TR" dirty="0" smtClean="0"/>
              <a:t>Obezite </a:t>
            </a:r>
            <a:r>
              <a:rPr lang="tr-TR" dirty="0"/>
              <a:t>ve </a:t>
            </a:r>
            <a:r>
              <a:rPr lang="tr-TR" dirty="0" err="1"/>
              <a:t>trombofili</a:t>
            </a:r>
            <a:r>
              <a:rPr lang="tr-TR" dirty="0"/>
              <a:t> öyküsü ile artmış venöz tromboemboli riski de burada değerlendirilebilir</a:t>
            </a:r>
            <a:r>
              <a:rPr lang="tr-TR" dirty="0" smtClean="0"/>
              <a:t>.</a:t>
            </a:r>
            <a:endParaRPr lang="tr-TR" dirty="0"/>
          </a:p>
        </p:txBody>
      </p:sp>
    </p:spTree>
    <p:extLst>
      <p:ext uri="{BB962C8B-B14F-4D97-AF65-F5344CB8AC3E}">
        <p14:creationId xmlns:p14="http://schemas.microsoft.com/office/powerpoint/2010/main" val="3960201995"/>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4" name="Metin Yer Tutucusu 3"/>
          <p:cNvSpPr>
            <a:spLocks noGrp="1"/>
          </p:cNvSpPr>
          <p:nvPr>
            <p:ph type="body" sz="quarter" idx="10"/>
          </p:nvPr>
        </p:nvSpPr>
        <p:spPr>
          <a:xfrm>
            <a:off x="381000" y="1411552"/>
            <a:ext cx="8382000" cy="3436838"/>
          </a:xfrm>
        </p:spPr>
        <p:txBody>
          <a:bodyPr/>
          <a:lstStyle/>
          <a:p>
            <a:r>
              <a:rPr lang="tr-TR" dirty="0" smtClean="0"/>
              <a:t>C</a:t>
            </a:r>
            <a:r>
              <a:rPr lang="tr-TR" dirty="0"/>
              <a:t>) </a:t>
            </a:r>
            <a:endParaRPr lang="tr-TR" dirty="0" smtClean="0"/>
          </a:p>
          <a:p>
            <a:pPr lvl="1"/>
            <a:r>
              <a:rPr lang="tr-TR" i="1" dirty="0" smtClean="0">
                <a:solidFill>
                  <a:srgbClr val="FF0000"/>
                </a:solidFill>
              </a:rPr>
              <a:t>RA </a:t>
            </a:r>
            <a:r>
              <a:rPr lang="tr-TR" i="1" dirty="0">
                <a:solidFill>
                  <a:srgbClr val="FF0000"/>
                </a:solidFill>
              </a:rPr>
              <a:t>hastalarını primer olarak tedavi etmesi gereken uzmanlar romatologlardır. </a:t>
            </a:r>
          </a:p>
          <a:p>
            <a:pPr lvl="1"/>
            <a:r>
              <a:rPr lang="tr-TR" dirty="0"/>
              <a:t>Bu ilke RA’nın özel takip gerektiren kompleks bir hastalık olması ile ilgilidir. </a:t>
            </a:r>
            <a:endParaRPr lang="tr-TR" dirty="0" smtClean="0"/>
          </a:p>
          <a:p>
            <a:pPr lvl="1"/>
            <a:r>
              <a:rPr lang="tr-TR" dirty="0" smtClean="0"/>
              <a:t>Kronik </a:t>
            </a:r>
            <a:r>
              <a:rPr lang="tr-TR" dirty="0"/>
              <a:t>hepatit, interstisyel akciğer hastalığı veya kardiyovasküler olaylar gibi komorbiditeler ilgili uzman ile konsülte edilmelidir</a:t>
            </a:r>
            <a:r>
              <a:rPr lang="tr-TR" dirty="0" smtClean="0"/>
              <a:t>.</a:t>
            </a:r>
            <a:endParaRPr lang="tr-TR" dirty="0"/>
          </a:p>
        </p:txBody>
      </p:sp>
    </p:spTree>
    <p:extLst>
      <p:ext uri="{BB962C8B-B14F-4D97-AF65-F5344CB8AC3E}">
        <p14:creationId xmlns:p14="http://schemas.microsoft.com/office/powerpoint/2010/main" val="286698644"/>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4" name="Metin Yer Tutucusu 3"/>
          <p:cNvSpPr>
            <a:spLocks noGrp="1"/>
          </p:cNvSpPr>
          <p:nvPr>
            <p:ph type="body" sz="quarter" idx="10"/>
          </p:nvPr>
        </p:nvSpPr>
        <p:spPr>
          <a:xfrm>
            <a:off x="381000" y="1411552"/>
            <a:ext cx="8382000" cy="3067506"/>
          </a:xfrm>
        </p:spPr>
        <p:txBody>
          <a:bodyPr/>
          <a:lstStyle/>
          <a:p>
            <a:r>
              <a:rPr lang="tr-TR" dirty="0" smtClean="0"/>
              <a:t>D</a:t>
            </a:r>
            <a:r>
              <a:rPr lang="tr-TR" dirty="0"/>
              <a:t>) </a:t>
            </a:r>
            <a:endParaRPr lang="tr-TR" dirty="0" smtClean="0"/>
          </a:p>
          <a:p>
            <a:pPr lvl="1"/>
            <a:r>
              <a:rPr lang="tr-TR" i="1" dirty="0" smtClean="0">
                <a:solidFill>
                  <a:srgbClr val="FF0000"/>
                </a:solidFill>
              </a:rPr>
              <a:t>Hastaların </a:t>
            </a:r>
            <a:r>
              <a:rPr lang="tr-TR" i="1" dirty="0">
                <a:solidFill>
                  <a:srgbClr val="FF0000"/>
                </a:solidFill>
              </a:rPr>
              <a:t>hayatları boyunca RA’nın </a:t>
            </a:r>
            <a:r>
              <a:rPr lang="tr-TR" i="1" dirty="0" err="1" smtClean="0">
                <a:solidFill>
                  <a:srgbClr val="FF0000"/>
                </a:solidFill>
              </a:rPr>
              <a:t>heterojenisitesini</a:t>
            </a:r>
            <a:r>
              <a:rPr lang="tr-TR" i="1" dirty="0" smtClean="0">
                <a:solidFill>
                  <a:srgbClr val="FF0000"/>
                </a:solidFill>
              </a:rPr>
              <a:t> </a:t>
            </a:r>
            <a:r>
              <a:rPr lang="tr-TR" i="1" dirty="0">
                <a:solidFill>
                  <a:srgbClr val="FF0000"/>
                </a:solidFill>
              </a:rPr>
              <a:t>hedef alan farklı etki şekilleri üzerinden başarılı olan ilaçlara ulaşmaya ihtiyacı vardır. </a:t>
            </a:r>
          </a:p>
          <a:p>
            <a:pPr lvl="1"/>
            <a:r>
              <a:rPr lang="tr-TR" dirty="0"/>
              <a:t>Şimdiye kadar 5 hedef molekül ailesi tanımlanmıştır. </a:t>
            </a:r>
            <a:endParaRPr lang="tr-TR" dirty="0" smtClean="0"/>
          </a:p>
          <a:p>
            <a:pPr lvl="1"/>
            <a:r>
              <a:rPr lang="tr-TR" dirty="0" smtClean="0"/>
              <a:t>TNF</a:t>
            </a:r>
            <a:r>
              <a:rPr lang="tr-TR" dirty="0"/>
              <a:t>, İL-6, CD80/86, CD20 ve JAK üzerine etkili ilaçlar kullanılmaktadır. </a:t>
            </a:r>
          </a:p>
        </p:txBody>
      </p:sp>
    </p:spTree>
    <p:extLst>
      <p:ext uri="{BB962C8B-B14F-4D97-AF65-F5344CB8AC3E}">
        <p14:creationId xmlns:p14="http://schemas.microsoft.com/office/powerpoint/2010/main" val="1177021175"/>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4" name="Metin Yer Tutucusu 3"/>
          <p:cNvSpPr>
            <a:spLocks noGrp="1"/>
          </p:cNvSpPr>
          <p:nvPr>
            <p:ph type="body" sz="quarter" idx="10"/>
          </p:nvPr>
        </p:nvSpPr>
        <p:spPr>
          <a:xfrm>
            <a:off x="381000" y="1411552"/>
            <a:ext cx="8382000" cy="4037003"/>
          </a:xfrm>
        </p:spPr>
        <p:txBody>
          <a:bodyPr/>
          <a:lstStyle/>
          <a:p>
            <a:r>
              <a:rPr lang="tr-TR" dirty="0" smtClean="0"/>
              <a:t>D</a:t>
            </a:r>
            <a:r>
              <a:rPr lang="tr-TR" dirty="0"/>
              <a:t>) </a:t>
            </a:r>
            <a:endParaRPr lang="tr-TR" dirty="0" smtClean="0"/>
          </a:p>
          <a:p>
            <a:pPr lvl="1"/>
            <a:r>
              <a:rPr lang="tr-TR" dirty="0" smtClean="0"/>
              <a:t>Tedavi </a:t>
            </a:r>
            <a:r>
              <a:rPr lang="tr-TR" dirty="0"/>
              <a:t>hedefi olarak remisyon veya düşük hastalık aktivitesinin sağlanması için ilaç değişiminin 3 ayda bir yapılması da yeterli olamamaktadır. </a:t>
            </a:r>
            <a:endParaRPr lang="tr-TR" dirty="0" smtClean="0"/>
          </a:p>
          <a:p>
            <a:pPr lvl="1"/>
            <a:r>
              <a:rPr lang="tr-TR" dirty="0" smtClean="0"/>
              <a:t>Dahası</a:t>
            </a:r>
            <a:r>
              <a:rPr lang="tr-TR" dirty="0"/>
              <a:t>, bir ilaç yetersiz olduğunda aynı sınıftan moleküle etki eden bir başka ilacın kullanılması etkili olabilmektedir. </a:t>
            </a:r>
            <a:endParaRPr lang="tr-TR" dirty="0" smtClean="0"/>
          </a:p>
          <a:p>
            <a:pPr lvl="1"/>
            <a:r>
              <a:rPr lang="tr-TR" dirty="0" smtClean="0"/>
              <a:t>Bu </a:t>
            </a:r>
            <a:r>
              <a:rPr lang="tr-TR" dirty="0"/>
              <a:t>nedenle hastalar ve romatologların tedavi hedefine ulaşmak için çoklu ardışık ilaç kullanımından haberdar olması gerekir</a:t>
            </a:r>
            <a:r>
              <a:rPr lang="tr-TR" dirty="0" smtClean="0"/>
              <a:t>.</a:t>
            </a:r>
            <a:endParaRPr lang="tr-TR" dirty="0"/>
          </a:p>
        </p:txBody>
      </p:sp>
    </p:spTree>
    <p:extLst>
      <p:ext uri="{BB962C8B-B14F-4D97-AF65-F5344CB8AC3E}">
        <p14:creationId xmlns:p14="http://schemas.microsoft.com/office/powerpoint/2010/main" val="3901842885"/>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4" name="Metin Yer Tutucusu 3"/>
          <p:cNvSpPr>
            <a:spLocks noGrp="1"/>
          </p:cNvSpPr>
          <p:nvPr>
            <p:ph type="body" sz="quarter" idx="10"/>
          </p:nvPr>
        </p:nvSpPr>
        <p:spPr>
          <a:xfrm>
            <a:off x="381000" y="1411552"/>
            <a:ext cx="8382000" cy="4519186"/>
          </a:xfrm>
        </p:spPr>
        <p:txBody>
          <a:bodyPr/>
          <a:lstStyle/>
          <a:p>
            <a:r>
              <a:rPr lang="tr-TR" dirty="0" smtClean="0"/>
              <a:t>D</a:t>
            </a:r>
            <a:r>
              <a:rPr lang="tr-TR" dirty="0"/>
              <a:t>) </a:t>
            </a:r>
            <a:endParaRPr lang="tr-TR" dirty="0" smtClean="0"/>
          </a:p>
          <a:p>
            <a:pPr lvl="1"/>
            <a:r>
              <a:rPr lang="tr-TR" dirty="0" smtClean="0"/>
              <a:t>RA</a:t>
            </a:r>
            <a:r>
              <a:rPr lang="tr-TR" dirty="0"/>
              <a:t>, hayat boyu devam eden, sebebi bilinmeyen ve çoğu hastada tam iyileşemeyen bir hastalıktır. </a:t>
            </a:r>
            <a:endParaRPr lang="tr-TR" dirty="0" smtClean="0"/>
          </a:p>
          <a:p>
            <a:pPr lvl="1"/>
            <a:r>
              <a:rPr lang="tr-TR" dirty="0" smtClean="0"/>
              <a:t>Fakat </a:t>
            </a:r>
            <a:r>
              <a:rPr lang="tr-TR" dirty="0"/>
              <a:t>çoğu hasta günümüzde geliştirilen tedaviler sayesinde remisyona veya düşük hastalık aktivitesine ulaşabilmektedir</a:t>
            </a:r>
            <a:r>
              <a:rPr lang="tr-TR" dirty="0" smtClean="0"/>
              <a:t>.</a:t>
            </a:r>
          </a:p>
          <a:p>
            <a:pPr lvl="1"/>
            <a:r>
              <a:rPr lang="tr-TR" dirty="0"/>
              <a:t> Remisyon sonrası ilaç dozu azatlımı yapabildiğimiz en iyi seçenektir. </a:t>
            </a:r>
            <a:endParaRPr lang="tr-TR" dirty="0" smtClean="0"/>
          </a:p>
          <a:p>
            <a:pPr lvl="1"/>
            <a:r>
              <a:rPr lang="tr-TR" dirty="0" smtClean="0"/>
              <a:t>Hastaların </a:t>
            </a:r>
            <a:r>
              <a:rPr lang="tr-TR" dirty="0"/>
              <a:t>%50’den fazlası 12-18 aylık tedavi sonrası azalan etkinlik ve yan etkiler nedeniyle başladığı </a:t>
            </a:r>
            <a:r>
              <a:rPr lang="tr-TR" dirty="0" err="1"/>
              <a:t>DMARD’ı</a:t>
            </a:r>
            <a:r>
              <a:rPr lang="tr-TR" dirty="0"/>
              <a:t> kesmek zorunda kalmaktadır. </a:t>
            </a:r>
          </a:p>
        </p:txBody>
      </p:sp>
    </p:spTree>
    <p:extLst>
      <p:ext uri="{BB962C8B-B14F-4D97-AF65-F5344CB8AC3E}">
        <p14:creationId xmlns:p14="http://schemas.microsoft.com/office/powerpoint/2010/main" val="79772147"/>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4" name="Metin Yer Tutucusu 3"/>
          <p:cNvSpPr>
            <a:spLocks noGrp="1"/>
          </p:cNvSpPr>
          <p:nvPr>
            <p:ph type="body" sz="quarter" idx="10"/>
          </p:nvPr>
        </p:nvSpPr>
        <p:spPr>
          <a:xfrm>
            <a:off x="381000" y="1411552"/>
            <a:ext cx="8382000" cy="3457357"/>
          </a:xfrm>
        </p:spPr>
        <p:txBody>
          <a:bodyPr/>
          <a:lstStyle/>
          <a:p>
            <a:r>
              <a:rPr lang="tr-TR" dirty="0" smtClean="0"/>
              <a:t>D</a:t>
            </a:r>
            <a:r>
              <a:rPr lang="tr-TR" dirty="0"/>
              <a:t>) </a:t>
            </a:r>
            <a:endParaRPr lang="tr-TR" dirty="0" smtClean="0"/>
          </a:p>
          <a:p>
            <a:pPr lvl="1"/>
            <a:r>
              <a:rPr lang="tr-TR" dirty="0"/>
              <a:t>Çoğu hasta halen modern tedavi yöntemlerine ulaşamamaktadır. </a:t>
            </a:r>
            <a:endParaRPr lang="tr-TR" dirty="0" smtClean="0"/>
          </a:p>
          <a:p>
            <a:pPr lvl="1"/>
            <a:r>
              <a:rPr lang="tr-TR" dirty="0" smtClean="0"/>
              <a:t>Hastaların </a:t>
            </a:r>
            <a:r>
              <a:rPr lang="tr-TR" dirty="0"/>
              <a:t>%10-20’si çoklu ilaç tedavilerine ve henüz farklı ajanlara da yanıt verememiştir. </a:t>
            </a:r>
            <a:endParaRPr lang="tr-TR" dirty="0" smtClean="0"/>
          </a:p>
          <a:p>
            <a:pPr lvl="1"/>
            <a:r>
              <a:rPr lang="tr-TR" dirty="0" smtClean="0"/>
              <a:t>Yine </a:t>
            </a:r>
            <a:r>
              <a:rPr lang="tr-TR" dirty="0"/>
              <a:t>hastaların %20-30 mevcut bütün tedavi yöntemlerine dirençlidir. </a:t>
            </a:r>
            <a:endParaRPr lang="tr-TR" dirty="0" smtClean="0"/>
          </a:p>
          <a:p>
            <a:pPr lvl="1"/>
            <a:r>
              <a:rPr lang="tr-TR" dirty="0" smtClean="0"/>
              <a:t>Bu </a:t>
            </a:r>
            <a:r>
              <a:rPr lang="tr-TR" dirty="0"/>
              <a:t>nedenle yeni tedavilerin geliştirilmesi gerekmektedir.</a:t>
            </a:r>
          </a:p>
        </p:txBody>
      </p:sp>
    </p:spTree>
    <p:extLst>
      <p:ext uri="{BB962C8B-B14F-4D97-AF65-F5344CB8AC3E}">
        <p14:creationId xmlns:p14="http://schemas.microsoft.com/office/powerpoint/2010/main" val="2226944617"/>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3" name="Metin Yer Tutucusu 2"/>
          <p:cNvSpPr>
            <a:spLocks noGrp="1"/>
          </p:cNvSpPr>
          <p:nvPr>
            <p:ph type="body" sz="quarter" idx="10"/>
          </p:nvPr>
        </p:nvSpPr>
        <p:spPr>
          <a:xfrm>
            <a:off x="381000" y="1411552"/>
            <a:ext cx="8382000" cy="3806170"/>
          </a:xfrm>
        </p:spPr>
        <p:txBody>
          <a:bodyPr/>
          <a:lstStyle/>
          <a:p>
            <a:r>
              <a:rPr lang="tr-TR" dirty="0" smtClean="0"/>
              <a:t>E</a:t>
            </a:r>
            <a:r>
              <a:rPr lang="tr-TR" dirty="0"/>
              <a:t>) </a:t>
            </a:r>
            <a:endParaRPr lang="tr-TR" dirty="0" smtClean="0">
              <a:solidFill>
                <a:srgbClr val="FF0000"/>
              </a:solidFill>
            </a:endParaRPr>
          </a:p>
          <a:p>
            <a:pPr lvl="1"/>
            <a:r>
              <a:rPr lang="tr-TR" i="1" dirty="0" smtClean="0">
                <a:solidFill>
                  <a:srgbClr val="FF0000"/>
                </a:solidFill>
              </a:rPr>
              <a:t>RA </a:t>
            </a:r>
            <a:r>
              <a:rPr lang="tr-TR" i="1" dirty="0">
                <a:solidFill>
                  <a:srgbClr val="FF0000"/>
                </a:solidFill>
              </a:rPr>
              <a:t>bireysel, sosyal ve medikal maliyetler ortaya </a:t>
            </a:r>
            <a:r>
              <a:rPr lang="tr-TR" i="1" dirty="0" smtClean="0">
                <a:solidFill>
                  <a:srgbClr val="FF0000"/>
                </a:solidFill>
              </a:rPr>
              <a:t>çıkarmaktadır. Bunların </a:t>
            </a:r>
            <a:r>
              <a:rPr lang="tr-TR" i="1" dirty="0">
                <a:solidFill>
                  <a:srgbClr val="FF0000"/>
                </a:solidFill>
              </a:rPr>
              <a:t>yönetimi tedavi eden romatolog tarafından düşünülmelidir.</a:t>
            </a:r>
          </a:p>
          <a:p>
            <a:pPr lvl="1"/>
            <a:r>
              <a:rPr lang="tr-TR" dirty="0"/>
              <a:t>Etkin RA tedavisi hastaların, ailenin ve toplumun üzerindeki ekonomik yükü de azaltmalıdır. </a:t>
            </a:r>
            <a:endParaRPr lang="tr-TR" dirty="0" smtClean="0"/>
          </a:p>
          <a:p>
            <a:pPr lvl="1"/>
            <a:r>
              <a:rPr lang="tr-TR" dirty="0" smtClean="0"/>
              <a:t>Bu </a:t>
            </a:r>
            <a:r>
              <a:rPr lang="tr-TR" dirty="0"/>
              <a:t>yük sadece tedavi maliyetinden oluşmaz aynı zamanda istirahat izinleri, iş verimi azalması ve erken emekliliği de kapsar. </a:t>
            </a:r>
          </a:p>
        </p:txBody>
      </p:sp>
    </p:spTree>
    <p:extLst>
      <p:ext uri="{BB962C8B-B14F-4D97-AF65-F5344CB8AC3E}">
        <p14:creationId xmlns:p14="http://schemas.microsoft.com/office/powerpoint/2010/main" val="1079362816"/>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İlkeler</a:t>
            </a:r>
          </a:p>
        </p:txBody>
      </p:sp>
      <p:sp>
        <p:nvSpPr>
          <p:cNvPr id="3" name="Metin Yer Tutucusu 2"/>
          <p:cNvSpPr>
            <a:spLocks noGrp="1"/>
          </p:cNvSpPr>
          <p:nvPr>
            <p:ph type="body" sz="quarter" idx="10"/>
          </p:nvPr>
        </p:nvSpPr>
        <p:spPr>
          <a:xfrm>
            <a:off x="381000" y="1411552"/>
            <a:ext cx="8382000" cy="5001369"/>
          </a:xfrm>
        </p:spPr>
        <p:txBody>
          <a:bodyPr/>
          <a:lstStyle/>
          <a:p>
            <a:r>
              <a:rPr lang="tr-TR" dirty="0" smtClean="0"/>
              <a:t>E</a:t>
            </a:r>
            <a:r>
              <a:rPr lang="tr-TR" dirty="0"/>
              <a:t>) </a:t>
            </a:r>
            <a:endParaRPr lang="tr-TR" dirty="0" smtClean="0"/>
          </a:p>
          <a:p>
            <a:pPr lvl="1"/>
            <a:r>
              <a:rPr lang="tr-TR" dirty="0" smtClean="0"/>
              <a:t>Diğer </a:t>
            </a:r>
            <a:r>
              <a:rPr lang="tr-TR" dirty="0"/>
              <a:t>yandan mevcut tedavilerin yüksek maliyeti toplumda ekonomik yük oluşturmaktadır. </a:t>
            </a:r>
            <a:endParaRPr lang="tr-TR" dirty="0" smtClean="0"/>
          </a:p>
          <a:p>
            <a:pPr lvl="1"/>
            <a:r>
              <a:rPr lang="tr-TR" dirty="0" smtClean="0"/>
              <a:t>Tedavi </a:t>
            </a:r>
            <a:r>
              <a:rPr lang="tr-TR" dirty="0"/>
              <a:t>kararı verilirken düşük maliyetli ilaçlar, benzer etkileri olduğu sürece yüksek maliyetlilere tercih edilmelidir.</a:t>
            </a:r>
          </a:p>
          <a:p>
            <a:pPr lvl="1"/>
            <a:r>
              <a:rPr lang="tr-TR" dirty="0"/>
              <a:t>Çoğu ülkede yüksek maliyetler modern tedavilere ulaşımı kısıtlamaktadır. </a:t>
            </a:r>
            <a:endParaRPr lang="tr-TR" dirty="0" smtClean="0"/>
          </a:p>
          <a:p>
            <a:pPr lvl="1"/>
            <a:r>
              <a:rPr lang="tr-TR" dirty="0" err="1" smtClean="0"/>
              <a:t>Biyoeşdeğer</a:t>
            </a:r>
            <a:r>
              <a:rPr lang="tr-TR" dirty="0" smtClean="0"/>
              <a:t> </a:t>
            </a:r>
            <a:r>
              <a:rPr lang="tr-TR" dirty="0"/>
              <a:t>ilaçların fiyatı yeteri kadar azalırsa sağlık sigortası harcamaları da azalacak, böylece vergi mükellefleri ve politikacılar tarafından desteklenecektir.</a:t>
            </a:r>
          </a:p>
          <a:p>
            <a:pPr lvl="1"/>
            <a:endParaRPr lang="tr-TR" dirty="0"/>
          </a:p>
        </p:txBody>
      </p:sp>
    </p:spTree>
    <p:extLst>
      <p:ext uri="{BB962C8B-B14F-4D97-AF65-F5344CB8AC3E}">
        <p14:creationId xmlns:p14="http://schemas.microsoft.com/office/powerpoint/2010/main" val="3404887302"/>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p:txBody>
          <a:bodyPr/>
          <a:lstStyle/>
          <a:p>
            <a:r>
              <a:rPr lang="tr-TR" dirty="0"/>
              <a:t>Çalışma grubunun tartışmaları 12 öneri ile sonuçlandı. İlk 7 öneri ile birlikte 9. ve 12. önerilerde değişiklik yapılmadı.</a:t>
            </a:r>
          </a:p>
          <a:p>
            <a:r>
              <a:rPr lang="tr-TR" dirty="0"/>
              <a:t>Öneriler yeni tanı almış </a:t>
            </a:r>
            <a:r>
              <a:rPr lang="tr-TR" dirty="0" err="1"/>
              <a:t>RA’lı</a:t>
            </a:r>
            <a:r>
              <a:rPr lang="tr-TR" dirty="0"/>
              <a:t> hastalar ile başlar. </a:t>
            </a:r>
            <a:endParaRPr lang="tr-TR" dirty="0" smtClean="0"/>
          </a:p>
          <a:p>
            <a:r>
              <a:rPr lang="tr-TR" dirty="0" smtClean="0"/>
              <a:t>Spesifik </a:t>
            </a:r>
            <a:r>
              <a:rPr lang="tr-TR" dirty="0"/>
              <a:t>ilaçlar ve tedavi stratejileri ile birlikte başarısız spesifik tedavilerle devam eder. </a:t>
            </a:r>
            <a:endParaRPr lang="tr-TR" dirty="0" smtClean="0"/>
          </a:p>
          <a:p>
            <a:r>
              <a:rPr lang="tr-TR" dirty="0" smtClean="0"/>
              <a:t>Uygun </a:t>
            </a:r>
            <a:r>
              <a:rPr lang="tr-TR" dirty="0"/>
              <a:t>şartlar altında tedavinin azaltılması önerilerek son bulur.</a:t>
            </a:r>
          </a:p>
          <a:p>
            <a:endParaRPr lang="tr-TR" dirty="0"/>
          </a:p>
        </p:txBody>
      </p:sp>
    </p:spTree>
    <p:extLst>
      <p:ext uri="{BB962C8B-B14F-4D97-AF65-F5344CB8AC3E}">
        <p14:creationId xmlns:p14="http://schemas.microsoft.com/office/powerpoint/2010/main" val="222348482"/>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a:xfrm>
            <a:off x="381000" y="1124744"/>
            <a:ext cx="8382000" cy="5268109"/>
          </a:xfrm>
        </p:spPr>
        <p:txBody>
          <a:bodyPr/>
          <a:lstStyle/>
          <a:p>
            <a:r>
              <a:rPr lang="tr-TR" dirty="0"/>
              <a:t>1) </a:t>
            </a:r>
            <a:endParaRPr lang="tr-TR" dirty="0" smtClean="0"/>
          </a:p>
          <a:p>
            <a:pPr lvl="1"/>
            <a:r>
              <a:rPr lang="tr-TR" i="1" dirty="0" smtClean="0">
                <a:solidFill>
                  <a:srgbClr val="FF0000"/>
                </a:solidFill>
              </a:rPr>
              <a:t>RA </a:t>
            </a:r>
            <a:r>
              <a:rPr lang="tr-TR" i="1" dirty="0">
                <a:solidFill>
                  <a:srgbClr val="FF0000"/>
                </a:solidFill>
              </a:rPr>
              <a:t>tanısı konulur konulmaz DMARD tedavisi başlanmalıdır. </a:t>
            </a:r>
          </a:p>
          <a:p>
            <a:pPr lvl="1"/>
            <a:r>
              <a:rPr lang="tr-TR" dirty="0"/>
              <a:t>RA’nın erken teşhisi çok önemlidir.</a:t>
            </a:r>
          </a:p>
          <a:p>
            <a:r>
              <a:rPr lang="tr-TR" dirty="0"/>
              <a:t>2) </a:t>
            </a:r>
            <a:endParaRPr lang="tr-TR" dirty="0" smtClean="0"/>
          </a:p>
          <a:p>
            <a:pPr lvl="1"/>
            <a:r>
              <a:rPr lang="tr-TR" i="1" dirty="0" smtClean="0">
                <a:solidFill>
                  <a:srgbClr val="FF0000"/>
                </a:solidFill>
              </a:rPr>
              <a:t>Tedavi</a:t>
            </a:r>
            <a:r>
              <a:rPr lang="tr-TR" i="1" dirty="0">
                <a:solidFill>
                  <a:srgbClr val="FF0000"/>
                </a:solidFill>
              </a:rPr>
              <a:t>, remisyonu veya düşük hastalık aktivitesine ulaşmayı amaçlamalıdır.</a:t>
            </a:r>
          </a:p>
          <a:p>
            <a:pPr lvl="1"/>
            <a:r>
              <a:rPr lang="tr-TR" dirty="0"/>
              <a:t>Düşük hastalık aktivitesi ve remisyon kriterleri artık tartışılmamaktadır. </a:t>
            </a:r>
            <a:endParaRPr lang="tr-TR" dirty="0" smtClean="0"/>
          </a:p>
          <a:p>
            <a:pPr lvl="1"/>
            <a:r>
              <a:rPr lang="tr-TR" dirty="0" smtClean="0"/>
              <a:t>ACR </a:t>
            </a:r>
            <a:r>
              <a:rPr lang="tr-TR" dirty="0"/>
              <a:t>ve EULAR remisyon tanımlamasında </a:t>
            </a:r>
            <a:r>
              <a:rPr lang="tr-TR" dirty="0" err="1"/>
              <a:t>Boolean</a:t>
            </a:r>
            <a:r>
              <a:rPr lang="tr-TR" dirty="0"/>
              <a:t> temelli ve indeks temelli yaklaşımda fikir birliğine varmıştır</a:t>
            </a:r>
            <a:r>
              <a:rPr lang="tr-TR" dirty="0" smtClean="0"/>
              <a:t>.</a:t>
            </a:r>
            <a:endParaRPr lang="tr-TR" dirty="0"/>
          </a:p>
        </p:txBody>
      </p:sp>
    </p:spTree>
    <p:extLst>
      <p:ext uri="{BB962C8B-B14F-4D97-AF65-F5344CB8AC3E}">
        <p14:creationId xmlns:p14="http://schemas.microsoft.com/office/powerpoint/2010/main" val="3641683736"/>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a:xfrm>
            <a:off x="381000" y="1411552"/>
            <a:ext cx="8382000" cy="4390946"/>
          </a:xfrm>
        </p:spPr>
        <p:txBody>
          <a:bodyPr/>
          <a:lstStyle/>
          <a:p>
            <a:r>
              <a:rPr lang="tr-TR" dirty="0" smtClean="0"/>
              <a:t>3</a:t>
            </a:r>
            <a:r>
              <a:rPr lang="tr-TR" dirty="0"/>
              <a:t>) </a:t>
            </a:r>
            <a:endParaRPr lang="tr-TR" dirty="0" smtClean="0"/>
          </a:p>
          <a:p>
            <a:pPr lvl="1"/>
            <a:r>
              <a:rPr lang="tr-TR" i="1" dirty="0" smtClean="0">
                <a:solidFill>
                  <a:srgbClr val="FF0000"/>
                </a:solidFill>
              </a:rPr>
              <a:t>Aktif </a:t>
            </a:r>
            <a:r>
              <a:rPr lang="tr-TR" i="1" dirty="0">
                <a:solidFill>
                  <a:srgbClr val="FF0000"/>
                </a:solidFill>
              </a:rPr>
              <a:t>hastalıkta izlem sık olmalıdır (1-3 ay), tedavi başlandıktan itibaren ilk 3 ay içerisinde hiçbir iyileşme olmazsa veya 6 ay sonunda tedavi hedefine ulaşılmamışsa tedavi ayarlaması yapılmalıdır.  </a:t>
            </a:r>
          </a:p>
          <a:p>
            <a:pPr lvl="1"/>
            <a:r>
              <a:rPr lang="tr-TR" dirty="0"/>
              <a:t>3 aylık tedaviye rağmen hastalık aktivitesinde en az %50 azalma olmazsa tedavi hedefine ulaşma ihtimali düşüktür. </a:t>
            </a:r>
            <a:endParaRPr lang="tr-TR" dirty="0" smtClean="0"/>
          </a:p>
          <a:p>
            <a:pPr lvl="1"/>
            <a:r>
              <a:rPr lang="tr-TR" dirty="0" smtClean="0"/>
              <a:t>IL-6 </a:t>
            </a:r>
            <a:r>
              <a:rPr lang="tr-TR" dirty="0"/>
              <a:t>ve JAK inhibitörleri gibi direkt etkili spesifik ilaçların kullanımı ile akut faz reaktanlarını etkilemek hesaba katılmalıdır</a:t>
            </a:r>
            <a:r>
              <a:rPr lang="tr-TR" dirty="0" smtClean="0"/>
              <a:t>.</a:t>
            </a:r>
            <a:endParaRPr lang="tr-TR" dirty="0"/>
          </a:p>
        </p:txBody>
      </p:sp>
    </p:spTree>
    <p:extLst>
      <p:ext uri="{BB962C8B-B14F-4D97-AF65-F5344CB8AC3E}">
        <p14:creationId xmlns:p14="http://schemas.microsoft.com/office/powerpoint/2010/main" val="3146890058"/>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a:xfrm>
            <a:off x="381000" y="1411552"/>
            <a:ext cx="8382000" cy="4873129"/>
          </a:xfrm>
        </p:spPr>
        <p:txBody>
          <a:bodyPr/>
          <a:lstStyle/>
          <a:p>
            <a:r>
              <a:rPr lang="tr-TR" dirty="0" smtClean="0"/>
              <a:t>4)</a:t>
            </a:r>
          </a:p>
          <a:p>
            <a:pPr lvl="1"/>
            <a:r>
              <a:rPr lang="tr-TR" i="1" dirty="0" smtClean="0">
                <a:solidFill>
                  <a:srgbClr val="FF0000"/>
                </a:solidFill>
              </a:rPr>
              <a:t>MTX </a:t>
            </a:r>
            <a:r>
              <a:rPr lang="tr-TR" i="1" dirty="0">
                <a:solidFill>
                  <a:srgbClr val="FF0000"/>
                </a:solidFill>
              </a:rPr>
              <a:t>aktif RA </a:t>
            </a:r>
            <a:r>
              <a:rPr lang="tr-TR" i="1" dirty="0" err="1">
                <a:solidFill>
                  <a:srgbClr val="FF0000"/>
                </a:solidFill>
              </a:rPr>
              <a:t>lı</a:t>
            </a:r>
            <a:r>
              <a:rPr lang="tr-TR" i="1" dirty="0">
                <a:solidFill>
                  <a:srgbClr val="FF0000"/>
                </a:solidFill>
              </a:rPr>
              <a:t> hastada ilk tedavi stratejisinin parçası olmalıdır. </a:t>
            </a:r>
            <a:endParaRPr lang="tr-TR" i="1" dirty="0" smtClean="0">
              <a:solidFill>
                <a:srgbClr val="FF0000"/>
              </a:solidFill>
            </a:endParaRPr>
          </a:p>
          <a:p>
            <a:pPr lvl="1"/>
            <a:r>
              <a:rPr lang="tr-TR" dirty="0"/>
              <a:t>MTX yüksek etkinliği olan bir ajandır. Monoterapi olarak veya glukokortikoidlerle (GK), </a:t>
            </a:r>
            <a:r>
              <a:rPr lang="tr-TR" dirty="0" err="1"/>
              <a:t>csDMARDs</a:t>
            </a:r>
            <a:r>
              <a:rPr lang="tr-TR" dirty="0"/>
              <a:t> ve </a:t>
            </a:r>
            <a:r>
              <a:rPr lang="tr-TR" dirty="0" err="1"/>
              <a:t>bDMARDs</a:t>
            </a:r>
            <a:r>
              <a:rPr lang="tr-TR" dirty="0"/>
              <a:t> ile kombine olarak kullanılabilir. </a:t>
            </a:r>
          </a:p>
          <a:p>
            <a:pPr lvl="1"/>
            <a:r>
              <a:rPr lang="tr-TR" dirty="0"/>
              <a:t>MTX dozu 4-6 hafta boyunca haftada 0,3mg/kg yükseltilmelidir. </a:t>
            </a:r>
            <a:endParaRPr lang="tr-TR" dirty="0" smtClean="0"/>
          </a:p>
          <a:p>
            <a:pPr lvl="1"/>
            <a:r>
              <a:rPr lang="tr-TR" dirty="0"/>
              <a:t>Optimal </a:t>
            </a:r>
            <a:r>
              <a:rPr lang="tr-TR" dirty="0" smtClean="0"/>
              <a:t>terapötik </a:t>
            </a:r>
            <a:r>
              <a:rPr lang="tr-TR" dirty="0"/>
              <a:t>doz, Batı ülkelerinde 20-25 mg/</a:t>
            </a:r>
            <a:r>
              <a:rPr lang="tr-TR" dirty="0" err="1"/>
              <a:t>hafta’yı</a:t>
            </a:r>
            <a:r>
              <a:rPr lang="tr-TR" dirty="0"/>
              <a:t> bulurken; Doğu Asya ülkelerinde muhtemel düşük vücut ağırlığı ve </a:t>
            </a:r>
            <a:r>
              <a:rPr lang="tr-TR" dirty="0" err="1"/>
              <a:t>farmakogenetik</a:t>
            </a:r>
            <a:r>
              <a:rPr lang="tr-TR" dirty="0"/>
              <a:t> özelliklerin farklı olmasına bağlı olarak 16mg/haftadır</a:t>
            </a:r>
            <a:r>
              <a:rPr lang="tr-TR" dirty="0" smtClean="0"/>
              <a:t>.</a:t>
            </a:r>
            <a:endParaRPr lang="tr-TR" dirty="0"/>
          </a:p>
        </p:txBody>
      </p:sp>
    </p:spTree>
    <p:extLst>
      <p:ext uri="{BB962C8B-B14F-4D97-AF65-F5344CB8AC3E}">
        <p14:creationId xmlns:p14="http://schemas.microsoft.com/office/powerpoint/2010/main" val="2419825979"/>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a:xfrm>
            <a:off x="381000" y="1411552"/>
            <a:ext cx="8382000" cy="5088573"/>
          </a:xfrm>
        </p:spPr>
        <p:txBody>
          <a:bodyPr/>
          <a:lstStyle/>
          <a:p>
            <a:r>
              <a:rPr lang="tr-TR" dirty="0" smtClean="0"/>
              <a:t>4)</a:t>
            </a:r>
          </a:p>
          <a:p>
            <a:pPr lvl="1"/>
            <a:r>
              <a:rPr lang="tr-TR" dirty="0" smtClean="0"/>
              <a:t>MTX </a:t>
            </a:r>
            <a:r>
              <a:rPr lang="tr-TR" dirty="0"/>
              <a:t>yan etkilerinden yüksek doza bağlı olası malignite riskine karşı folik asit kullanımı önemlidir. </a:t>
            </a:r>
          </a:p>
          <a:p>
            <a:pPr lvl="1"/>
            <a:r>
              <a:rPr lang="tr-TR" dirty="0"/>
              <a:t>Geçmişte tedavide ilk aşamada bDMARD ve tsDMARD kullanılması tartışılırken, yeni kanıtlar bunun önerilmediğini göstermektedir. </a:t>
            </a:r>
            <a:endParaRPr lang="tr-TR" dirty="0" smtClean="0"/>
          </a:p>
          <a:p>
            <a:pPr lvl="1"/>
            <a:r>
              <a:rPr lang="tr-TR" dirty="0" smtClean="0"/>
              <a:t>Aslında </a:t>
            </a:r>
            <a:r>
              <a:rPr lang="tr-TR" dirty="0"/>
              <a:t>bDMARD + MTX tedavisinin MTX + GC tedavisine üstünlüğü gösterilememiştir. Tedavi başlangıcında tsDMARD kullanımı ile MTX +GC kullanımı da henüz karşılaştırılmamıştır. </a:t>
            </a:r>
          </a:p>
          <a:p>
            <a:pPr lvl="1"/>
            <a:endParaRPr lang="tr-TR" dirty="0"/>
          </a:p>
          <a:p>
            <a:endParaRPr lang="tr-TR" dirty="0"/>
          </a:p>
        </p:txBody>
      </p:sp>
    </p:spTree>
    <p:extLst>
      <p:ext uri="{BB962C8B-B14F-4D97-AF65-F5344CB8AC3E}">
        <p14:creationId xmlns:p14="http://schemas.microsoft.com/office/powerpoint/2010/main" val="2498910339"/>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a:xfrm>
            <a:off x="381000" y="1411552"/>
            <a:ext cx="8382000" cy="4037003"/>
          </a:xfrm>
        </p:spPr>
        <p:txBody>
          <a:bodyPr/>
          <a:lstStyle/>
          <a:p>
            <a:r>
              <a:rPr lang="tr-TR" dirty="0"/>
              <a:t>5) </a:t>
            </a:r>
            <a:endParaRPr lang="tr-TR" dirty="0" smtClean="0"/>
          </a:p>
          <a:p>
            <a:pPr lvl="1"/>
            <a:r>
              <a:rPr lang="tr-TR" i="1" dirty="0" smtClean="0">
                <a:solidFill>
                  <a:srgbClr val="FF0000"/>
                </a:solidFill>
              </a:rPr>
              <a:t>MTX </a:t>
            </a:r>
            <a:r>
              <a:rPr lang="tr-TR" i="1" dirty="0">
                <a:solidFill>
                  <a:srgbClr val="FF0000"/>
                </a:solidFill>
              </a:rPr>
              <a:t>kontrendikasyonları durumlarında (veya erken </a:t>
            </a:r>
            <a:r>
              <a:rPr lang="tr-TR" i="1" dirty="0" err="1">
                <a:solidFill>
                  <a:srgbClr val="FF0000"/>
                </a:solidFill>
              </a:rPr>
              <a:t>intoleransta</a:t>
            </a:r>
            <a:r>
              <a:rPr lang="tr-TR" i="1" dirty="0">
                <a:solidFill>
                  <a:srgbClr val="FF0000"/>
                </a:solidFill>
              </a:rPr>
              <a:t>) ilk tedavi stratejisinin bir parçası olarak leflunomid veya sülfasalazin düşünülmelidir. </a:t>
            </a:r>
          </a:p>
          <a:p>
            <a:pPr lvl="1"/>
            <a:r>
              <a:rPr lang="tr-TR" dirty="0"/>
              <a:t>MTX ‘</a:t>
            </a:r>
            <a:r>
              <a:rPr lang="tr-TR" dirty="0" err="1"/>
              <a:t>ın</a:t>
            </a:r>
            <a:r>
              <a:rPr lang="tr-TR" dirty="0"/>
              <a:t> kontrendike olduğu durumlarda doğrudan bDMARD veya </a:t>
            </a:r>
            <a:r>
              <a:rPr lang="tr-TR" dirty="0" err="1"/>
              <a:t>tsDMARD’a</a:t>
            </a:r>
            <a:r>
              <a:rPr lang="tr-TR" dirty="0"/>
              <a:t> geçilmesi yönünde tartışmalar vardır. </a:t>
            </a:r>
            <a:endParaRPr lang="tr-TR" dirty="0" smtClean="0"/>
          </a:p>
          <a:p>
            <a:pPr lvl="1"/>
            <a:r>
              <a:rPr lang="tr-TR" dirty="0" smtClean="0"/>
              <a:t>Fakat </a:t>
            </a:r>
            <a:r>
              <a:rPr lang="tr-TR" dirty="0"/>
              <a:t>leflunomid veya sülfasalazin ile GC kullanımına tercih edilebileceğine dair kanıtlar henüz elde edilememiştir</a:t>
            </a:r>
            <a:r>
              <a:rPr lang="tr-TR" dirty="0" smtClean="0"/>
              <a:t>.</a:t>
            </a:r>
            <a:endParaRPr lang="tr-TR" dirty="0"/>
          </a:p>
        </p:txBody>
      </p:sp>
    </p:spTree>
    <p:extLst>
      <p:ext uri="{BB962C8B-B14F-4D97-AF65-F5344CB8AC3E}">
        <p14:creationId xmlns:p14="http://schemas.microsoft.com/office/powerpoint/2010/main" val="1435911535"/>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p:txBody>
          <a:bodyPr/>
          <a:lstStyle/>
          <a:p>
            <a:r>
              <a:rPr lang="tr-TR" dirty="0"/>
              <a:t>5) </a:t>
            </a:r>
            <a:endParaRPr lang="tr-TR" dirty="0" smtClean="0"/>
          </a:p>
          <a:p>
            <a:pPr lvl="1"/>
            <a:r>
              <a:rPr lang="tr-TR" dirty="0" smtClean="0"/>
              <a:t>Bunların </a:t>
            </a:r>
            <a:r>
              <a:rPr lang="tr-TR" dirty="0"/>
              <a:t>dışında özellikle kombine tedavilerde hidroksiklorokin ve klorokin gibi antimalaryal ilaçlarda RA da kullanılabilir. </a:t>
            </a:r>
          </a:p>
          <a:p>
            <a:pPr lvl="1"/>
            <a:r>
              <a:rPr lang="tr-TR" dirty="0"/>
              <a:t>Asya ülkelerinde RA tedavisinde kullanılan </a:t>
            </a:r>
            <a:r>
              <a:rPr lang="tr-TR" dirty="0" err="1"/>
              <a:t>bucillamine</a:t>
            </a:r>
            <a:r>
              <a:rPr lang="tr-TR" dirty="0"/>
              <a:t> ve </a:t>
            </a:r>
            <a:r>
              <a:rPr lang="tr-TR" dirty="0" err="1"/>
              <a:t>ugiratimod</a:t>
            </a:r>
            <a:r>
              <a:rPr lang="tr-TR" dirty="0"/>
              <a:t> ‘un başka ülkelerde kullanımına dair yeterli veri bulunmamaktadır.</a:t>
            </a:r>
          </a:p>
        </p:txBody>
      </p:sp>
    </p:spTree>
    <p:extLst>
      <p:ext uri="{BB962C8B-B14F-4D97-AF65-F5344CB8AC3E}">
        <p14:creationId xmlns:p14="http://schemas.microsoft.com/office/powerpoint/2010/main" val="1947000349"/>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2019 EULAR </a:t>
            </a:r>
            <a:r>
              <a:rPr lang="tr-TR" dirty="0" smtClean="0"/>
              <a:t>Önerileri</a:t>
            </a:r>
            <a:endParaRPr lang="tr-TR" dirty="0"/>
          </a:p>
        </p:txBody>
      </p:sp>
      <p:sp>
        <p:nvSpPr>
          <p:cNvPr id="3" name="Metin Yer Tutucusu 2"/>
          <p:cNvSpPr>
            <a:spLocks noGrp="1"/>
          </p:cNvSpPr>
          <p:nvPr>
            <p:ph type="body" sz="quarter" idx="10"/>
          </p:nvPr>
        </p:nvSpPr>
        <p:spPr>
          <a:xfrm>
            <a:off x="381000" y="1411552"/>
            <a:ext cx="8382000" cy="3683060"/>
          </a:xfrm>
        </p:spPr>
        <p:txBody>
          <a:bodyPr/>
          <a:lstStyle/>
          <a:p>
            <a:r>
              <a:rPr lang="tr-TR" dirty="0"/>
              <a:t>6) </a:t>
            </a:r>
            <a:endParaRPr lang="tr-TR" dirty="0" smtClean="0"/>
          </a:p>
          <a:p>
            <a:pPr lvl="1"/>
            <a:r>
              <a:rPr lang="tr-TR" i="1" dirty="0" smtClean="0">
                <a:solidFill>
                  <a:srgbClr val="FF0000"/>
                </a:solidFill>
              </a:rPr>
              <a:t>Kısa </a:t>
            </a:r>
            <a:r>
              <a:rPr lang="tr-TR" i="1" dirty="0">
                <a:solidFill>
                  <a:srgbClr val="FF0000"/>
                </a:solidFill>
              </a:rPr>
              <a:t>süreli GC kullanımı başlangıç tedavi stratejisinin bir parçası olarak </a:t>
            </a:r>
            <a:r>
              <a:rPr lang="tr-TR" i="1" dirty="0" err="1">
                <a:solidFill>
                  <a:srgbClr val="FF0000"/>
                </a:solidFill>
              </a:rPr>
              <a:t>csDMARD</a:t>
            </a:r>
            <a:r>
              <a:rPr lang="tr-TR" i="1" dirty="0">
                <a:solidFill>
                  <a:srgbClr val="FF0000"/>
                </a:solidFill>
              </a:rPr>
              <a:t> tedavileri ile kombine edilebilir. </a:t>
            </a:r>
            <a:r>
              <a:rPr lang="tr-TR" i="1" dirty="0" smtClean="0">
                <a:solidFill>
                  <a:srgbClr val="FF0000"/>
                </a:solidFill>
              </a:rPr>
              <a:t>Klinik </a:t>
            </a:r>
            <a:r>
              <a:rPr lang="tr-TR" i="1" dirty="0">
                <a:solidFill>
                  <a:srgbClr val="FF0000"/>
                </a:solidFill>
              </a:rPr>
              <a:t>uygun haline gelince GC dozu hızla azaltılmalıdır.</a:t>
            </a:r>
          </a:p>
          <a:p>
            <a:pPr lvl="1"/>
            <a:r>
              <a:rPr lang="tr-TR" dirty="0"/>
              <a:t>GC dozu azaltılması ve kesilmesinden sonra tedavi hedefini devam ettirmede başarısızlık oluyorsa </a:t>
            </a:r>
            <a:r>
              <a:rPr lang="tr-TR" dirty="0" err="1"/>
              <a:t>csDMARD’lara</a:t>
            </a:r>
            <a:r>
              <a:rPr lang="tr-TR" dirty="0"/>
              <a:t> bDMARD veya tsDMARD eklenmesi gerekmektedir. </a:t>
            </a:r>
          </a:p>
        </p:txBody>
      </p:sp>
    </p:spTree>
    <p:extLst>
      <p:ext uri="{BB962C8B-B14F-4D97-AF65-F5344CB8AC3E}">
        <p14:creationId xmlns:p14="http://schemas.microsoft.com/office/powerpoint/2010/main" val="2274906284"/>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421944" y="1084006"/>
            <a:ext cx="8382000" cy="5011628"/>
          </a:xfrm>
        </p:spPr>
        <p:txBody>
          <a:bodyPr/>
          <a:lstStyle/>
          <a:p>
            <a:r>
              <a:rPr lang="tr-TR" dirty="0" smtClean="0"/>
              <a:t>6) </a:t>
            </a:r>
          </a:p>
          <a:p>
            <a:pPr lvl="1"/>
            <a:r>
              <a:rPr lang="tr-TR" dirty="0" smtClean="0"/>
              <a:t>Yapılan son üç yayında MTX + bDMARD kombinasyonlarının tedavi başarıları MTX + GC kombinasyonu ile benzer bulunmuştur.</a:t>
            </a:r>
          </a:p>
          <a:p>
            <a:r>
              <a:rPr lang="tr-TR" dirty="0" smtClean="0"/>
              <a:t>7) </a:t>
            </a:r>
          </a:p>
          <a:p>
            <a:pPr lvl="1"/>
            <a:r>
              <a:rPr lang="tr-TR" i="1" dirty="0" smtClean="0">
                <a:solidFill>
                  <a:srgbClr val="FF0000"/>
                </a:solidFill>
              </a:rPr>
              <a:t>İlk </a:t>
            </a:r>
            <a:r>
              <a:rPr lang="tr-TR" i="1" dirty="0" err="1" smtClean="0">
                <a:solidFill>
                  <a:srgbClr val="FF0000"/>
                </a:solidFill>
              </a:rPr>
              <a:t>DMARDs</a:t>
            </a:r>
            <a:r>
              <a:rPr lang="tr-TR" i="1" dirty="0" smtClean="0">
                <a:solidFill>
                  <a:srgbClr val="FF0000"/>
                </a:solidFill>
              </a:rPr>
              <a:t> stratejisiyle tedavi hedefine ulaşılmadıysa, kötü prognostik faktörlerin yokluğunda başka bir </a:t>
            </a:r>
            <a:r>
              <a:rPr lang="tr-TR" i="1" dirty="0" err="1" smtClean="0">
                <a:solidFill>
                  <a:srgbClr val="FF0000"/>
                </a:solidFill>
              </a:rPr>
              <a:t>csDMARD</a:t>
            </a:r>
            <a:r>
              <a:rPr lang="tr-TR" i="1" dirty="0" smtClean="0">
                <a:solidFill>
                  <a:srgbClr val="FF0000"/>
                </a:solidFill>
              </a:rPr>
              <a:t> stratejisine geçilmesi düşülmelidir.</a:t>
            </a:r>
          </a:p>
          <a:p>
            <a:pPr lvl="1"/>
            <a:r>
              <a:rPr lang="tr-TR" dirty="0" smtClean="0"/>
              <a:t>Yüksek hastalık aktivitesi, eklem erozyonlarının başlaması ve yüksek otoantikor pozitifliği gibi kötü prognostik faktörlerin yokluğunda başka bir </a:t>
            </a:r>
            <a:r>
              <a:rPr lang="tr-TR" dirty="0" err="1" smtClean="0"/>
              <a:t>csDMARD</a:t>
            </a:r>
            <a:r>
              <a:rPr lang="tr-TR" dirty="0" smtClean="0"/>
              <a:t> + GC kombinasyonu tercih edilmelidir.</a:t>
            </a:r>
            <a:endParaRPr lang="tr-TR" dirty="0"/>
          </a:p>
        </p:txBody>
      </p:sp>
    </p:spTree>
    <p:extLst>
      <p:ext uri="{BB962C8B-B14F-4D97-AF65-F5344CB8AC3E}">
        <p14:creationId xmlns:p14="http://schemas.microsoft.com/office/powerpoint/2010/main" val="3548409333"/>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3683060"/>
          </a:xfrm>
        </p:spPr>
        <p:txBody>
          <a:bodyPr/>
          <a:lstStyle/>
          <a:p>
            <a:r>
              <a:rPr lang="tr-TR" dirty="0" smtClean="0"/>
              <a:t>8) </a:t>
            </a:r>
          </a:p>
          <a:p>
            <a:pPr lvl="1"/>
            <a:r>
              <a:rPr lang="tr-TR" i="1" dirty="0" smtClean="0">
                <a:solidFill>
                  <a:srgbClr val="FF0000"/>
                </a:solidFill>
              </a:rPr>
              <a:t>İlk </a:t>
            </a:r>
            <a:r>
              <a:rPr lang="tr-TR" i="1" dirty="0" err="1">
                <a:solidFill>
                  <a:srgbClr val="FF0000"/>
                </a:solidFill>
              </a:rPr>
              <a:t>csDMARD</a:t>
            </a:r>
            <a:r>
              <a:rPr lang="tr-TR" i="1" dirty="0">
                <a:solidFill>
                  <a:srgbClr val="FF0000"/>
                </a:solidFill>
              </a:rPr>
              <a:t> tedavisi ile tedavi hedefine ulaşılamadı ve kötü prognostik faktörler mevcutsa bDMARD veya tsDMARD tedaviye eklenmelidir.</a:t>
            </a:r>
          </a:p>
          <a:p>
            <a:pPr lvl="1"/>
            <a:r>
              <a:rPr lang="tr-TR" dirty="0"/>
              <a:t>2019 önerilerinde iki majör değişim oldu. Birincisi, </a:t>
            </a:r>
            <a:r>
              <a:rPr lang="tr-TR" dirty="0" err="1"/>
              <a:t>bDMARD’lar</a:t>
            </a:r>
            <a:r>
              <a:rPr lang="tr-TR" dirty="0"/>
              <a:t> uzun dönem etkinliği ve güvenliği açısından tsDMARD(JAK-</a:t>
            </a:r>
            <a:r>
              <a:rPr lang="tr-TR" dirty="0" err="1"/>
              <a:t>inh</a:t>
            </a:r>
            <a:r>
              <a:rPr lang="tr-TR" dirty="0"/>
              <a:t>)’</a:t>
            </a:r>
            <a:r>
              <a:rPr lang="tr-TR" dirty="0" err="1"/>
              <a:t>lara</a:t>
            </a:r>
            <a:r>
              <a:rPr lang="tr-TR" dirty="0"/>
              <a:t> üstün bulundu. </a:t>
            </a:r>
            <a:endParaRPr lang="tr-TR" dirty="0" smtClean="0"/>
          </a:p>
          <a:p>
            <a:pPr lvl="1"/>
            <a:r>
              <a:rPr lang="tr-TR" dirty="0" smtClean="0"/>
              <a:t>İkincisi</a:t>
            </a:r>
            <a:r>
              <a:rPr lang="tr-TR" dirty="0"/>
              <a:t>, bDMARD için değerlendirilmesi değil, doğrudan eklenmesi önerildi. </a:t>
            </a:r>
          </a:p>
        </p:txBody>
      </p:sp>
    </p:spTree>
    <p:extLst>
      <p:ext uri="{BB962C8B-B14F-4D97-AF65-F5344CB8AC3E}">
        <p14:creationId xmlns:p14="http://schemas.microsoft.com/office/powerpoint/2010/main" val="431970202"/>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4165243"/>
          </a:xfrm>
        </p:spPr>
        <p:txBody>
          <a:bodyPr/>
          <a:lstStyle/>
          <a:p>
            <a:r>
              <a:rPr lang="tr-TR" dirty="0" smtClean="0"/>
              <a:t>8) </a:t>
            </a:r>
          </a:p>
          <a:p>
            <a:pPr lvl="1"/>
            <a:r>
              <a:rPr lang="tr-TR" dirty="0" smtClean="0"/>
              <a:t>bDMARD </a:t>
            </a:r>
            <a:r>
              <a:rPr lang="tr-TR" dirty="0"/>
              <a:t>ve </a:t>
            </a:r>
            <a:r>
              <a:rPr lang="tr-TR" dirty="0" err="1"/>
              <a:t>tsDMARD’ların</a:t>
            </a:r>
            <a:r>
              <a:rPr lang="tr-TR" dirty="0"/>
              <a:t> etkinlik açısından birbirine benzerdir. </a:t>
            </a:r>
            <a:endParaRPr lang="tr-TR" dirty="0" smtClean="0"/>
          </a:p>
          <a:p>
            <a:pPr lvl="1"/>
            <a:r>
              <a:rPr lang="tr-TR" dirty="0" smtClean="0"/>
              <a:t>Yapılan </a:t>
            </a:r>
            <a:r>
              <a:rPr lang="tr-TR" dirty="0"/>
              <a:t>iki çalışmada </a:t>
            </a:r>
            <a:r>
              <a:rPr lang="tr-TR" dirty="0" err="1"/>
              <a:t>baricitinib</a:t>
            </a:r>
            <a:r>
              <a:rPr lang="tr-TR" dirty="0"/>
              <a:t> veya </a:t>
            </a:r>
            <a:r>
              <a:rPr lang="tr-TR" dirty="0" err="1"/>
              <a:t>upadacitinib’in</a:t>
            </a:r>
            <a:r>
              <a:rPr lang="tr-TR" dirty="0"/>
              <a:t> </a:t>
            </a:r>
            <a:r>
              <a:rPr lang="tr-TR" dirty="0" err="1"/>
              <a:t>adalimumab’a</a:t>
            </a:r>
            <a:r>
              <a:rPr lang="tr-TR" dirty="0"/>
              <a:t> (her biri MTX ile kombine) üstünlüğü gösterilmiştir. </a:t>
            </a:r>
            <a:endParaRPr lang="tr-TR" dirty="0" smtClean="0"/>
          </a:p>
          <a:p>
            <a:pPr lvl="1"/>
            <a:r>
              <a:rPr lang="tr-TR" dirty="0" smtClean="0"/>
              <a:t>Üçüncü </a:t>
            </a:r>
            <a:r>
              <a:rPr lang="tr-TR" dirty="0"/>
              <a:t>çalışmada </a:t>
            </a:r>
            <a:r>
              <a:rPr lang="tr-TR" dirty="0" err="1"/>
              <a:t>tofacitinib</a:t>
            </a:r>
            <a:r>
              <a:rPr lang="tr-TR" dirty="0"/>
              <a:t> + MTX kombinasyonunun üstünlüğü gösterilememiştir. </a:t>
            </a:r>
            <a:endParaRPr lang="tr-TR" dirty="0" smtClean="0"/>
          </a:p>
          <a:p>
            <a:pPr lvl="1"/>
            <a:r>
              <a:rPr lang="tr-TR" dirty="0" smtClean="0"/>
              <a:t>Küçük </a:t>
            </a:r>
            <a:r>
              <a:rPr lang="tr-TR" dirty="0"/>
              <a:t>farklar olması nedeniyle </a:t>
            </a:r>
            <a:r>
              <a:rPr lang="tr-TR" dirty="0" err="1"/>
              <a:t>tsDMARD’lar</a:t>
            </a:r>
            <a:r>
              <a:rPr lang="tr-TR" dirty="0"/>
              <a:t> </a:t>
            </a:r>
            <a:r>
              <a:rPr lang="tr-TR" dirty="0" err="1"/>
              <a:t>bDMARD’lara</a:t>
            </a:r>
            <a:r>
              <a:rPr lang="tr-TR" dirty="0"/>
              <a:t> üstündür denilememektedir</a:t>
            </a:r>
            <a:r>
              <a:rPr lang="tr-TR" dirty="0" smtClean="0"/>
              <a:t>.</a:t>
            </a:r>
            <a:endParaRPr lang="tr-TR" dirty="0"/>
          </a:p>
        </p:txBody>
      </p:sp>
    </p:spTree>
    <p:extLst>
      <p:ext uri="{BB962C8B-B14F-4D97-AF65-F5344CB8AC3E}">
        <p14:creationId xmlns:p14="http://schemas.microsoft.com/office/powerpoint/2010/main" val="1004735204"/>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4519186"/>
          </a:xfrm>
        </p:spPr>
        <p:txBody>
          <a:bodyPr/>
          <a:lstStyle/>
          <a:p>
            <a:r>
              <a:rPr lang="tr-TR" dirty="0" smtClean="0"/>
              <a:t>8) </a:t>
            </a:r>
          </a:p>
          <a:p>
            <a:pPr lvl="1"/>
            <a:r>
              <a:rPr lang="tr-TR" dirty="0" smtClean="0"/>
              <a:t>Güncel </a:t>
            </a:r>
            <a:r>
              <a:rPr lang="tr-TR" dirty="0"/>
              <a:t>bir çalışma verilere göre </a:t>
            </a:r>
            <a:r>
              <a:rPr lang="tr-TR" dirty="0" err="1"/>
              <a:t>filgotinib</a:t>
            </a:r>
            <a:r>
              <a:rPr lang="tr-TR" dirty="0"/>
              <a:t> + MTX kombinasyonu DAS 28 skorunda &lt;3,2 değerini yakalarken, </a:t>
            </a:r>
            <a:r>
              <a:rPr lang="tr-TR" dirty="0" err="1"/>
              <a:t>adalimumab’a</a:t>
            </a:r>
            <a:r>
              <a:rPr lang="tr-TR" dirty="0"/>
              <a:t> üstün bulunmamıştır. </a:t>
            </a:r>
            <a:endParaRPr lang="tr-TR" dirty="0" smtClean="0"/>
          </a:p>
          <a:p>
            <a:pPr lvl="1"/>
            <a:r>
              <a:rPr lang="tr-TR" dirty="0" smtClean="0"/>
              <a:t>Yapılan </a:t>
            </a:r>
            <a:r>
              <a:rPr lang="tr-TR" dirty="0"/>
              <a:t>bu çalışmalarda gruplar arası şiş eklem ve </a:t>
            </a:r>
            <a:r>
              <a:rPr lang="tr-TR" dirty="0" smtClean="0"/>
              <a:t>inflamatuvar </a:t>
            </a:r>
            <a:r>
              <a:rPr lang="tr-TR" dirty="0"/>
              <a:t>belirteçlerin seviyesi farklı değildir.</a:t>
            </a:r>
          </a:p>
          <a:p>
            <a:pPr lvl="1"/>
            <a:r>
              <a:rPr lang="tr-TR" dirty="0"/>
              <a:t>JAK </a:t>
            </a:r>
            <a:r>
              <a:rPr lang="tr-TR" dirty="0" err="1"/>
              <a:t>inihibitörlerinden</a:t>
            </a:r>
            <a:r>
              <a:rPr lang="tr-TR" dirty="0"/>
              <a:t> üçüncüsü olan </a:t>
            </a:r>
            <a:r>
              <a:rPr lang="tr-TR" dirty="0" err="1"/>
              <a:t>pericitinib</a:t>
            </a:r>
            <a:r>
              <a:rPr lang="tr-TR" dirty="0"/>
              <a:t> Japonya’da onay almış ve klinik çalışmalarda etkili bulunmuştur. </a:t>
            </a:r>
            <a:endParaRPr lang="tr-TR" dirty="0" smtClean="0"/>
          </a:p>
          <a:p>
            <a:pPr lvl="1"/>
            <a:r>
              <a:rPr lang="tr-TR" dirty="0" smtClean="0"/>
              <a:t>Fakat </a:t>
            </a:r>
            <a:r>
              <a:rPr lang="tr-TR" dirty="0"/>
              <a:t>global çalışmada benzer üstün etkinliği gösterilememiştir</a:t>
            </a:r>
            <a:r>
              <a:rPr lang="tr-TR" dirty="0" smtClean="0"/>
              <a:t>.</a:t>
            </a:r>
            <a:endParaRPr lang="tr-TR" dirty="0"/>
          </a:p>
        </p:txBody>
      </p:sp>
    </p:spTree>
    <p:extLst>
      <p:ext uri="{BB962C8B-B14F-4D97-AF65-F5344CB8AC3E}">
        <p14:creationId xmlns:p14="http://schemas.microsoft.com/office/powerpoint/2010/main" val="3752521061"/>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3457357"/>
          </a:xfrm>
        </p:spPr>
        <p:txBody>
          <a:bodyPr/>
          <a:lstStyle/>
          <a:p>
            <a:r>
              <a:rPr lang="tr-TR" dirty="0" smtClean="0"/>
              <a:t>8) </a:t>
            </a:r>
          </a:p>
          <a:p>
            <a:pPr lvl="1"/>
            <a:r>
              <a:rPr lang="tr-TR" dirty="0" smtClean="0"/>
              <a:t>JAK </a:t>
            </a:r>
            <a:r>
              <a:rPr lang="tr-TR" dirty="0" err="1"/>
              <a:t>inihibitörlerinden</a:t>
            </a:r>
            <a:r>
              <a:rPr lang="tr-TR" dirty="0"/>
              <a:t> dördüncüsü olan </a:t>
            </a:r>
            <a:r>
              <a:rPr lang="tr-TR" dirty="0" err="1"/>
              <a:t>upadacitinib’in</a:t>
            </a:r>
            <a:r>
              <a:rPr lang="tr-TR" dirty="0"/>
              <a:t> faz 3 çalışmaları tamamlanmış ve FDA tarafından 15mg/gün kullanımı onaylanmıştır. </a:t>
            </a:r>
            <a:endParaRPr lang="tr-TR" dirty="0" smtClean="0"/>
          </a:p>
          <a:p>
            <a:pPr lvl="1"/>
            <a:r>
              <a:rPr lang="tr-TR" dirty="0" smtClean="0"/>
              <a:t>Fakat </a:t>
            </a:r>
            <a:r>
              <a:rPr lang="tr-TR" dirty="0"/>
              <a:t>tromboz riskine karşı uyarı eklenmiştir. </a:t>
            </a:r>
            <a:endParaRPr lang="tr-TR" dirty="0" smtClean="0"/>
          </a:p>
          <a:p>
            <a:pPr lvl="1"/>
            <a:r>
              <a:rPr lang="tr-TR" dirty="0" smtClean="0"/>
              <a:t>EMA </a:t>
            </a:r>
            <a:r>
              <a:rPr lang="tr-TR" dirty="0"/>
              <a:t>da benzer şekilde olumlu görüş bildirmiştir.</a:t>
            </a:r>
          </a:p>
          <a:p>
            <a:pPr lvl="1"/>
            <a:r>
              <a:rPr lang="tr-TR" dirty="0"/>
              <a:t>JAK </a:t>
            </a:r>
            <a:r>
              <a:rPr lang="tr-TR" dirty="0" err="1"/>
              <a:t>inihibitörlerinden</a:t>
            </a:r>
            <a:r>
              <a:rPr lang="tr-TR" dirty="0"/>
              <a:t> beşincisi olan </a:t>
            </a:r>
            <a:r>
              <a:rPr lang="tr-TR" dirty="0" err="1"/>
              <a:t>filgotinib’in</a:t>
            </a:r>
            <a:r>
              <a:rPr lang="tr-TR" dirty="0"/>
              <a:t> faz 3 çalışmasının sonuçları beklenmektedir</a:t>
            </a:r>
            <a:r>
              <a:rPr lang="tr-TR" dirty="0" smtClean="0"/>
              <a:t>.</a:t>
            </a:r>
            <a:endParaRPr lang="tr-TR" dirty="0"/>
          </a:p>
        </p:txBody>
      </p:sp>
    </p:spTree>
    <p:extLst>
      <p:ext uri="{BB962C8B-B14F-4D97-AF65-F5344CB8AC3E}">
        <p14:creationId xmlns:p14="http://schemas.microsoft.com/office/powerpoint/2010/main" val="4110283984"/>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5098832"/>
          </a:xfrm>
        </p:spPr>
        <p:txBody>
          <a:bodyPr/>
          <a:lstStyle/>
          <a:p>
            <a:r>
              <a:rPr lang="tr-TR" dirty="0" smtClean="0"/>
              <a:t>8) </a:t>
            </a:r>
          </a:p>
          <a:p>
            <a:pPr lvl="1"/>
            <a:r>
              <a:rPr lang="tr-TR" dirty="0" smtClean="0"/>
              <a:t>Mevcut </a:t>
            </a:r>
            <a:r>
              <a:rPr lang="tr-TR" dirty="0"/>
              <a:t>sistematik literatür taramalarında tromboz risk faktörleri taşıyan ve yaşlı hastalarda artmış herpes </a:t>
            </a:r>
            <a:r>
              <a:rPr lang="tr-TR" dirty="0" smtClean="0"/>
              <a:t>zoster </a:t>
            </a:r>
            <a:r>
              <a:rPr lang="tr-TR" dirty="0"/>
              <a:t>enfeksiyonu riski ve pulmoner emboliye sebep olabilen venöz tromboemboli riski </a:t>
            </a:r>
            <a:r>
              <a:rPr lang="tr-TR" dirty="0" err="1"/>
              <a:t>baricitinib</a:t>
            </a:r>
            <a:r>
              <a:rPr lang="tr-TR" dirty="0"/>
              <a:t> (4mg/gün) ve </a:t>
            </a:r>
            <a:r>
              <a:rPr lang="tr-TR" dirty="0" err="1"/>
              <a:t>tofacitinib</a:t>
            </a:r>
            <a:r>
              <a:rPr lang="tr-TR" dirty="0"/>
              <a:t> (5-10mg/gün) için gösterilmiştir.</a:t>
            </a:r>
          </a:p>
          <a:p>
            <a:pPr lvl="1"/>
            <a:r>
              <a:rPr lang="tr-TR" dirty="0"/>
              <a:t>Benzer tromboembolik olaylar </a:t>
            </a:r>
            <a:r>
              <a:rPr lang="tr-TR" dirty="0" err="1"/>
              <a:t>upadacitinib</a:t>
            </a:r>
            <a:r>
              <a:rPr lang="tr-TR" dirty="0"/>
              <a:t> için de gösterilmiştir. </a:t>
            </a:r>
            <a:endParaRPr lang="tr-TR" dirty="0" smtClean="0"/>
          </a:p>
          <a:p>
            <a:pPr lvl="1"/>
            <a:r>
              <a:rPr lang="tr-TR" dirty="0" err="1" smtClean="0"/>
              <a:t>Tomboemboli</a:t>
            </a:r>
            <a:r>
              <a:rPr lang="tr-TR" dirty="0" smtClean="0"/>
              <a:t> </a:t>
            </a:r>
            <a:r>
              <a:rPr lang="tr-TR" dirty="0"/>
              <a:t>öyküsü olan, BMI yüksekliği olan, HRT kullanımı öyküsü olan ve yaşlı hastalarda JAK inhibitörü kullanırken artmış tromboz riskine karşı dikkatli olunmalıdır.</a:t>
            </a:r>
          </a:p>
        </p:txBody>
      </p:sp>
    </p:spTree>
    <p:extLst>
      <p:ext uri="{BB962C8B-B14F-4D97-AF65-F5344CB8AC3E}">
        <p14:creationId xmlns:p14="http://schemas.microsoft.com/office/powerpoint/2010/main" val="3190628975"/>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3811300"/>
          </a:xfrm>
        </p:spPr>
        <p:txBody>
          <a:bodyPr/>
          <a:lstStyle/>
          <a:p>
            <a:r>
              <a:rPr lang="tr-TR" dirty="0" smtClean="0"/>
              <a:t>9) </a:t>
            </a:r>
          </a:p>
          <a:p>
            <a:pPr lvl="1"/>
            <a:r>
              <a:rPr lang="tr-TR" i="1" dirty="0" err="1" smtClean="0">
                <a:solidFill>
                  <a:srgbClr val="FF0000"/>
                </a:solidFill>
              </a:rPr>
              <a:t>csDMARD</a:t>
            </a:r>
            <a:r>
              <a:rPr lang="tr-TR" i="1" dirty="0" smtClean="0">
                <a:solidFill>
                  <a:srgbClr val="FF0000"/>
                </a:solidFill>
              </a:rPr>
              <a:t> </a:t>
            </a:r>
            <a:r>
              <a:rPr lang="tr-TR" i="1" dirty="0">
                <a:solidFill>
                  <a:srgbClr val="FF0000"/>
                </a:solidFill>
              </a:rPr>
              <a:t>kombinasyonlarına  yetersiz cevap veren hastalarda  bDMARD ve </a:t>
            </a:r>
            <a:r>
              <a:rPr lang="tr-TR" i="1" dirty="0" err="1">
                <a:solidFill>
                  <a:srgbClr val="FF0000"/>
                </a:solidFill>
              </a:rPr>
              <a:t>tsDMARD</a:t>
            </a:r>
            <a:r>
              <a:rPr lang="tr-TR" i="1" dirty="0">
                <a:solidFill>
                  <a:srgbClr val="FF0000"/>
                </a:solidFill>
              </a:rPr>
              <a:t> </a:t>
            </a:r>
            <a:r>
              <a:rPr lang="tr-TR" i="1" dirty="0" smtClean="0">
                <a:solidFill>
                  <a:srgbClr val="FF0000"/>
                </a:solidFill>
              </a:rPr>
              <a:t>eklenebilir. IL-6 </a:t>
            </a:r>
            <a:r>
              <a:rPr lang="tr-TR" i="1" dirty="0">
                <a:solidFill>
                  <a:srgbClr val="FF0000"/>
                </a:solidFill>
              </a:rPr>
              <a:t>yolak inhibitörleri ve </a:t>
            </a:r>
            <a:r>
              <a:rPr lang="tr-TR" i="1" dirty="0" err="1">
                <a:solidFill>
                  <a:srgbClr val="FF0000"/>
                </a:solidFill>
              </a:rPr>
              <a:t>tsDMARD’ların</a:t>
            </a:r>
            <a:r>
              <a:rPr lang="tr-TR" i="1" dirty="0">
                <a:solidFill>
                  <a:srgbClr val="FF0000"/>
                </a:solidFill>
              </a:rPr>
              <a:t> diğer </a:t>
            </a:r>
            <a:r>
              <a:rPr lang="tr-TR" i="1" dirty="0" err="1">
                <a:solidFill>
                  <a:srgbClr val="FF0000"/>
                </a:solidFill>
              </a:rPr>
              <a:t>bDMARD’lardan</a:t>
            </a:r>
            <a:r>
              <a:rPr lang="tr-TR" i="1" dirty="0">
                <a:solidFill>
                  <a:srgbClr val="FF0000"/>
                </a:solidFill>
              </a:rPr>
              <a:t> bu konuda bazı üstünlükleri vardır.</a:t>
            </a:r>
          </a:p>
          <a:p>
            <a:pPr lvl="1"/>
            <a:r>
              <a:rPr lang="tr-TR" dirty="0"/>
              <a:t>Kombinasyon tedavileri, bDMARD ve tsDMARD </a:t>
            </a:r>
            <a:r>
              <a:rPr lang="tr-TR" dirty="0" err="1"/>
              <a:t>monoterapilerinden</a:t>
            </a:r>
            <a:r>
              <a:rPr lang="tr-TR" dirty="0"/>
              <a:t> daha avantajlıdır. </a:t>
            </a:r>
            <a:endParaRPr lang="tr-TR" dirty="0" smtClean="0"/>
          </a:p>
          <a:p>
            <a:pPr lvl="1"/>
            <a:r>
              <a:rPr lang="tr-TR" dirty="0" smtClean="0"/>
              <a:t>bDMARD </a:t>
            </a:r>
            <a:r>
              <a:rPr lang="tr-TR" dirty="0"/>
              <a:t>etkisini arttırmada yüksek doz MTX eklenmesine gerek yoktur. </a:t>
            </a:r>
            <a:endParaRPr lang="tr-TR" dirty="0" smtClean="0"/>
          </a:p>
        </p:txBody>
      </p:sp>
    </p:spTree>
    <p:extLst>
      <p:ext uri="{BB962C8B-B14F-4D97-AF65-F5344CB8AC3E}">
        <p14:creationId xmlns:p14="http://schemas.microsoft.com/office/powerpoint/2010/main" val="64792122"/>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3811300"/>
          </a:xfrm>
        </p:spPr>
        <p:txBody>
          <a:bodyPr/>
          <a:lstStyle/>
          <a:p>
            <a:r>
              <a:rPr lang="tr-TR" dirty="0" smtClean="0"/>
              <a:t>9) </a:t>
            </a:r>
          </a:p>
          <a:p>
            <a:pPr lvl="1"/>
            <a:r>
              <a:rPr lang="tr-TR" dirty="0" smtClean="0"/>
              <a:t>10mg/hafta </a:t>
            </a:r>
            <a:r>
              <a:rPr lang="tr-TR" dirty="0"/>
              <a:t>MTX  dozu ile kombine edilmesi TNF inhibitörü etkisini arttırmak için yeterlidir. </a:t>
            </a:r>
            <a:endParaRPr lang="tr-TR" dirty="0" smtClean="0"/>
          </a:p>
          <a:p>
            <a:pPr lvl="1"/>
            <a:r>
              <a:rPr lang="tr-TR" dirty="0" smtClean="0"/>
              <a:t>Veriler</a:t>
            </a:r>
            <a:r>
              <a:rPr lang="tr-TR" dirty="0"/>
              <a:t>, tüm biyolojik ajanlarla beraber MTX  kombinasyonunu desteklemektedir.</a:t>
            </a:r>
          </a:p>
          <a:p>
            <a:pPr lvl="1"/>
            <a:r>
              <a:rPr lang="tr-TR" dirty="0" err="1"/>
              <a:t>Tozicizumab</a:t>
            </a:r>
            <a:r>
              <a:rPr lang="tr-TR" dirty="0"/>
              <a:t> ve </a:t>
            </a:r>
            <a:r>
              <a:rPr lang="tr-TR" dirty="0" err="1"/>
              <a:t>sarilumab</a:t>
            </a:r>
            <a:r>
              <a:rPr lang="tr-TR" dirty="0"/>
              <a:t> </a:t>
            </a:r>
            <a:r>
              <a:rPr lang="tr-TR" dirty="0" err="1"/>
              <a:t>monoterapileri</a:t>
            </a:r>
            <a:r>
              <a:rPr lang="tr-TR" dirty="0"/>
              <a:t>, </a:t>
            </a:r>
            <a:r>
              <a:rPr lang="tr-TR" dirty="0" err="1"/>
              <a:t>adalimumab</a:t>
            </a:r>
            <a:r>
              <a:rPr lang="tr-TR" dirty="0"/>
              <a:t> </a:t>
            </a:r>
            <a:r>
              <a:rPr lang="tr-TR" dirty="0" err="1"/>
              <a:t>monoterapisinden</a:t>
            </a:r>
            <a:r>
              <a:rPr lang="tr-TR" dirty="0"/>
              <a:t> daha üstün bulunmuştur. </a:t>
            </a:r>
            <a:endParaRPr lang="tr-TR" dirty="0" smtClean="0"/>
          </a:p>
          <a:p>
            <a:pPr lvl="1"/>
            <a:r>
              <a:rPr lang="tr-TR" dirty="0" smtClean="0"/>
              <a:t>JAK </a:t>
            </a:r>
            <a:r>
              <a:rPr lang="tr-TR" dirty="0"/>
              <a:t>inhibitörü </a:t>
            </a:r>
            <a:r>
              <a:rPr lang="tr-TR" dirty="0" err="1"/>
              <a:t>monoterapilerinin</a:t>
            </a:r>
            <a:r>
              <a:rPr lang="tr-TR" dirty="0"/>
              <a:t> de benzer klinik iyileştirici etkisi vardır.</a:t>
            </a:r>
          </a:p>
        </p:txBody>
      </p:sp>
    </p:spTree>
    <p:extLst>
      <p:ext uri="{BB962C8B-B14F-4D97-AF65-F5344CB8AC3E}">
        <p14:creationId xmlns:p14="http://schemas.microsoft.com/office/powerpoint/2010/main" val="667099854"/>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3200876"/>
          </a:xfrm>
        </p:spPr>
        <p:txBody>
          <a:bodyPr/>
          <a:lstStyle/>
          <a:p>
            <a:r>
              <a:rPr lang="tr-TR" dirty="0" smtClean="0"/>
              <a:t>10) </a:t>
            </a:r>
          </a:p>
          <a:p>
            <a:pPr lvl="1"/>
            <a:r>
              <a:rPr lang="tr-TR" i="1" dirty="0" smtClean="0">
                <a:solidFill>
                  <a:srgbClr val="FF0000"/>
                </a:solidFill>
              </a:rPr>
              <a:t>İlk </a:t>
            </a:r>
            <a:r>
              <a:rPr lang="tr-TR" i="1" dirty="0">
                <a:solidFill>
                  <a:srgbClr val="FF0000"/>
                </a:solidFill>
              </a:rPr>
              <a:t>bDMARD veya tsDMARD başarısız olursa hastalar başka bir bDMARD veya tsDMARD ile tedavi ya devam </a:t>
            </a:r>
            <a:r>
              <a:rPr lang="tr-TR" i="1" dirty="0" smtClean="0">
                <a:solidFill>
                  <a:srgbClr val="FF0000"/>
                </a:solidFill>
              </a:rPr>
              <a:t>edilmelidir. Eğer </a:t>
            </a:r>
            <a:r>
              <a:rPr lang="tr-TR" i="1" dirty="0">
                <a:solidFill>
                  <a:srgbClr val="FF0000"/>
                </a:solidFill>
              </a:rPr>
              <a:t>hastada bir TNF inhibitörü etkisiz olursa, başka etki şekline sahip bir ajan ya da bir başka TNF inhibitörü verilmelidir.</a:t>
            </a:r>
          </a:p>
          <a:p>
            <a:pPr lvl="1"/>
            <a:r>
              <a:rPr lang="tr-TR" dirty="0"/>
              <a:t>Son güncellemede ‘başka etki şekline sahip bir ajan’ ifadesi eklenmiştir. </a:t>
            </a:r>
          </a:p>
        </p:txBody>
      </p:sp>
    </p:spTree>
    <p:extLst>
      <p:ext uri="{BB962C8B-B14F-4D97-AF65-F5344CB8AC3E}">
        <p14:creationId xmlns:p14="http://schemas.microsoft.com/office/powerpoint/2010/main" val="1643936425"/>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3908762"/>
          </a:xfrm>
        </p:spPr>
        <p:txBody>
          <a:bodyPr/>
          <a:lstStyle/>
          <a:p>
            <a:r>
              <a:rPr lang="tr-TR" dirty="0" smtClean="0"/>
              <a:t>10) </a:t>
            </a:r>
          </a:p>
          <a:p>
            <a:pPr lvl="1"/>
            <a:r>
              <a:rPr lang="tr-TR" dirty="0" smtClean="0"/>
              <a:t>Bu </a:t>
            </a:r>
            <a:r>
              <a:rPr lang="tr-TR" dirty="0"/>
              <a:t>öneri </a:t>
            </a:r>
            <a:r>
              <a:rPr lang="tr-TR" dirty="0" err="1"/>
              <a:t>sedece</a:t>
            </a:r>
            <a:r>
              <a:rPr lang="tr-TR" dirty="0"/>
              <a:t> TNF inhibitörü başarısızlığı ile ilgili değil, aynı zamanda bDMARD ve tsDMARD başarısızlığını da kapsamaktadır.</a:t>
            </a:r>
          </a:p>
          <a:p>
            <a:pPr lvl="1"/>
            <a:r>
              <a:rPr lang="tr-TR" dirty="0"/>
              <a:t>IL-6 reseptör inhibitörü başarısızlığı sonrası diğerinin kullanımı (</a:t>
            </a:r>
            <a:r>
              <a:rPr lang="tr-TR" dirty="0" err="1"/>
              <a:t>tocilizumab</a:t>
            </a:r>
            <a:r>
              <a:rPr lang="tr-TR" dirty="0"/>
              <a:t> sonrası </a:t>
            </a:r>
            <a:r>
              <a:rPr lang="tr-TR" dirty="0" err="1"/>
              <a:t>sarilumab</a:t>
            </a:r>
            <a:r>
              <a:rPr lang="tr-TR" dirty="0"/>
              <a:t>), JAK inhibitörü başarısızlığı sonrası bir diğerinin kullanımı (</a:t>
            </a:r>
            <a:r>
              <a:rPr lang="tr-TR" dirty="0" err="1"/>
              <a:t>tofacitinib</a:t>
            </a:r>
            <a:r>
              <a:rPr lang="tr-TR" dirty="0"/>
              <a:t> sonrası </a:t>
            </a:r>
            <a:r>
              <a:rPr lang="tr-TR" dirty="0" err="1"/>
              <a:t>baricitinib</a:t>
            </a:r>
            <a:r>
              <a:rPr lang="tr-TR" dirty="0"/>
              <a:t>) ya da tsDMARD başarısızlığı sonrası bDMARD kullanımı hakkında henüz net literatür verisi yoktur. </a:t>
            </a:r>
          </a:p>
        </p:txBody>
      </p:sp>
    </p:spTree>
    <p:extLst>
      <p:ext uri="{BB962C8B-B14F-4D97-AF65-F5344CB8AC3E}">
        <p14:creationId xmlns:p14="http://schemas.microsoft.com/office/powerpoint/2010/main" val="4263341200"/>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4647426"/>
          </a:xfrm>
        </p:spPr>
        <p:txBody>
          <a:bodyPr/>
          <a:lstStyle/>
          <a:p>
            <a:r>
              <a:rPr lang="tr-TR" dirty="0" smtClean="0"/>
              <a:t>11) </a:t>
            </a:r>
          </a:p>
          <a:p>
            <a:pPr lvl="1"/>
            <a:r>
              <a:rPr lang="tr-TR" i="1" dirty="0" smtClean="0">
                <a:solidFill>
                  <a:srgbClr val="FF0000"/>
                </a:solidFill>
              </a:rPr>
              <a:t>GK </a:t>
            </a:r>
            <a:r>
              <a:rPr lang="tr-TR" i="1" dirty="0">
                <a:solidFill>
                  <a:srgbClr val="FF0000"/>
                </a:solidFill>
              </a:rPr>
              <a:t>azaltıldıktan sonra hastanın remisyonu kalıcıysa; özellikle bu tedavi </a:t>
            </a:r>
            <a:r>
              <a:rPr lang="tr-TR" i="1" dirty="0" err="1">
                <a:solidFill>
                  <a:srgbClr val="FF0000"/>
                </a:solidFill>
              </a:rPr>
              <a:t>csDMARD‘larla</a:t>
            </a:r>
            <a:r>
              <a:rPr lang="tr-TR" i="1" dirty="0">
                <a:solidFill>
                  <a:srgbClr val="FF0000"/>
                </a:solidFill>
              </a:rPr>
              <a:t> kombineyse bDMARD veya </a:t>
            </a:r>
            <a:r>
              <a:rPr lang="tr-TR" i="1" dirty="0" err="1">
                <a:solidFill>
                  <a:srgbClr val="FF0000"/>
                </a:solidFill>
              </a:rPr>
              <a:t>tsDMARD‘lar</a:t>
            </a:r>
            <a:r>
              <a:rPr lang="tr-TR" i="1" dirty="0">
                <a:solidFill>
                  <a:srgbClr val="FF0000"/>
                </a:solidFill>
              </a:rPr>
              <a:t> yavaş yavaş azaltılabilir.</a:t>
            </a:r>
          </a:p>
          <a:p>
            <a:pPr lvl="1"/>
            <a:r>
              <a:rPr lang="tr-TR" dirty="0"/>
              <a:t>Son güncellemede ‘tsDMARD’ ifadesi eklenmiştir.</a:t>
            </a:r>
          </a:p>
          <a:p>
            <a:pPr lvl="1"/>
            <a:r>
              <a:rPr lang="tr-TR" dirty="0"/>
              <a:t>bDMARD kullanımını bırakmak hastalığın alevlenmesine neden olmaktadır. </a:t>
            </a:r>
            <a:endParaRPr lang="tr-TR" dirty="0" smtClean="0"/>
          </a:p>
          <a:p>
            <a:pPr lvl="1"/>
            <a:r>
              <a:rPr lang="tr-TR" dirty="0" smtClean="0"/>
              <a:t>Bu </a:t>
            </a:r>
            <a:r>
              <a:rPr lang="tr-TR" dirty="0"/>
              <a:t>nedenle bırakılması yerine doz azaltılması önerilmektedir</a:t>
            </a:r>
            <a:r>
              <a:rPr lang="tr-TR" dirty="0" smtClean="0"/>
              <a:t>.</a:t>
            </a:r>
          </a:p>
          <a:p>
            <a:pPr lvl="1"/>
            <a:r>
              <a:rPr lang="tr-TR" dirty="0"/>
              <a:t>Alevlenme olan hastaların büyük çoğunluğu önceki tedavinin tekrar başlanmasıyla tekrar iyileşebilmektedir</a:t>
            </a:r>
            <a:r>
              <a:rPr lang="tr-TR" dirty="0" smtClean="0"/>
              <a:t>. </a:t>
            </a:r>
            <a:endParaRPr lang="tr-TR" dirty="0"/>
          </a:p>
        </p:txBody>
      </p:sp>
    </p:spTree>
    <p:extLst>
      <p:ext uri="{BB962C8B-B14F-4D97-AF65-F5344CB8AC3E}">
        <p14:creationId xmlns:p14="http://schemas.microsoft.com/office/powerpoint/2010/main" val="446803825"/>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2019 EULAR Önerileri</a:t>
            </a:r>
            <a:endParaRPr lang="tr-TR" dirty="0"/>
          </a:p>
        </p:txBody>
      </p:sp>
      <p:sp>
        <p:nvSpPr>
          <p:cNvPr id="3" name="Metin Yer Tutucusu 2"/>
          <p:cNvSpPr>
            <a:spLocks noGrp="1"/>
          </p:cNvSpPr>
          <p:nvPr>
            <p:ph type="body" sz="quarter" idx="10"/>
          </p:nvPr>
        </p:nvSpPr>
        <p:spPr>
          <a:xfrm>
            <a:off x="381000" y="1411552"/>
            <a:ext cx="8382000" cy="5001369"/>
          </a:xfrm>
        </p:spPr>
        <p:txBody>
          <a:bodyPr/>
          <a:lstStyle/>
          <a:p>
            <a:r>
              <a:rPr lang="tr-TR" dirty="0" smtClean="0"/>
              <a:t>11) </a:t>
            </a:r>
          </a:p>
          <a:p>
            <a:pPr lvl="1"/>
            <a:r>
              <a:rPr lang="tr-TR" dirty="0" smtClean="0"/>
              <a:t>Yapılan </a:t>
            </a:r>
            <a:r>
              <a:rPr lang="tr-TR" dirty="0"/>
              <a:t>birçok çalışmada bDMARD kullanımı ile sıkı bir remisyon sağlanmadan doz </a:t>
            </a:r>
            <a:r>
              <a:rPr lang="tr-TR" dirty="0" err="1"/>
              <a:t>azaltımına</a:t>
            </a:r>
            <a:r>
              <a:rPr lang="tr-TR" dirty="0"/>
              <a:t> gitmenin alevlenme riskini arttırdığı gösterilmiştir. </a:t>
            </a:r>
            <a:endParaRPr lang="tr-TR" dirty="0" smtClean="0"/>
          </a:p>
          <a:p>
            <a:pPr lvl="1"/>
            <a:r>
              <a:rPr lang="tr-TR" dirty="0" smtClean="0"/>
              <a:t>bDMARD </a:t>
            </a:r>
            <a:r>
              <a:rPr lang="tr-TR" dirty="0"/>
              <a:t>dozu azaltılması sonrası alevlenme, eklem hasarının ilerlemesi ve özellikle uzun dönem hastalık aktivitesi artışı ile birlikte görülür. </a:t>
            </a:r>
            <a:endParaRPr lang="tr-TR" dirty="0" smtClean="0"/>
          </a:p>
          <a:p>
            <a:pPr lvl="1"/>
            <a:r>
              <a:rPr lang="tr-TR" dirty="0" smtClean="0"/>
              <a:t>Buna </a:t>
            </a:r>
            <a:r>
              <a:rPr lang="tr-TR" dirty="0"/>
              <a:t>bağlı </a:t>
            </a:r>
            <a:r>
              <a:rPr lang="tr-TR" dirty="0" err="1"/>
              <a:t>irreversible</a:t>
            </a:r>
            <a:r>
              <a:rPr lang="tr-TR" dirty="0"/>
              <a:t> dizabilite görülebilir.</a:t>
            </a:r>
          </a:p>
          <a:p>
            <a:pPr lvl="1"/>
            <a:r>
              <a:rPr lang="tr-TR" dirty="0"/>
              <a:t>Maliyet ve güvenlik sorunları nedeniyle remisyondaki hastada </a:t>
            </a:r>
            <a:r>
              <a:rPr lang="tr-TR" dirty="0" err="1"/>
              <a:t>csDMARD’lardan</a:t>
            </a:r>
            <a:r>
              <a:rPr lang="tr-TR" dirty="0"/>
              <a:t> önce bDMARD ve tsDMARD dozu azaltılması önerilmektedir.</a:t>
            </a:r>
          </a:p>
          <a:p>
            <a:pPr lvl="1"/>
            <a:endParaRPr lang="tr-TR" dirty="0"/>
          </a:p>
        </p:txBody>
      </p:sp>
    </p:spTree>
    <p:extLst>
      <p:ext uri="{BB962C8B-B14F-4D97-AF65-F5344CB8AC3E}">
        <p14:creationId xmlns:p14="http://schemas.microsoft.com/office/powerpoint/2010/main" val="1938835419"/>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354722"/>
            <a:ext cx="8382000" cy="553998"/>
          </a:xfrm>
        </p:spPr>
        <p:txBody>
          <a:bodyPr/>
          <a:lstStyle/>
          <a:p>
            <a:r>
              <a:rPr lang="tr-TR" dirty="0" smtClean="0"/>
              <a:t>2019 EULAR Önerileri</a:t>
            </a:r>
            <a:endParaRPr lang="tr-TR" dirty="0"/>
          </a:p>
        </p:txBody>
      </p:sp>
      <p:sp>
        <p:nvSpPr>
          <p:cNvPr id="3" name="Metin Yer Tutucusu 2"/>
          <p:cNvSpPr>
            <a:spLocks noGrp="1"/>
          </p:cNvSpPr>
          <p:nvPr>
            <p:ph type="body" sz="quarter" idx="10"/>
          </p:nvPr>
        </p:nvSpPr>
        <p:spPr>
          <a:xfrm>
            <a:off x="381000" y="836712"/>
            <a:ext cx="8382000" cy="5581015"/>
          </a:xfrm>
        </p:spPr>
        <p:txBody>
          <a:bodyPr/>
          <a:lstStyle/>
          <a:p>
            <a:r>
              <a:rPr lang="tr-TR" dirty="0" smtClean="0"/>
              <a:t>12) </a:t>
            </a:r>
          </a:p>
          <a:p>
            <a:pPr lvl="1"/>
            <a:r>
              <a:rPr lang="tr-TR" i="1" dirty="0" smtClean="0">
                <a:solidFill>
                  <a:srgbClr val="FF0000"/>
                </a:solidFill>
              </a:rPr>
              <a:t>Uzun </a:t>
            </a:r>
            <a:r>
              <a:rPr lang="tr-TR" i="1" dirty="0">
                <a:solidFill>
                  <a:srgbClr val="FF0000"/>
                </a:solidFill>
              </a:rPr>
              <a:t>süre remisyon sağlanan vakalarda </a:t>
            </a:r>
            <a:r>
              <a:rPr lang="tr-TR" i="1" dirty="0" err="1">
                <a:solidFill>
                  <a:srgbClr val="FF0000"/>
                </a:solidFill>
              </a:rPr>
              <a:t>csDMARD</a:t>
            </a:r>
            <a:r>
              <a:rPr lang="tr-TR" i="1" dirty="0">
                <a:solidFill>
                  <a:srgbClr val="FF0000"/>
                </a:solidFill>
              </a:rPr>
              <a:t> dozunun dikkatli azaltılması düşünülebilir. </a:t>
            </a:r>
          </a:p>
          <a:p>
            <a:pPr lvl="1"/>
            <a:r>
              <a:rPr lang="tr-TR" dirty="0" err="1"/>
              <a:t>csDMARD’lara</a:t>
            </a:r>
            <a:r>
              <a:rPr lang="tr-TR" dirty="0"/>
              <a:t> yanıtı iyi olan, tsDMARD ve </a:t>
            </a:r>
            <a:r>
              <a:rPr lang="tr-TR" dirty="0" err="1"/>
              <a:t>bDMARD’a</a:t>
            </a:r>
            <a:r>
              <a:rPr lang="tr-TR" dirty="0"/>
              <a:t> geçilmesine </a:t>
            </a:r>
            <a:r>
              <a:rPr lang="tr-TR" dirty="0" err="1"/>
              <a:t>ihtiyaş</a:t>
            </a:r>
            <a:r>
              <a:rPr lang="tr-TR" dirty="0"/>
              <a:t> duymayan hastalarda kalıcı remisyon varlığında </a:t>
            </a:r>
            <a:r>
              <a:rPr lang="tr-TR" dirty="0" err="1"/>
              <a:t>csDMARD</a:t>
            </a:r>
            <a:r>
              <a:rPr lang="tr-TR" dirty="0"/>
              <a:t> dozu azaltılabilir.</a:t>
            </a:r>
          </a:p>
          <a:p>
            <a:pPr lvl="1"/>
            <a:r>
              <a:rPr lang="tr-TR" dirty="0"/>
              <a:t>Kombine tedaviye alınan hastalar kalıcı remisyona girince bDMARD veya </a:t>
            </a:r>
            <a:r>
              <a:rPr lang="tr-TR" dirty="0" err="1"/>
              <a:t>tsDMARD’ına</a:t>
            </a:r>
            <a:r>
              <a:rPr lang="tr-TR" dirty="0"/>
              <a:t> yavaş doz azaltması uygulanırken kalıcı remisyonu muhafaza etmek adına buna ara verilip, diğer taraftan </a:t>
            </a:r>
            <a:r>
              <a:rPr lang="tr-TR" dirty="0" err="1"/>
              <a:t>csDMARD</a:t>
            </a:r>
            <a:r>
              <a:rPr lang="tr-TR" dirty="0"/>
              <a:t> dozu azaltılması da düşünülebilir.</a:t>
            </a:r>
          </a:p>
          <a:p>
            <a:pPr lvl="1"/>
            <a:r>
              <a:rPr lang="tr-TR" dirty="0"/>
              <a:t>RA’nın tam kür olamayan bir hastalık olduğu unutulmamalıdır. Etkinliği görülen ve hasta tarafından tolere edilebilen ilaç kesilmemelidir. </a:t>
            </a:r>
          </a:p>
        </p:txBody>
      </p:sp>
    </p:spTree>
    <p:extLst>
      <p:ext uri="{BB962C8B-B14F-4D97-AF65-F5344CB8AC3E}">
        <p14:creationId xmlns:p14="http://schemas.microsoft.com/office/powerpoint/2010/main" val="3538420929"/>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354722"/>
            <a:ext cx="8382000" cy="553998"/>
          </a:xfrm>
        </p:spPr>
        <p:txBody>
          <a:bodyPr/>
          <a:lstStyle/>
          <a:p>
            <a:r>
              <a:rPr lang="tr-TR" dirty="0" smtClean="0"/>
              <a:t>2019 EULAR Önerileri</a:t>
            </a:r>
            <a:endParaRPr lang="tr-TR" dirty="0"/>
          </a:p>
        </p:txBody>
      </p:sp>
      <p:sp>
        <p:nvSpPr>
          <p:cNvPr id="3" name="Metin Yer Tutucusu 2"/>
          <p:cNvSpPr>
            <a:spLocks noGrp="1"/>
          </p:cNvSpPr>
          <p:nvPr>
            <p:ph type="body" sz="quarter" idx="10"/>
          </p:nvPr>
        </p:nvSpPr>
        <p:spPr>
          <a:xfrm>
            <a:off x="381000" y="836712"/>
            <a:ext cx="8382000" cy="415498"/>
          </a:xfrm>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6716"/>
            <a:ext cx="9141515" cy="5184576"/>
          </a:xfrm>
          <a:prstGeom prst="rect">
            <a:avLst/>
          </a:prstGeom>
        </p:spPr>
      </p:pic>
    </p:spTree>
    <p:extLst>
      <p:ext uri="{BB962C8B-B14F-4D97-AF65-F5344CB8AC3E}">
        <p14:creationId xmlns:p14="http://schemas.microsoft.com/office/powerpoint/2010/main" val="3575812518"/>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354722"/>
            <a:ext cx="8382000" cy="553998"/>
          </a:xfrm>
        </p:spPr>
        <p:txBody>
          <a:bodyPr/>
          <a:lstStyle/>
          <a:p>
            <a:r>
              <a:rPr lang="tr-TR" dirty="0" smtClean="0"/>
              <a:t>2019 EULAR Önerileri</a:t>
            </a:r>
            <a:endParaRPr lang="tr-TR" dirty="0"/>
          </a:p>
        </p:txBody>
      </p:sp>
      <p:sp>
        <p:nvSpPr>
          <p:cNvPr id="3" name="Metin Yer Tutucusu 2"/>
          <p:cNvSpPr>
            <a:spLocks noGrp="1"/>
          </p:cNvSpPr>
          <p:nvPr>
            <p:ph type="body" sz="quarter" idx="10"/>
          </p:nvPr>
        </p:nvSpPr>
        <p:spPr>
          <a:xfrm>
            <a:off x="381000" y="836712"/>
            <a:ext cx="8382000" cy="415498"/>
          </a:xfrm>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23217"/>
            <a:ext cx="9141515" cy="4667550"/>
          </a:xfrm>
          <a:prstGeom prst="rect">
            <a:avLst/>
          </a:prstGeom>
        </p:spPr>
      </p:pic>
    </p:spTree>
    <p:extLst>
      <p:ext uri="{BB962C8B-B14F-4D97-AF65-F5344CB8AC3E}">
        <p14:creationId xmlns:p14="http://schemas.microsoft.com/office/powerpoint/2010/main" val="1854130556"/>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354722"/>
            <a:ext cx="8382000" cy="553998"/>
          </a:xfrm>
        </p:spPr>
        <p:txBody>
          <a:bodyPr/>
          <a:lstStyle/>
          <a:p>
            <a:r>
              <a:rPr lang="tr-TR" dirty="0" smtClean="0"/>
              <a:t>2019 EULAR Önerileri</a:t>
            </a:r>
            <a:endParaRPr lang="tr-TR" dirty="0"/>
          </a:p>
        </p:txBody>
      </p:sp>
      <p:sp>
        <p:nvSpPr>
          <p:cNvPr id="3" name="Metin Yer Tutucusu 2"/>
          <p:cNvSpPr>
            <a:spLocks noGrp="1"/>
          </p:cNvSpPr>
          <p:nvPr>
            <p:ph type="body" sz="quarter" idx="10"/>
          </p:nvPr>
        </p:nvSpPr>
        <p:spPr>
          <a:xfrm>
            <a:off x="381000" y="836712"/>
            <a:ext cx="8382000" cy="415498"/>
          </a:xfrm>
        </p:spPr>
        <p:txBody>
          <a:bodyPr/>
          <a:lstStyle/>
          <a:p>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778294"/>
            <a:ext cx="9141515" cy="3157396"/>
          </a:xfrm>
          <a:prstGeom prst="rect">
            <a:avLst/>
          </a:prstGeom>
        </p:spPr>
      </p:pic>
    </p:spTree>
    <p:extLst>
      <p:ext uri="{BB962C8B-B14F-4D97-AF65-F5344CB8AC3E}">
        <p14:creationId xmlns:p14="http://schemas.microsoft.com/office/powerpoint/2010/main" val="887211666"/>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260648"/>
            <a:ext cx="8382000" cy="553998"/>
          </a:xfrm>
        </p:spPr>
        <p:txBody>
          <a:bodyPr/>
          <a:lstStyle/>
          <a:p>
            <a:r>
              <a:rPr lang="tr-TR" dirty="0"/>
              <a:t>Tartışma</a:t>
            </a:r>
          </a:p>
        </p:txBody>
      </p:sp>
      <p:sp>
        <p:nvSpPr>
          <p:cNvPr id="5" name="Metin Yer Tutucusu 4"/>
          <p:cNvSpPr>
            <a:spLocks noGrp="1"/>
          </p:cNvSpPr>
          <p:nvPr>
            <p:ph idx="1"/>
          </p:nvPr>
        </p:nvSpPr>
        <p:spPr>
          <a:xfrm>
            <a:off x="381000" y="836712"/>
            <a:ext cx="8382000" cy="5627181"/>
          </a:xfrm>
        </p:spPr>
        <p:txBody>
          <a:bodyPr/>
          <a:lstStyle/>
          <a:p>
            <a:r>
              <a:rPr lang="tr-TR" dirty="0"/>
              <a:t>2016 güncellemesinden bu yana; Avrupa’da birkaç ilaç daha onay aldı. IL-6 reseptör blokeri </a:t>
            </a:r>
            <a:r>
              <a:rPr lang="tr-TR" dirty="0" err="1"/>
              <a:t>sarilumab</a:t>
            </a:r>
            <a:r>
              <a:rPr lang="tr-TR" dirty="0"/>
              <a:t>, JAK inhibitörü </a:t>
            </a:r>
            <a:r>
              <a:rPr lang="tr-TR" dirty="0" err="1"/>
              <a:t>tofacitinib</a:t>
            </a:r>
            <a:r>
              <a:rPr lang="tr-TR" dirty="0"/>
              <a:t> ve </a:t>
            </a:r>
            <a:r>
              <a:rPr lang="tr-TR" dirty="0" err="1"/>
              <a:t>baricitinib</a:t>
            </a:r>
            <a:r>
              <a:rPr lang="tr-TR" dirty="0"/>
              <a:t> gibi ilaçlar ABD ve diğer ülkelerde RA tedavisinde zaten kullanılmaktaydı. </a:t>
            </a:r>
            <a:endParaRPr lang="tr-TR" dirty="0" smtClean="0"/>
          </a:p>
          <a:p>
            <a:r>
              <a:rPr lang="tr-TR" dirty="0" smtClean="0"/>
              <a:t>Nitekim</a:t>
            </a:r>
            <a:r>
              <a:rPr lang="tr-TR" dirty="0"/>
              <a:t>, önerilerde majör değişiklik beklenmiyordu.</a:t>
            </a:r>
          </a:p>
          <a:p>
            <a:r>
              <a:rPr lang="tr-TR" dirty="0"/>
              <a:t>RA da tedavi hedefine ulaşmak için halen birçok tedavi seçeneği mevcut. </a:t>
            </a:r>
            <a:endParaRPr lang="tr-TR" dirty="0" smtClean="0"/>
          </a:p>
          <a:p>
            <a:r>
              <a:rPr lang="tr-TR" dirty="0" err="1" smtClean="0"/>
              <a:t>Mâlesef</a:t>
            </a:r>
            <a:r>
              <a:rPr lang="tr-TR" dirty="0" smtClean="0"/>
              <a:t>; </a:t>
            </a:r>
            <a:r>
              <a:rPr lang="tr-TR" dirty="0"/>
              <a:t>hastaların %20-30 tedavilere dirençli kalıyor. EULAR önerilerinin sonunda bu cevapsız soruları çözmek ve geleceğe ışık tutmak adına Araştırma </a:t>
            </a:r>
            <a:r>
              <a:rPr lang="tr-TR" dirty="0" err="1"/>
              <a:t>Gündemi’ne</a:t>
            </a:r>
            <a:r>
              <a:rPr lang="tr-TR" dirty="0"/>
              <a:t> yer verilmiştir</a:t>
            </a:r>
            <a:r>
              <a:rPr lang="tr-TR" dirty="0" smtClean="0"/>
              <a:t>.</a:t>
            </a:r>
          </a:p>
          <a:p>
            <a:r>
              <a:rPr lang="tr-TR" dirty="0" smtClean="0"/>
              <a:t>3-4 </a:t>
            </a:r>
            <a:r>
              <a:rPr lang="tr-TR" dirty="0"/>
              <a:t>sene sonra yeni bir güncelleme yapılması gerektiğini düşünüyoruz</a:t>
            </a:r>
            <a:r>
              <a:rPr lang="tr-TR" dirty="0" smtClean="0"/>
              <a:t>.</a:t>
            </a:r>
            <a:endParaRPr lang="tr-TR" dirty="0"/>
          </a:p>
        </p:txBody>
      </p:sp>
    </p:spTree>
    <p:extLst>
      <p:ext uri="{BB962C8B-B14F-4D97-AF65-F5344CB8AC3E}">
        <p14:creationId xmlns:p14="http://schemas.microsoft.com/office/powerpoint/2010/main" val="1125480304"/>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endParaRPr lang="tr-TR"/>
          </a:p>
        </p:txBody>
      </p:sp>
      <p:sp>
        <p:nvSpPr>
          <p:cNvPr id="5" name="Metin Yer Tutucusu 4"/>
          <p:cNvSpPr>
            <a:spLocks noGrp="1"/>
          </p:cNvSpPr>
          <p:nvPr>
            <p:ph type="body" sz="quarter" idx="10"/>
          </p:nvPr>
        </p:nvSpPr>
        <p:spPr/>
        <p:txBody>
          <a:bodyPr/>
          <a:lstStyle/>
          <a:p>
            <a:endParaRPr lang="tr-TR"/>
          </a:p>
        </p:txBody>
      </p:sp>
    </p:spTree>
    <p:extLst>
      <p:ext uri="{BB962C8B-B14F-4D97-AF65-F5344CB8AC3E}">
        <p14:creationId xmlns:p14="http://schemas.microsoft.com/office/powerpoint/2010/main" val="838311202"/>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93742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ender.DL.2019">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labalık">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docProps/app.xml><?xml version="1.0" encoding="utf-8"?>
<Properties xmlns="http://schemas.openxmlformats.org/officeDocument/2006/extended-properties" xmlns:vt="http://schemas.openxmlformats.org/officeDocument/2006/docPropsVTypes">
  <TotalTime>8</TotalTime>
  <Words>2626</Words>
  <Application>Microsoft Office PowerPoint</Application>
  <PresentationFormat>Ekran Gösterisi (4:3)</PresentationFormat>
  <Paragraphs>263</Paragraphs>
  <Slides>58</Slides>
  <Notes>0</Notes>
  <HiddenSlides>0</HiddenSlides>
  <MMClips>0</MMClips>
  <ScaleCrop>false</ScaleCrop>
  <HeadingPairs>
    <vt:vector size="4" baseType="variant">
      <vt:variant>
        <vt:lpstr>Tema</vt:lpstr>
      </vt:variant>
      <vt:variant>
        <vt:i4>1</vt:i4>
      </vt:variant>
      <vt:variant>
        <vt:lpstr>Slayt Başlıkları</vt:lpstr>
      </vt:variant>
      <vt:variant>
        <vt:i4>58</vt:i4>
      </vt:variant>
    </vt:vector>
  </HeadingPairs>
  <TitlesOfParts>
    <vt:vector size="59" baseType="lpstr">
      <vt:lpstr>ender.DL.2019</vt:lpstr>
      <vt:lpstr>2019 EULAR  Romatoid Artrit Tedavisinde Sentetik ve Biyolojik DMARD Kullanım Önerileri</vt:lpstr>
      <vt:lpstr>PowerPoint Sunusu</vt:lpstr>
      <vt:lpstr>Özet</vt:lpstr>
      <vt:lpstr>Özet</vt:lpstr>
      <vt:lpstr>Özet</vt:lpstr>
      <vt:lpstr>Özet</vt:lpstr>
      <vt:lpstr>Giriş</vt:lpstr>
      <vt:lpstr>Giriş</vt:lpstr>
      <vt:lpstr>Giriş</vt:lpstr>
      <vt:lpstr>Metot</vt:lpstr>
      <vt:lpstr>Metot</vt:lpstr>
      <vt:lpstr>Sonuçlar</vt:lpstr>
      <vt:lpstr>Sonuçlar</vt:lpstr>
      <vt:lpstr>Ek Bilgi</vt:lpstr>
      <vt:lpstr>DMARD’lar iki sınıfa ayrılır;</vt:lpstr>
      <vt:lpstr>DMARD’lar iki sınıfa ayrılır;</vt:lpstr>
      <vt:lpstr>DMARD’lar iki sınıfa ayrılır;</vt:lpstr>
      <vt:lpstr>PowerPoint Sunusu</vt:lpstr>
      <vt:lpstr>PowerPoint Sunusu</vt:lpstr>
      <vt:lpstr>PowerPoint Sunusu</vt:lpstr>
      <vt:lpstr>PowerPoint Sunusu</vt:lpstr>
      <vt:lpstr>PowerPoint Sunusu</vt:lpstr>
      <vt:lpstr>Genel İlkeler</vt:lpstr>
      <vt:lpstr>Genel İlkeler</vt:lpstr>
      <vt:lpstr>Genel İlkeler</vt:lpstr>
      <vt:lpstr>Genel İlkeler</vt:lpstr>
      <vt:lpstr>Genel İlkeler</vt:lpstr>
      <vt:lpstr>Genel İlkeler</vt:lpstr>
      <vt:lpstr>Genel İlkeler</vt:lpstr>
      <vt:lpstr>Genel İlkeler</vt:lpstr>
      <vt:lpstr>Genel İlkeler</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2019 EULAR Önerileri</vt:lpstr>
      <vt:lpstr>Tartışma</vt:lpstr>
      <vt:lpstr>PowerPoint Sunusu</vt:lpstr>
      <vt:lpstr>PowerPoint Sunusu</vt:lpstr>
    </vt:vector>
  </TitlesOfParts>
  <Company>www.ftronline.com</Company>
  <LinksUpToDate>false</LinksUpToDate>
  <SharedDoc>false</SharedDoc>
  <HyperlinkBase>www.ftronline.com</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2019 EULAR  Romatoid Artrit Tedavisinde Sentetik ve Biyolojik DMARD Kullanım Önerileri</dc:title>
  <dc:subject>www.ftronline.com</dc:subject>
  <dc:creator>Dr. Muhammed Şahin</dc:creator>
  <cp:keywords>www.ftronline.com</cp:keywords>
  <dc:description>www.ftronline.com</dc:description>
  <cp:lastModifiedBy>Dr.Ender Salbaş</cp:lastModifiedBy>
  <cp:revision>6</cp:revision>
  <dcterms:modified xsi:type="dcterms:W3CDTF">2020-06-10T12:03:45Z</dcterms:modified>
  <cp:category>2020 Mayıs Literatür</cp:category>
  <cp:contentStatus>www.ftronline.com</cp:contentStatus>
</cp:coreProperties>
</file>