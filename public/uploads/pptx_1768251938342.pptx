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sldIdLst>
    <p:sldId id="257" r:id="rId2"/>
    <p:sldId id="259" r:id="rId3"/>
    <p:sldId id="318" r:id="rId4"/>
    <p:sldId id="319" r:id="rId5"/>
    <p:sldId id="320" r:id="rId6"/>
    <p:sldId id="321" r:id="rId7"/>
    <p:sldId id="322" r:id="rId8"/>
    <p:sldId id="323" r:id="rId9"/>
    <p:sldId id="324" r:id="rId10"/>
    <p:sldId id="325" r:id="rId11"/>
    <p:sldId id="326" r:id="rId12"/>
    <p:sldId id="327" r:id="rId13"/>
    <p:sldId id="328" r:id="rId14"/>
    <p:sldId id="329" r:id="rId15"/>
    <p:sldId id="330" r:id="rId16"/>
    <p:sldId id="331" r:id="rId17"/>
    <p:sldId id="332" r:id="rId18"/>
    <p:sldId id="333" r:id="rId19"/>
    <p:sldId id="334" r:id="rId20"/>
    <p:sldId id="316" r:id="rId21"/>
    <p:sldId id="317" r:id="rId2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284" y="-2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29E256-B927-4ACC-B556-F6A3F8512439}"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tr-TR"/>
        </a:p>
      </dgm:t>
    </dgm:pt>
    <dgm:pt modelId="{58C9BE71-43B7-45BF-84A2-8CA4F14931DA}">
      <dgm:prSet phldrT="[Metin]"/>
      <dgm:spPr/>
      <dgm:t>
        <a:bodyPr/>
        <a:lstStyle/>
        <a:p>
          <a:r>
            <a:rPr lang="tr-TR" b="1" dirty="0">
              <a:solidFill>
                <a:schemeClr val="bg1"/>
              </a:solidFill>
              <a:latin typeface="Ubuntu" pitchFamily="34" charset="0"/>
            </a:rPr>
            <a:t>Orta-Yüksek </a:t>
          </a:r>
          <a:r>
            <a:rPr lang="tr-TR" b="1" dirty="0" err="1">
              <a:solidFill>
                <a:schemeClr val="bg1"/>
              </a:solidFill>
              <a:latin typeface="Ubuntu" pitchFamily="34" charset="0"/>
            </a:rPr>
            <a:t>aPL</a:t>
          </a:r>
          <a:r>
            <a:rPr lang="tr-TR" b="1" dirty="0">
              <a:solidFill>
                <a:schemeClr val="bg1"/>
              </a:solidFill>
              <a:latin typeface="Ubuntu" pitchFamily="34" charset="0"/>
            </a:rPr>
            <a:t> Titresi </a:t>
          </a:r>
        </a:p>
      </dgm:t>
    </dgm:pt>
    <dgm:pt modelId="{41353EA5-87F1-459C-97EF-2BDE915022A7}" type="parTrans" cxnId="{14F12841-1382-414C-8916-1143A4B42FCF}">
      <dgm:prSet/>
      <dgm:spPr/>
      <dgm:t>
        <a:bodyPr/>
        <a:lstStyle/>
        <a:p>
          <a:endParaRPr lang="tr-TR">
            <a:latin typeface="Ubuntu" pitchFamily="34" charset="0"/>
          </a:endParaRPr>
        </a:p>
      </dgm:t>
    </dgm:pt>
    <dgm:pt modelId="{9F8EB6BE-EF0F-4BAD-A856-718FF6DF1C01}" type="sibTrans" cxnId="{14F12841-1382-414C-8916-1143A4B42FCF}">
      <dgm:prSet/>
      <dgm:spPr/>
      <dgm:t>
        <a:bodyPr/>
        <a:lstStyle/>
        <a:p>
          <a:endParaRPr lang="tr-TR">
            <a:latin typeface="Ubuntu" pitchFamily="34" charset="0"/>
          </a:endParaRPr>
        </a:p>
      </dgm:t>
    </dgm:pt>
    <dgm:pt modelId="{7686644E-89A0-4CD0-B126-779C5F519E4D}">
      <dgm:prSet phldrT="[Metin]" custT="1"/>
      <dgm:spPr/>
      <dgm:t>
        <a:bodyPr/>
        <a:lstStyle/>
        <a:p>
          <a:pPr>
            <a:lnSpc>
              <a:spcPct val="100000"/>
            </a:lnSpc>
          </a:pPr>
          <a:r>
            <a:rPr lang="tr-TR" sz="1800" dirty="0">
              <a:latin typeface="Ubuntu" pitchFamily="34" charset="0"/>
            </a:rPr>
            <a:t>Standart ELISA ile yapılan serum/plazmada Antikardiyolipin (IgM ya da IgG  izotipleri) </a:t>
          </a:r>
          <a:r>
            <a:rPr lang="tr-TR" sz="1800" dirty="0" smtClean="0">
              <a:latin typeface="Ubuntu" pitchFamily="34" charset="0"/>
            </a:rPr>
            <a:t>antikorların  </a:t>
          </a:r>
          <a:r>
            <a:rPr lang="tr-TR" sz="1800" dirty="0">
              <a:latin typeface="Ubuntu" pitchFamily="34" charset="0"/>
            </a:rPr>
            <a:t>titresinin &gt;40 olması  </a:t>
          </a:r>
        </a:p>
      </dgm:t>
    </dgm:pt>
    <dgm:pt modelId="{49739B81-9DAB-467F-8CD2-D4B8AAB886AC}" type="parTrans" cxnId="{F6C11B66-B81A-45F8-BCC1-20A0715972C2}">
      <dgm:prSet/>
      <dgm:spPr/>
      <dgm:t>
        <a:bodyPr/>
        <a:lstStyle/>
        <a:p>
          <a:endParaRPr lang="tr-TR">
            <a:latin typeface="Ubuntu" pitchFamily="34" charset="0"/>
          </a:endParaRPr>
        </a:p>
      </dgm:t>
    </dgm:pt>
    <dgm:pt modelId="{DF469EC1-F315-48E8-821C-BA544F91DE39}" type="sibTrans" cxnId="{F6C11B66-B81A-45F8-BCC1-20A0715972C2}">
      <dgm:prSet/>
      <dgm:spPr/>
      <dgm:t>
        <a:bodyPr/>
        <a:lstStyle/>
        <a:p>
          <a:endParaRPr lang="tr-TR">
            <a:latin typeface="Ubuntu" pitchFamily="34" charset="0"/>
          </a:endParaRPr>
        </a:p>
      </dgm:t>
    </dgm:pt>
    <dgm:pt modelId="{59985350-1465-4757-A1B8-DBA5A30E1034}">
      <dgm:prSet phldrT="[Metin]" custT="1"/>
      <dgm:spPr/>
      <dgm:t>
        <a:bodyPr/>
        <a:lstStyle/>
        <a:p>
          <a:pPr>
            <a:lnSpc>
              <a:spcPct val="100000"/>
            </a:lnSpc>
          </a:pPr>
          <a:r>
            <a:rPr lang="tr-TR" sz="1800">
              <a:latin typeface="Ubuntu" pitchFamily="34" charset="0"/>
            </a:rPr>
            <a:t>Standart ELISA ile yapılan serum/plazmada Antibeta2 Glikoprotein I antikorlarının ( IgM ya da IgG izotipleri) titresinin &gt; %99 olması</a:t>
          </a:r>
        </a:p>
      </dgm:t>
    </dgm:pt>
    <dgm:pt modelId="{5AC6779D-3F12-411C-BE7A-DBC0ABA6CB4D}" type="parTrans" cxnId="{8D80DA6F-61BB-411F-87CE-1D4ED4C18B17}">
      <dgm:prSet/>
      <dgm:spPr/>
      <dgm:t>
        <a:bodyPr/>
        <a:lstStyle/>
        <a:p>
          <a:endParaRPr lang="tr-TR">
            <a:latin typeface="Ubuntu" pitchFamily="34" charset="0"/>
          </a:endParaRPr>
        </a:p>
      </dgm:t>
    </dgm:pt>
    <dgm:pt modelId="{BEA600DC-7E9A-4A73-B35F-41F47BBC4B9A}" type="sibTrans" cxnId="{8D80DA6F-61BB-411F-87CE-1D4ED4C18B17}">
      <dgm:prSet/>
      <dgm:spPr/>
      <dgm:t>
        <a:bodyPr/>
        <a:lstStyle/>
        <a:p>
          <a:endParaRPr lang="tr-TR">
            <a:latin typeface="Ubuntu" pitchFamily="34" charset="0"/>
          </a:endParaRPr>
        </a:p>
      </dgm:t>
    </dgm:pt>
    <dgm:pt modelId="{EB8D397A-C7AB-4C1A-9D3A-4427996B02F6}">
      <dgm:prSet phldrT="[Metin]"/>
      <dgm:spPr/>
      <dgm:t>
        <a:bodyPr/>
        <a:lstStyle/>
        <a:p>
          <a:r>
            <a:rPr lang="tr-TR" b="1">
              <a:solidFill>
                <a:schemeClr val="bg1"/>
              </a:solidFill>
              <a:latin typeface="Ubuntu" pitchFamily="34" charset="0"/>
            </a:rPr>
            <a:t>Yüksek Riskli aPL Profili</a:t>
          </a:r>
        </a:p>
      </dgm:t>
    </dgm:pt>
    <dgm:pt modelId="{03EE9325-83C1-4D68-9838-ED1AB25048FA}" type="parTrans" cxnId="{C5DDD67D-0781-4AE1-8351-9C289CF2F557}">
      <dgm:prSet/>
      <dgm:spPr/>
      <dgm:t>
        <a:bodyPr/>
        <a:lstStyle/>
        <a:p>
          <a:endParaRPr lang="tr-TR">
            <a:latin typeface="Ubuntu" pitchFamily="34" charset="0"/>
          </a:endParaRPr>
        </a:p>
      </dgm:t>
    </dgm:pt>
    <dgm:pt modelId="{46920BA6-944A-4EC5-8E3A-4E6FEE94BFE5}" type="sibTrans" cxnId="{C5DDD67D-0781-4AE1-8351-9C289CF2F557}">
      <dgm:prSet/>
      <dgm:spPr/>
      <dgm:t>
        <a:bodyPr/>
        <a:lstStyle/>
        <a:p>
          <a:endParaRPr lang="tr-TR">
            <a:latin typeface="Ubuntu" pitchFamily="34" charset="0"/>
          </a:endParaRPr>
        </a:p>
      </dgm:t>
    </dgm:pt>
    <dgm:pt modelId="{20C7D01B-A39C-4747-80F6-3A16FA6844E6}">
      <dgm:prSet phldrT="[Metin]" custT="1"/>
      <dgm:spPr/>
      <dgm:t>
        <a:bodyPr/>
        <a:lstStyle/>
        <a:p>
          <a:pPr>
            <a:lnSpc>
              <a:spcPct val="100000"/>
            </a:lnSpc>
          </a:pPr>
          <a:r>
            <a:rPr lang="tr-TR" sz="1800">
              <a:latin typeface="Ubuntu" pitchFamily="34" charset="0"/>
            </a:rPr>
            <a:t>12 hafta ara ile yapılmış 2 ve üzeri lupus antikoagülanı pozitifliği</a:t>
          </a:r>
        </a:p>
      </dgm:t>
    </dgm:pt>
    <dgm:pt modelId="{5F834939-B56E-4E5B-9239-46B9E821680A}" type="parTrans" cxnId="{73C7141A-9373-4481-9808-C62219022007}">
      <dgm:prSet/>
      <dgm:spPr/>
      <dgm:t>
        <a:bodyPr/>
        <a:lstStyle/>
        <a:p>
          <a:endParaRPr lang="tr-TR">
            <a:latin typeface="Ubuntu" pitchFamily="34" charset="0"/>
          </a:endParaRPr>
        </a:p>
      </dgm:t>
    </dgm:pt>
    <dgm:pt modelId="{AEA9D119-551D-4529-AAE5-4473EE14C400}" type="sibTrans" cxnId="{73C7141A-9373-4481-9808-C62219022007}">
      <dgm:prSet/>
      <dgm:spPr/>
      <dgm:t>
        <a:bodyPr/>
        <a:lstStyle/>
        <a:p>
          <a:endParaRPr lang="tr-TR">
            <a:latin typeface="Ubuntu" pitchFamily="34" charset="0"/>
          </a:endParaRPr>
        </a:p>
      </dgm:t>
    </dgm:pt>
    <dgm:pt modelId="{154B8832-5D9F-4790-A7BD-656D50A73174}">
      <dgm:prSet phldrT="[Metin]" custT="1"/>
      <dgm:spPr/>
      <dgm:t>
        <a:bodyPr/>
        <a:lstStyle/>
        <a:p>
          <a:pPr>
            <a:lnSpc>
              <a:spcPct val="100000"/>
            </a:lnSpc>
          </a:pPr>
          <a:r>
            <a:rPr lang="tr-TR" sz="1800">
              <a:latin typeface="Ubuntu" pitchFamily="34" charset="0"/>
            </a:rPr>
            <a:t>aPL antikorlardan herhangi iki ya da üçünün birlikte pozitif olması</a:t>
          </a:r>
        </a:p>
      </dgm:t>
    </dgm:pt>
    <dgm:pt modelId="{0284AB81-4286-45CF-92AD-F873E3090F12}" type="parTrans" cxnId="{5DC34FA6-BB5A-41B6-A281-810438045653}">
      <dgm:prSet/>
      <dgm:spPr/>
      <dgm:t>
        <a:bodyPr/>
        <a:lstStyle/>
        <a:p>
          <a:endParaRPr lang="tr-TR">
            <a:latin typeface="Ubuntu" pitchFamily="34" charset="0"/>
          </a:endParaRPr>
        </a:p>
      </dgm:t>
    </dgm:pt>
    <dgm:pt modelId="{D79D83A2-AED4-4561-91CB-77268CFC28C6}" type="sibTrans" cxnId="{5DC34FA6-BB5A-41B6-A281-810438045653}">
      <dgm:prSet/>
      <dgm:spPr/>
      <dgm:t>
        <a:bodyPr/>
        <a:lstStyle/>
        <a:p>
          <a:endParaRPr lang="tr-TR">
            <a:latin typeface="Ubuntu" pitchFamily="34" charset="0"/>
          </a:endParaRPr>
        </a:p>
      </dgm:t>
    </dgm:pt>
    <dgm:pt modelId="{F5285335-0391-4C07-B807-E1F33939D429}">
      <dgm:prSet phldrT="[Metin]"/>
      <dgm:spPr/>
      <dgm:t>
        <a:bodyPr/>
        <a:lstStyle/>
        <a:p>
          <a:r>
            <a:rPr lang="tr-TR" b="1">
              <a:solidFill>
                <a:schemeClr val="bg1"/>
              </a:solidFill>
              <a:latin typeface="Ubuntu" pitchFamily="34" charset="0"/>
            </a:rPr>
            <a:t>Düşük Riskli aPL Profili</a:t>
          </a:r>
        </a:p>
      </dgm:t>
    </dgm:pt>
    <dgm:pt modelId="{DE1979F8-98CD-443C-9905-2F9B46501E0E}" type="parTrans" cxnId="{F1815E2D-5FF5-4F84-96F7-F0F001A1B6A0}">
      <dgm:prSet/>
      <dgm:spPr/>
      <dgm:t>
        <a:bodyPr/>
        <a:lstStyle/>
        <a:p>
          <a:endParaRPr lang="tr-TR">
            <a:latin typeface="Ubuntu" pitchFamily="34" charset="0"/>
          </a:endParaRPr>
        </a:p>
      </dgm:t>
    </dgm:pt>
    <dgm:pt modelId="{895978E8-C598-4BA5-8C05-2478359CD11A}" type="sibTrans" cxnId="{F1815E2D-5FF5-4F84-96F7-F0F001A1B6A0}">
      <dgm:prSet/>
      <dgm:spPr/>
      <dgm:t>
        <a:bodyPr/>
        <a:lstStyle/>
        <a:p>
          <a:endParaRPr lang="tr-TR">
            <a:latin typeface="Ubuntu" pitchFamily="34" charset="0"/>
          </a:endParaRPr>
        </a:p>
      </dgm:t>
    </dgm:pt>
    <dgm:pt modelId="{C57C8EF1-4BCD-4E8A-B44F-E97500A02F2C}">
      <dgm:prSet phldrT="[Metin]" custT="1"/>
      <dgm:spPr/>
      <dgm:t>
        <a:bodyPr/>
        <a:lstStyle/>
        <a:p>
          <a:pPr>
            <a:lnSpc>
              <a:spcPct val="100000"/>
            </a:lnSpc>
          </a:pPr>
          <a:r>
            <a:rPr lang="tr-TR" sz="1800">
              <a:latin typeface="Ubuntu" pitchFamily="34" charset="0"/>
            </a:rPr>
            <a:t>İzole antikardiyolipin ya da antibeta2 Glikoprotein antikorlarının düşük-orta titrede, geçici olabilen pozitifliği</a:t>
          </a:r>
        </a:p>
      </dgm:t>
    </dgm:pt>
    <dgm:pt modelId="{1F39229E-C39D-406D-9147-D887F4AF490E}" type="parTrans" cxnId="{4D50E1B0-2E29-4073-AE9A-02E109413987}">
      <dgm:prSet/>
      <dgm:spPr/>
      <dgm:t>
        <a:bodyPr/>
        <a:lstStyle/>
        <a:p>
          <a:endParaRPr lang="tr-TR">
            <a:latin typeface="Ubuntu" pitchFamily="34" charset="0"/>
          </a:endParaRPr>
        </a:p>
      </dgm:t>
    </dgm:pt>
    <dgm:pt modelId="{D943D811-7546-43E7-8CF2-ADECA530436D}" type="sibTrans" cxnId="{4D50E1B0-2E29-4073-AE9A-02E109413987}">
      <dgm:prSet/>
      <dgm:spPr/>
      <dgm:t>
        <a:bodyPr/>
        <a:lstStyle/>
        <a:p>
          <a:endParaRPr lang="tr-TR">
            <a:latin typeface="Ubuntu" pitchFamily="34" charset="0"/>
          </a:endParaRPr>
        </a:p>
      </dgm:t>
    </dgm:pt>
    <dgm:pt modelId="{ED449A20-10EE-41E0-9713-216BF94E15C1}">
      <dgm:prSet phldrT="[Metin]" custT="1"/>
      <dgm:spPr/>
      <dgm:t>
        <a:bodyPr/>
        <a:lstStyle/>
        <a:p>
          <a:pPr>
            <a:lnSpc>
              <a:spcPct val="100000"/>
            </a:lnSpc>
          </a:pPr>
          <a:r>
            <a:rPr lang="tr-TR" sz="1800">
              <a:latin typeface="Ubuntu" pitchFamily="34" charset="0"/>
            </a:rPr>
            <a:t>Persiste eden yüksek aPL titreleri</a:t>
          </a:r>
        </a:p>
      </dgm:t>
    </dgm:pt>
    <dgm:pt modelId="{938C638F-2C6A-4F40-B3FE-AF46A3EB64FB}" type="parTrans" cxnId="{2F487466-09D1-403E-A008-B4BF3D1D265C}">
      <dgm:prSet/>
      <dgm:spPr/>
      <dgm:t>
        <a:bodyPr/>
        <a:lstStyle/>
        <a:p>
          <a:endParaRPr lang="tr-TR">
            <a:latin typeface="Ubuntu" pitchFamily="34" charset="0"/>
          </a:endParaRPr>
        </a:p>
      </dgm:t>
    </dgm:pt>
    <dgm:pt modelId="{BE44A6AF-8833-4698-A467-50148D273C59}" type="sibTrans" cxnId="{2F487466-09D1-403E-A008-B4BF3D1D265C}">
      <dgm:prSet/>
      <dgm:spPr/>
      <dgm:t>
        <a:bodyPr/>
        <a:lstStyle/>
        <a:p>
          <a:endParaRPr lang="tr-TR">
            <a:latin typeface="Ubuntu" pitchFamily="34" charset="0"/>
          </a:endParaRPr>
        </a:p>
      </dgm:t>
    </dgm:pt>
    <dgm:pt modelId="{A757FA3A-797E-43BC-B141-80E119DD9D5F}" type="pres">
      <dgm:prSet presAssocID="{9629E256-B927-4ACC-B556-F6A3F8512439}" presName="Name0" presStyleCnt="0">
        <dgm:presLayoutVars>
          <dgm:dir/>
          <dgm:animLvl val="lvl"/>
          <dgm:resizeHandles val="exact"/>
        </dgm:presLayoutVars>
      </dgm:prSet>
      <dgm:spPr/>
      <dgm:t>
        <a:bodyPr/>
        <a:lstStyle/>
        <a:p>
          <a:endParaRPr lang="tr-TR"/>
        </a:p>
      </dgm:t>
    </dgm:pt>
    <dgm:pt modelId="{F093EC15-A53D-4C62-AA1F-A5689E86CE2A}" type="pres">
      <dgm:prSet presAssocID="{58C9BE71-43B7-45BF-84A2-8CA4F14931DA}" presName="composite" presStyleCnt="0"/>
      <dgm:spPr/>
      <dgm:t>
        <a:bodyPr/>
        <a:lstStyle/>
        <a:p>
          <a:endParaRPr lang="tr-TR"/>
        </a:p>
      </dgm:t>
    </dgm:pt>
    <dgm:pt modelId="{F9BB9BB6-2A20-4FE6-97EC-68DE6EF467CF}" type="pres">
      <dgm:prSet presAssocID="{58C9BE71-43B7-45BF-84A2-8CA4F14931DA}" presName="parTx" presStyleLbl="alignNode1" presStyleIdx="0" presStyleCnt="3">
        <dgm:presLayoutVars>
          <dgm:chMax val="0"/>
          <dgm:chPref val="0"/>
          <dgm:bulletEnabled val="1"/>
        </dgm:presLayoutVars>
      </dgm:prSet>
      <dgm:spPr/>
      <dgm:t>
        <a:bodyPr/>
        <a:lstStyle/>
        <a:p>
          <a:endParaRPr lang="tr-TR"/>
        </a:p>
      </dgm:t>
    </dgm:pt>
    <dgm:pt modelId="{09FE5489-E6AF-4B5A-964D-7F7AD80899DE}" type="pres">
      <dgm:prSet presAssocID="{58C9BE71-43B7-45BF-84A2-8CA4F14931DA}" presName="desTx" presStyleLbl="alignAccFollowNode1" presStyleIdx="0" presStyleCnt="3">
        <dgm:presLayoutVars>
          <dgm:bulletEnabled val="1"/>
        </dgm:presLayoutVars>
      </dgm:prSet>
      <dgm:spPr/>
      <dgm:t>
        <a:bodyPr/>
        <a:lstStyle/>
        <a:p>
          <a:endParaRPr lang="tr-TR"/>
        </a:p>
      </dgm:t>
    </dgm:pt>
    <dgm:pt modelId="{70A0D641-299A-42DF-8D12-F42463DA624C}" type="pres">
      <dgm:prSet presAssocID="{9F8EB6BE-EF0F-4BAD-A856-718FF6DF1C01}" presName="space" presStyleCnt="0"/>
      <dgm:spPr/>
      <dgm:t>
        <a:bodyPr/>
        <a:lstStyle/>
        <a:p>
          <a:endParaRPr lang="tr-TR"/>
        </a:p>
      </dgm:t>
    </dgm:pt>
    <dgm:pt modelId="{BA01749D-F700-4630-8E14-24B8CAC1082C}" type="pres">
      <dgm:prSet presAssocID="{EB8D397A-C7AB-4C1A-9D3A-4427996B02F6}" presName="composite" presStyleCnt="0"/>
      <dgm:spPr/>
      <dgm:t>
        <a:bodyPr/>
        <a:lstStyle/>
        <a:p>
          <a:endParaRPr lang="tr-TR"/>
        </a:p>
      </dgm:t>
    </dgm:pt>
    <dgm:pt modelId="{D62A75D1-E557-4B98-81FB-C49C88D6BF7E}" type="pres">
      <dgm:prSet presAssocID="{EB8D397A-C7AB-4C1A-9D3A-4427996B02F6}" presName="parTx" presStyleLbl="alignNode1" presStyleIdx="1" presStyleCnt="3">
        <dgm:presLayoutVars>
          <dgm:chMax val="0"/>
          <dgm:chPref val="0"/>
          <dgm:bulletEnabled val="1"/>
        </dgm:presLayoutVars>
      </dgm:prSet>
      <dgm:spPr/>
      <dgm:t>
        <a:bodyPr/>
        <a:lstStyle/>
        <a:p>
          <a:endParaRPr lang="tr-TR"/>
        </a:p>
      </dgm:t>
    </dgm:pt>
    <dgm:pt modelId="{DF38A2B6-269E-4E12-9481-478CA2F94472}" type="pres">
      <dgm:prSet presAssocID="{EB8D397A-C7AB-4C1A-9D3A-4427996B02F6}" presName="desTx" presStyleLbl="alignAccFollowNode1" presStyleIdx="1" presStyleCnt="3">
        <dgm:presLayoutVars>
          <dgm:bulletEnabled val="1"/>
        </dgm:presLayoutVars>
      </dgm:prSet>
      <dgm:spPr/>
      <dgm:t>
        <a:bodyPr/>
        <a:lstStyle/>
        <a:p>
          <a:endParaRPr lang="tr-TR"/>
        </a:p>
      </dgm:t>
    </dgm:pt>
    <dgm:pt modelId="{1465CA9D-B3D7-442A-A6E5-02926149A3B6}" type="pres">
      <dgm:prSet presAssocID="{46920BA6-944A-4EC5-8E3A-4E6FEE94BFE5}" presName="space" presStyleCnt="0"/>
      <dgm:spPr/>
      <dgm:t>
        <a:bodyPr/>
        <a:lstStyle/>
        <a:p>
          <a:endParaRPr lang="tr-TR"/>
        </a:p>
      </dgm:t>
    </dgm:pt>
    <dgm:pt modelId="{E1A75F4C-FBBF-4741-B1AA-9F2AA463186D}" type="pres">
      <dgm:prSet presAssocID="{F5285335-0391-4C07-B807-E1F33939D429}" presName="composite" presStyleCnt="0"/>
      <dgm:spPr/>
      <dgm:t>
        <a:bodyPr/>
        <a:lstStyle/>
        <a:p>
          <a:endParaRPr lang="tr-TR"/>
        </a:p>
      </dgm:t>
    </dgm:pt>
    <dgm:pt modelId="{96E9080E-4397-46D6-AB56-5961D163C822}" type="pres">
      <dgm:prSet presAssocID="{F5285335-0391-4C07-B807-E1F33939D429}" presName="parTx" presStyleLbl="alignNode1" presStyleIdx="2" presStyleCnt="3">
        <dgm:presLayoutVars>
          <dgm:chMax val="0"/>
          <dgm:chPref val="0"/>
          <dgm:bulletEnabled val="1"/>
        </dgm:presLayoutVars>
      </dgm:prSet>
      <dgm:spPr/>
      <dgm:t>
        <a:bodyPr/>
        <a:lstStyle/>
        <a:p>
          <a:endParaRPr lang="tr-TR"/>
        </a:p>
      </dgm:t>
    </dgm:pt>
    <dgm:pt modelId="{288CC674-226B-4FE2-A817-988D3E094EF4}" type="pres">
      <dgm:prSet presAssocID="{F5285335-0391-4C07-B807-E1F33939D429}" presName="desTx" presStyleLbl="alignAccFollowNode1" presStyleIdx="2" presStyleCnt="3">
        <dgm:presLayoutVars>
          <dgm:bulletEnabled val="1"/>
        </dgm:presLayoutVars>
      </dgm:prSet>
      <dgm:spPr/>
      <dgm:t>
        <a:bodyPr/>
        <a:lstStyle/>
        <a:p>
          <a:endParaRPr lang="tr-TR"/>
        </a:p>
      </dgm:t>
    </dgm:pt>
  </dgm:ptLst>
  <dgm:cxnLst>
    <dgm:cxn modelId="{C5DDD67D-0781-4AE1-8351-9C289CF2F557}" srcId="{9629E256-B927-4ACC-B556-F6A3F8512439}" destId="{EB8D397A-C7AB-4C1A-9D3A-4427996B02F6}" srcOrd="1" destOrd="0" parTransId="{03EE9325-83C1-4D68-9838-ED1AB25048FA}" sibTransId="{46920BA6-944A-4EC5-8E3A-4E6FEE94BFE5}"/>
    <dgm:cxn modelId="{F1815E2D-5FF5-4F84-96F7-F0F001A1B6A0}" srcId="{9629E256-B927-4ACC-B556-F6A3F8512439}" destId="{F5285335-0391-4C07-B807-E1F33939D429}" srcOrd="2" destOrd="0" parTransId="{DE1979F8-98CD-443C-9905-2F9B46501E0E}" sibTransId="{895978E8-C598-4BA5-8C05-2478359CD11A}"/>
    <dgm:cxn modelId="{E9E145D0-E0AE-48F2-BE60-EF943E4AC075}" type="presOf" srcId="{ED449A20-10EE-41E0-9713-216BF94E15C1}" destId="{DF38A2B6-269E-4E12-9481-478CA2F94472}" srcOrd="0" destOrd="2" presId="urn:microsoft.com/office/officeart/2005/8/layout/hList1"/>
    <dgm:cxn modelId="{C49814AD-939E-410C-AECB-B443A52C2FDB}" type="presOf" srcId="{154B8832-5D9F-4790-A7BD-656D50A73174}" destId="{DF38A2B6-269E-4E12-9481-478CA2F94472}" srcOrd="0" destOrd="1" presId="urn:microsoft.com/office/officeart/2005/8/layout/hList1"/>
    <dgm:cxn modelId="{4D50E1B0-2E29-4073-AE9A-02E109413987}" srcId="{F5285335-0391-4C07-B807-E1F33939D429}" destId="{C57C8EF1-4BCD-4E8A-B44F-E97500A02F2C}" srcOrd="0" destOrd="0" parTransId="{1F39229E-C39D-406D-9147-D887F4AF490E}" sibTransId="{D943D811-7546-43E7-8CF2-ADECA530436D}"/>
    <dgm:cxn modelId="{8D80DA6F-61BB-411F-87CE-1D4ED4C18B17}" srcId="{58C9BE71-43B7-45BF-84A2-8CA4F14931DA}" destId="{59985350-1465-4757-A1B8-DBA5A30E1034}" srcOrd="1" destOrd="0" parTransId="{5AC6779D-3F12-411C-BE7A-DBC0ABA6CB4D}" sibTransId="{BEA600DC-7E9A-4A73-B35F-41F47BBC4B9A}"/>
    <dgm:cxn modelId="{106DF4AE-8289-4A05-AA04-97EDBBE999C6}" type="presOf" srcId="{59985350-1465-4757-A1B8-DBA5A30E1034}" destId="{09FE5489-E6AF-4B5A-964D-7F7AD80899DE}" srcOrd="0" destOrd="1" presId="urn:microsoft.com/office/officeart/2005/8/layout/hList1"/>
    <dgm:cxn modelId="{73C7141A-9373-4481-9808-C62219022007}" srcId="{EB8D397A-C7AB-4C1A-9D3A-4427996B02F6}" destId="{20C7D01B-A39C-4747-80F6-3A16FA6844E6}" srcOrd="0" destOrd="0" parTransId="{5F834939-B56E-4E5B-9239-46B9E821680A}" sibTransId="{AEA9D119-551D-4529-AAE5-4473EE14C400}"/>
    <dgm:cxn modelId="{50B651B5-63AE-412C-A2EF-6BA88FCB0713}" type="presOf" srcId="{7686644E-89A0-4CD0-B126-779C5F519E4D}" destId="{09FE5489-E6AF-4B5A-964D-7F7AD80899DE}" srcOrd="0" destOrd="0" presId="urn:microsoft.com/office/officeart/2005/8/layout/hList1"/>
    <dgm:cxn modelId="{5DC34FA6-BB5A-41B6-A281-810438045653}" srcId="{EB8D397A-C7AB-4C1A-9D3A-4427996B02F6}" destId="{154B8832-5D9F-4790-A7BD-656D50A73174}" srcOrd="1" destOrd="0" parTransId="{0284AB81-4286-45CF-92AD-F873E3090F12}" sibTransId="{D79D83A2-AED4-4561-91CB-77268CFC28C6}"/>
    <dgm:cxn modelId="{E9EC1683-F91D-433E-A0BF-B428D6522DE7}" type="presOf" srcId="{58C9BE71-43B7-45BF-84A2-8CA4F14931DA}" destId="{F9BB9BB6-2A20-4FE6-97EC-68DE6EF467CF}" srcOrd="0" destOrd="0" presId="urn:microsoft.com/office/officeart/2005/8/layout/hList1"/>
    <dgm:cxn modelId="{83A50645-E20B-4404-A9A0-8FF677F6F1C6}" type="presOf" srcId="{EB8D397A-C7AB-4C1A-9D3A-4427996B02F6}" destId="{D62A75D1-E557-4B98-81FB-C49C88D6BF7E}" srcOrd="0" destOrd="0" presId="urn:microsoft.com/office/officeart/2005/8/layout/hList1"/>
    <dgm:cxn modelId="{35A4C4AE-C804-42D3-8A75-3AC5CAB4EA44}" type="presOf" srcId="{F5285335-0391-4C07-B807-E1F33939D429}" destId="{96E9080E-4397-46D6-AB56-5961D163C822}" srcOrd="0" destOrd="0" presId="urn:microsoft.com/office/officeart/2005/8/layout/hList1"/>
    <dgm:cxn modelId="{F6C11B66-B81A-45F8-BCC1-20A0715972C2}" srcId="{58C9BE71-43B7-45BF-84A2-8CA4F14931DA}" destId="{7686644E-89A0-4CD0-B126-779C5F519E4D}" srcOrd="0" destOrd="0" parTransId="{49739B81-9DAB-467F-8CD2-D4B8AAB886AC}" sibTransId="{DF469EC1-F315-48E8-821C-BA544F91DE39}"/>
    <dgm:cxn modelId="{14F12841-1382-414C-8916-1143A4B42FCF}" srcId="{9629E256-B927-4ACC-B556-F6A3F8512439}" destId="{58C9BE71-43B7-45BF-84A2-8CA4F14931DA}" srcOrd="0" destOrd="0" parTransId="{41353EA5-87F1-459C-97EF-2BDE915022A7}" sibTransId="{9F8EB6BE-EF0F-4BAD-A856-718FF6DF1C01}"/>
    <dgm:cxn modelId="{14B23064-2AF2-4244-8862-FE214C3CC7EB}" type="presOf" srcId="{20C7D01B-A39C-4747-80F6-3A16FA6844E6}" destId="{DF38A2B6-269E-4E12-9481-478CA2F94472}" srcOrd="0" destOrd="0" presId="urn:microsoft.com/office/officeart/2005/8/layout/hList1"/>
    <dgm:cxn modelId="{4DA4F171-EE2E-4A9B-8522-C4622B7FA3D9}" type="presOf" srcId="{9629E256-B927-4ACC-B556-F6A3F8512439}" destId="{A757FA3A-797E-43BC-B141-80E119DD9D5F}" srcOrd="0" destOrd="0" presId="urn:microsoft.com/office/officeart/2005/8/layout/hList1"/>
    <dgm:cxn modelId="{2F487466-09D1-403E-A008-B4BF3D1D265C}" srcId="{EB8D397A-C7AB-4C1A-9D3A-4427996B02F6}" destId="{ED449A20-10EE-41E0-9713-216BF94E15C1}" srcOrd="2" destOrd="0" parTransId="{938C638F-2C6A-4F40-B3FE-AF46A3EB64FB}" sibTransId="{BE44A6AF-8833-4698-A467-50148D273C59}"/>
    <dgm:cxn modelId="{E580AD19-3BC8-4CFE-BD5B-79A6F71B3048}" type="presOf" srcId="{C57C8EF1-4BCD-4E8A-B44F-E97500A02F2C}" destId="{288CC674-226B-4FE2-A817-988D3E094EF4}" srcOrd="0" destOrd="0" presId="urn:microsoft.com/office/officeart/2005/8/layout/hList1"/>
    <dgm:cxn modelId="{DC08EF85-498C-4DA7-BA25-B5B5287095FC}" type="presParOf" srcId="{A757FA3A-797E-43BC-B141-80E119DD9D5F}" destId="{F093EC15-A53D-4C62-AA1F-A5689E86CE2A}" srcOrd="0" destOrd="0" presId="urn:microsoft.com/office/officeart/2005/8/layout/hList1"/>
    <dgm:cxn modelId="{022FBAAB-7E03-4E9E-8668-0DC8C259281F}" type="presParOf" srcId="{F093EC15-A53D-4C62-AA1F-A5689E86CE2A}" destId="{F9BB9BB6-2A20-4FE6-97EC-68DE6EF467CF}" srcOrd="0" destOrd="0" presId="urn:microsoft.com/office/officeart/2005/8/layout/hList1"/>
    <dgm:cxn modelId="{B10A83D0-7D35-4C5C-8D12-6161FB6CBEB2}" type="presParOf" srcId="{F093EC15-A53D-4C62-AA1F-A5689E86CE2A}" destId="{09FE5489-E6AF-4B5A-964D-7F7AD80899DE}" srcOrd="1" destOrd="0" presId="urn:microsoft.com/office/officeart/2005/8/layout/hList1"/>
    <dgm:cxn modelId="{F2BA7362-D3A3-447D-B700-75B5D8EAE429}" type="presParOf" srcId="{A757FA3A-797E-43BC-B141-80E119DD9D5F}" destId="{70A0D641-299A-42DF-8D12-F42463DA624C}" srcOrd="1" destOrd="0" presId="urn:microsoft.com/office/officeart/2005/8/layout/hList1"/>
    <dgm:cxn modelId="{1EE3B80D-0184-42B4-9E10-4A48BEB8DF00}" type="presParOf" srcId="{A757FA3A-797E-43BC-B141-80E119DD9D5F}" destId="{BA01749D-F700-4630-8E14-24B8CAC1082C}" srcOrd="2" destOrd="0" presId="urn:microsoft.com/office/officeart/2005/8/layout/hList1"/>
    <dgm:cxn modelId="{FB9AD507-664D-469F-9E0F-B516B0638B8F}" type="presParOf" srcId="{BA01749D-F700-4630-8E14-24B8CAC1082C}" destId="{D62A75D1-E557-4B98-81FB-C49C88D6BF7E}" srcOrd="0" destOrd="0" presId="urn:microsoft.com/office/officeart/2005/8/layout/hList1"/>
    <dgm:cxn modelId="{86D84C7D-BD82-4FF0-910B-7CC3D84C7E8E}" type="presParOf" srcId="{BA01749D-F700-4630-8E14-24B8CAC1082C}" destId="{DF38A2B6-269E-4E12-9481-478CA2F94472}" srcOrd="1" destOrd="0" presId="urn:microsoft.com/office/officeart/2005/8/layout/hList1"/>
    <dgm:cxn modelId="{FD8D3408-9458-4035-9B88-0C777D235BC3}" type="presParOf" srcId="{A757FA3A-797E-43BC-B141-80E119DD9D5F}" destId="{1465CA9D-B3D7-442A-A6E5-02926149A3B6}" srcOrd="3" destOrd="0" presId="urn:microsoft.com/office/officeart/2005/8/layout/hList1"/>
    <dgm:cxn modelId="{24D183D5-82DD-47BB-945E-77ED191098A2}" type="presParOf" srcId="{A757FA3A-797E-43BC-B141-80E119DD9D5F}" destId="{E1A75F4C-FBBF-4741-B1AA-9F2AA463186D}" srcOrd="4" destOrd="0" presId="urn:microsoft.com/office/officeart/2005/8/layout/hList1"/>
    <dgm:cxn modelId="{52AEFE8F-A7DE-4743-9A4D-1F16E477C66F}" type="presParOf" srcId="{E1A75F4C-FBBF-4741-B1AA-9F2AA463186D}" destId="{96E9080E-4397-46D6-AB56-5961D163C822}" srcOrd="0" destOrd="0" presId="urn:microsoft.com/office/officeart/2005/8/layout/hList1"/>
    <dgm:cxn modelId="{B21832DC-F919-43C8-BB94-FE55746DE5F6}" type="presParOf" srcId="{E1A75F4C-FBBF-4741-B1AA-9F2AA463186D}" destId="{288CC674-226B-4FE2-A817-988D3E094EF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BB9BB6-2A20-4FE6-97EC-68DE6EF467CF}">
      <dsp:nvSpPr>
        <dsp:cNvPr id="0" name=""/>
        <dsp:cNvSpPr/>
      </dsp:nvSpPr>
      <dsp:spPr>
        <a:xfrm>
          <a:off x="2700" y="477559"/>
          <a:ext cx="2632792" cy="932578"/>
        </a:xfrm>
        <a:prstGeom prst="rect">
          <a:avLst/>
        </a:prstGeom>
        <a:solidFill>
          <a:schemeClr val="accent4">
            <a:hueOff val="0"/>
            <a:satOff val="0"/>
            <a:lumOff val="0"/>
            <a:alphaOff val="0"/>
          </a:schemeClr>
        </a:solidFill>
        <a:ln w="55000" cap="flat" cmpd="thickThin"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lvl="0" algn="ctr" defTabSz="1200150">
            <a:lnSpc>
              <a:spcPct val="90000"/>
            </a:lnSpc>
            <a:spcBef>
              <a:spcPct val="0"/>
            </a:spcBef>
            <a:spcAft>
              <a:spcPct val="35000"/>
            </a:spcAft>
          </a:pPr>
          <a:r>
            <a:rPr lang="tr-TR" sz="2700" b="1" kern="1200" dirty="0">
              <a:solidFill>
                <a:schemeClr val="bg1"/>
              </a:solidFill>
              <a:latin typeface="Ubuntu" pitchFamily="34" charset="0"/>
            </a:rPr>
            <a:t>Orta-Yüksek </a:t>
          </a:r>
          <a:r>
            <a:rPr lang="tr-TR" sz="2700" b="1" kern="1200" dirty="0" err="1">
              <a:solidFill>
                <a:schemeClr val="bg1"/>
              </a:solidFill>
              <a:latin typeface="Ubuntu" pitchFamily="34" charset="0"/>
            </a:rPr>
            <a:t>aPL</a:t>
          </a:r>
          <a:r>
            <a:rPr lang="tr-TR" sz="2700" b="1" kern="1200" dirty="0">
              <a:solidFill>
                <a:schemeClr val="bg1"/>
              </a:solidFill>
              <a:latin typeface="Ubuntu" pitchFamily="34" charset="0"/>
            </a:rPr>
            <a:t> Titresi </a:t>
          </a:r>
        </a:p>
      </dsp:txBody>
      <dsp:txXfrm>
        <a:off x="2700" y="477559"/>
        <a:ext cx="2632792" cy="932578"/>
      </dsp:txXfrm>
    </dsp:sp>
    <dsp:sp modelId="{09FE5489-E6AF-4B5A-964D-7F7AD80899DE}">
      <dsp:nvSpPr>
        <dsp:cNvPr id="0" name=""/>
        <dsp:cNvSpPr/>
      </dsp:nvSpPr>
      <dsp:spPr>
        <a:xfrm>
          <a:off x="2700" y="1410137"/>
          <a:ext cx="2632792" cy="4521014"/>
        </a:xfrm>
        <a:prstGeom prst="rect">
          <a:avLst/>
        </a:prstGeom>
        <a:solidFill>
          <a:schemeClr val="accent4">
            <a:tint val="40000"/>
            <a:alpha val="90000"/>
            <a:hueOff val="0"/>
            <a:satOff val="0"/>
            <a:lumOff val="0"/>
            <a:alphaOff val="0"/>
          </a:schemeClr>
        </a:solidFill>
        <a:ln w="55000" cap="flat" cmpd="thickThin"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ct val="15000"/>
            </a:spcAft>
            <a:buChar char="••"/>
          </a:pPr>
          <a:r>
            <a:rPr lang="tr-TR" sz="1800" kern="1200" dirty="0">
              <a:latin typeface="Ubuntu" pitchFamily="34" charset="0"/>
            </a:rPr>
            <a:t>Standart ELISA ile yapılan serum/plazmada Antikardiyolipin (IgM ya da IgG  izotipleri) </a:t>
          </a:r>
          <a:r>
            <a:rPr lang="tr-TR" sz="1800" kern="1200" dirty="0" smtClean="0">
              <a:latin typeface="Ubuntu" pitchFamily="34" charset="0"/>
            </a:rPr>
            <a:t>antikorların  </a:t>
          </a:r>
          <a:r>
            <a:rPr lang="tr-TR" sz="1800" kern="1200" dirty="0">
              <a:latin typeface="Ubuntu" pitchFamily="34" charset="0"/>
            </a:rPr>
            <a:t>titresinin &gt;40 olması  </a:t>
          </a:r>
        </a:p>
        <a:p>
          <a:pPr marL="171450" lvl="1" indent="-171450" algn="l" defTabSz="800100">
            <a:lnSpc>
              <a:spcPct val="100000"/>
            </a:lnSpc>
            <a:spcBef>
              <a:spcPct val="0"/>
            </a:spcBef>
            <a:spcAft>
              <a:spcPct val="15000"/>
            </a:spcAft>
            <a:buChar char="••"/>
          </a:pPr>
          <a:r>
            <a:rPr lang="tr-TR" sz="1800" kern="1200">
              <a:latin typeface="Ubuntu" pitchFamily="34" charset="0"/>
            </a:rPr>
            <a:t>Standart ELISA ile yapılan serum/plazmada Antibeta2 Glikoprotein I antikorlarının ( IgM ya da IgG izotipleri) titresinin &gt; %99 olması</a:t>
          </a:r>
        </a:p>
      </dsp:txBody>
      <dsp:txXfrm>
        <a:off x="2700" y="1410137"/>
        <a:ext cx="2632792" cy="4521014"/>
      </dsp:txXfrm>
    </dsp:sp>
    <dsp:sp modelId="{D62A75D1-E557-4B98-81FB-C49C88D6BF7E}">
      <dsp:nvSpPr>
        <dsp:cNvPr id="0" name=""/>
        <dsp:cNvSpPr/>
      </dsp:nvSpPr>
      <dsp:spPr>
        <a:xfrm>
          <a:off x="3004083" y="477559"/>
          <a:ext cx="2632792" cy="932578"/>
        </a:xfrm>
        <a:prstGeom prst="rect">
          <a:avLst/>
        </a:prstGeom>
        <a:solidFill>
          <a:schemeClr val="accent4">
            <a:hueOff val="-1757916"/>
            <a:satOff val="18400"/>
            <a:lumOff val="4509"/>
            <a:alphaOff val="0"/>
          </a:schemeClr>
        </a:solidFill>
        <a:ln w="55000" cap="flat" cmpd="thickThin" algn="ctr">
          <a:solidFill>
            <a:schemeClr val="accent4">
              <a:hueOff val="-1757916"/>
              <a:satOff val="18400"/>
              <a:lumOff val="450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lvl="0" algn="ctr" defTabSz="1200150">
            <a:lnSpc>
              <a:spcPct val="90000"/>
            </a:lnSpc>
            <a:spcBef>
              <a:spcPct val="0"/>
            </a:spcBef>
            <a:spcAft>
              <a:spcPct val="35000"/>
            </a:spcAft>
          </a:pPr>
          <a:r>
            <a:rPr lang="tr-TR" sz="2700" b="1" kern="1200">
              <a:solidFill>
                <a:schemeClr val="bg1"/>
              </a:solidFill>
              <a:latin typeface="Ubuntu" pitchFamily="34" charset="0"/>
            </a:rPr>
            <a:t>Yüksek Riskli aPL Profili</a:t>
          </a:r>
        </a:p>
      </dsp:txBody>
      <dsp:txXfrm>
        <a:off x="3004083" y="477559"/>
        <a:ext cx="2632792" cy="932578"/>
      </dsp:txXfrm>
    </dsp:sp>
    <dsp:sp modelId="{DF38A2B6-269E-4E12-9481-478CA2F94472}">
      <dsp:nvSpPr>
        <dsp:cNvPr id="0" name=""/>
        <dsp:cNvSpPr/>
      </dsp:nvSpPr>
      <dsp:spPr>
        <a:xfrm>
          <a:off x="3004083" y="1410137"/>
          <a:ext cx="2632792" cy="4521014"/>
        </a:xfrm>
        <a:prstGeom prst="rect">
          <a:avLst/>
        </a:prstGeom>
        <a:solidFill>
          <a:schemeClr val="accent4">
            <a:tint val="40000"/>
            <a:alpha val="90000"/>
            <a:hueOff val="-2405030"/>
            <a:satOff val="27205"/>
            <a:lumOff val="1799"/>
            <a:alphaOff val="0"/>
          </a:schemeClr>
        </a:solidFill>
        <a:ln w="55000" cap="flat" cmpd="thickThin" algn="ctr">
          <a:solidFill>
            <a:schemeClr val="accent4">
              <a:tint val="40000"/>
              <a:alpha val="90000"/>
              <a:hueOff val="-2405030"/>
              <a:satOff val="27205"/>
              <a:lumOff val="179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ct val="15000"/>
            </a:spcAft>
            <a:buChar char="••"/>
          </a:pPr>
          <a:r>
            <a:rPr lang="tr-TR" sz="1800" kern="1200">
              <a:latin typeface="Ubuntu" pitchFamily="34" charset="0"/>
            </a:rPr>
            <a:t>12 hafta ara ile yapılmış 2 ve üzeri lupus antikoagülanı pozitifliği</a:t>
          </a:r>
        </a:p>
        <a:p>
          <a:pPr marL="171450" lvl="1" indent="-171450" algn="l" defTabSz="800100">
            <a:lnSpc>
              <a:spcPct val="100000"/>
            </a:lnSpc>
            <a:spcBef>
              <a:spcPct val="0"/>
            </a:spcBef>
            <a:spcAft>
              <a:spcPct val="15000"/>
            </a:spcAft>
            <a:buChar char="••"/>
          </a:pPr>
          <a:r>
            <a:rPr lang="tr-TR" sz="1800" kern="1200">
              <a:latin typeface="Ubuntu" pitchFamily="34" charset="0"/>
            </a:rPr>
            <a:t>aPL antikorlardan herhangi iki ya da üçünün birlikte pozitif olması</a:t>
          </a:r>
        </a:p>
        <a:p>
          <a:pPr marL="171450" lvl="1" indent="-171450" algn="l" defTabSz="800100">
            <a:lnSpc>
              <a:spcPct val="100000"/>
            </a:lnSpc>
            <a:spcBef>
              <a:spcPct val="0"/>
            </a:spcBef>
            <a:spcAft>
              <a:spcPct val="15000"/>
            </a:spcAft>
            <a:buChar char="••"/>
          </a:pPr>
          <a:r>
            <a:rPr lang="tr-TR" sz="1800" kern="1200">
              <a:latin typeface="Ubuntu" pitchFamily="34" charset="0"/>
            </a:rPr>
            <a:t>Persiste eden yüksek aPL titreleri</a:t>
          </a:r>
        </a:p>
      </dsp:txBody>
      <dsp:txXfrm>
        <a:off x="3004083" y="1410137"/>
        <a:ext cx="2632792" cy="4521014"/>
      </dsp:txXfrm>
    </dsp:sp>
    <dsp:sp modelId="{96E9080E-4397-46D6-AB56-5961D163C822}">
      <dsp:nvSpPr>
        <dsp:cNvPr id="0" name=""/>
        <dsp:cNvSpPr/>
      </dsp:nvSpPr>
      <dsp:spPr>
        <a:xfrm>
          <a:off x="6005467" y="477559"/>
          <a:ext cx="2632792" cy="932578"/>
        </a:xfrm>
        <a:prstGeom prst="rect">
          <a:avLst/>
        </a:prstGeom>
        <a:solidFill>
          <a:schemeClr val="accent4">
            <a:hueOff val="-3515831"/>
            <a:satOff val="36799"/>
            <a:lumOff val="9018"/>
            <a:alphaOff val="0"/>
          </a:schemeClr>
        </a:solidFill>
        <a:ln w="55000" cap="flat" cmpd="thickThin" algn="ctr">
          <a:solidFill>
            <a:schemeClr val="accent4">
              <a:hueOff val="-3515831"/>
              <a:satOff val="36799"/>
              <a:lumOff val="901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lvl="0" algn="ctr" defTabSz="1200150">
            <a:lnSpc>
              <a:spcPct val="90000"/>
            </a:lnSpc>
            <a:spcBef>
              <a:spcPct val="0"/>
            </a:spcBef>
            <a:spcAft>
              <a:spcPct val="35000"/>
            </a:spcAft>
          </a:pPr>
          <a:r>
            <a:rPr lang="tr-TR" sz="2700" b="1" kern="1200">
              <a:solidFill>
                <a:schemeClr val="bg1"/>
              </a:solidFill>
              <a:latin typeface="Ubuntu" pitchFamily="34" charset="0"/>
            </a:rPr>
            <a:t>Düşük Riskli aPL Profili</a:t>
          </a:r>
        </a:p>
      </dsp:txBody>
      <dsp:txXfrm>
        <a:off x="6005467" y="477559"/>
        <a:ext cx="2632792" cy="932578"/>
      </dsp:txXfrm>
    </dsp:sp>
    <dsp:sp modelId="{288CC674-226B-4FE2-A817-988D3E094EF4}">
      <dsp:nvSpPr>
        <dsp:cNvPr id="0" name=""/>
        <dsp:cNvSpPr/>
      </dsp:nvSpPr>
      <dsp:spPr>
        <a:xfrm>
          <a:off x="6005467" y="1410137"/>
          <a:ext cx="2632792" cy="4521014"/>
        </a:xfrm>
        <a:prstGeom prst="rect">
          <a:avLst/>
        </a:prstGeom>
        <a:solidFill>
          <a:schemeClr val="accent4">
            <a:tint val="40000"/>
            <a:alpha val="90000"/>
            <a:hueOff val="-4810060"/>
            <a:satOff val="54409"/>
            <a:lumOff val="3598"/>
            <a:alphaOff val="0"/>
          </a:schemeClr>
        </a:solidFill>
        <a:ln w="55000" cap="flat" cmpd="thickThin" algn="ctr">
          <a:solidFill>
            <a:schemeClr val="accent4">
              <a:tint val="40000"/>
              <a:alpha val="90000"/>
              <a:hueOff val="-4810060"/>
              <a:satOff val="54409"/>
              <a:lumOff val="35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ct val="15000"/>
            </a:spcAft>
            <a:buChar char="••"/>
          </a:pPr>
          <a:r>
            <a:rPr lang="tr-TR" sz="1800" kern="1200">
              <a:latin typeface="Ubuntu" pitchFamily="34" charset="0"/>
            </a:rPr>
            <a:t>İzole antikardiyolipin ya da antibeta2 Glikoprotein antikorlarının düşük-orta titrede, geçici olabilen pozitifliği</a:t>
          </a:r>
        </a:p>
      </dsp:txBody>
      <dsp:txXfrm>
        <a:off x="6005467" y="1410137"/>
        <a:ext cx="2632792" cy="452101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aşlık Slaydı">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827584" y="5157192"/>
            <a:ext cx="7681913" cy="461665"/>
          </a:xfrm>
        </p:spPr>
        <p:txBody>
          <a:bodyPr>
            <a:noAutofit/>
          </a:bodyPr>
          <a:lstStyle>
            <a:lvl1pPr marL="0" indent="0" algn="ctr">
              <a:lnSpc>
                <a:spcPct val="90000"/>
              </a:lnSpc>
              <a:spcBef>
                <a:spcPts val="300"/>
              </a:spcBef>
              <a:buNone/>
              <a:defRPr sz="2700" b="1" baseline="0">
                <a:solidFill>
                  <a:schemeClr val="bg1">
                    <a:lumMod val="65000"/>
                    <a:lumOff val="35000"/>
                  </a:schemeClr>
                </a:solidFill>
                <a:latin typeface="+mj-lt"/>
                <a:ea typeface="Segoe UI" pitchFamily="34" charset="0"/>
                <a:cs typeface="Segoe UI"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tr-TR" dirty="0" smtClean="0"/>
              <a:t>Yazar Adını Yazınız</a:t>
            </a:r>
            <a:endParaRPr lang="en-US" dirty="0"/>
          </a:p>
        </p:txBody>
      </p:sp>
      <p:sp>
        <p:nvSpPr>
          <p:cNvPr id="4" name="Title 1"/>
          <p:cNvSpPr>
            <a:spLocks noGrp="1"/>
          </p:cNvSpPr>
          <p:nvPr>
            <p:ph type="ctrTitle" hasCustomPrompt="1"/>
          </p:nvPr>
        </p:nvSpPr>
        <p:spPr>
          <a:xfrm>
            <a:off x="323528" y="764704"/>
            <a:ext cx="8424936" cy="3600400"/>
          </a:xfrm>
          <a:prstGeom prst="rect">
            <a:avLst/>
          </a:prstGeom>
        </p:spPr>
        <p:txBody>
          <a:bodyPr anchor="ctr" anchorCtr="0">
            <a:noAutofit/>
          </a:bodyPr>
          <a:lstStyle>
            <a:lvl1pPr algn="ctr">
              <a:lnSpc>
                <a:spcPct val="110000"/>
              </a:lnSpc>
              <a:defRPr sz="6600" b="1" baseline="0">
                <a:latin typeface="+mj-lt"/>
              </a:defRPr>
            </a:lvl1pPr>
          </a:lstStyle>
          <a:p>
            <a:r>
              <a:rPr lang="tr-TR" dirty="0" smtClean="0"/>
              <a:t>SEMİNER BAŞLIĞINI YAZINIZ</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teratürKapak">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39552" y="6021288"/>
            <a:ext cx="8136904" cy="461665"/>
          </a:xfrm>
        </p:spPr>
        <p:txBody>
          <a:bodyPr>
            <a:noAutofit/>
          </a:bodyPr>
          <a:lstStyle>
            <a:lvl1pPr marL="0" indent="0" algn="ctr">
              <a:lnSpc>
                <a:spcPct val="90000"/>
              </a:lnSpc>
              <a:spcBef>
                <a:spcPts val="0"/>
              </a:spcBef>
              <a:buNone/>
              <a:defRPr sz="2800" b="1" baseline="0">
                <a:solidFill>
                  <a:schemeClr val="bg1">
                    <a:lumMod val="75000"/>
                    <a:lumOff val="25000"/>
                  </a:schemeClr>
                </a:solidFill>
                <a:latin typeface="+mj-lt"/>
                <a:ea typeface="Segoe UI" pitchFamily="34" charset="0"/>
                <a:cs typeface="Segoe UI"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tr-TR" dirty="0" smtClean="0"/>
              <a:t>Yazar Adını Yazın</a:t>
            </a:r>
            <a:endParaRPr lang="en-US" dirty="0"/>
          </a:p>
        </p:txBody>
      </p:sp>
      <p:sp>
        <p:nvSpPr>
          <p:cNvPr id="4" name="Title 1"/>
          <p:cNvSpPr>
            <a:spLocks noGrp="1"/>
          </p:cNvSpPr>
          <p:nvPr>
            <p:ph type="ctrTitle" hasCustomPrompt="1"/>
          </p:nvPr>
        </p:nvSpPr>
        <p:spPr>
          <a:xfrm>
            <a:off x="539552" y="3789040"/>
            <a:ext cx="8136904" cy="1368152"/>
          </a:xfrm>
          <a:prstGeom prst="rect">
            <a:avLst/>
          </a:prstGeom>
        </p:spPr>
        <p:txBody>
          <a:bodyPr anchor="ctr" anchorCtr="0">
            <a:noAutofit/>
          </a:bodyPr>
          <a:lstStyle>
            <a:lvl1pPr algn="ctr">
              <a:lnSpc>
                <a:spcPct val="90000"/>
              </a:lnSpc>
              <a:defRPr sz="4500" b="1">
                <a:latin typeface="+mj-lt"/>
              </a:defRPr>
            </a:lvl1pPr>
          </a:lstStyle>
          <a:p>
            <a:r>
              <a:rPr lang="tr-TR" dirty="0" smtClean="0"/>
              <a:t>Literatürün Adını Yazın</a:t>
            </a:r>
            <a:endParaRPr lang="en-US" dirty="0"/>
          </a:p>
        </p:txBody>
      </p:sp>
      <p:sp>
        <p:nvSpPr>
          <p:cNvPr id="5" name="Title 1"/>
          <p:cNvSpPr txBox="1">
            <a:spLocks/>
          </p:cNvSpPr>
          <p:nvPr/>
        </p:nvSpPr>
        <p:spPr>
          <a:xfrm>
            <a:off x="985176" y="260647"/>
            <a:ext cx="7043208" cy="576065"/>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66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latin typeface="Futura XBlk BT" pitchFamily="34" charset="0"/>
                <a:ea typeface="+mn-ea"/>
                <a:cs typeface="Arial" charset="0"/>
              </a:defRPr>
            </a:lvl1pPr>
          </a:lstStyle>
          <a:p>
            <a:r>
              <a:rPr lang="tr-TR" sz="5400" b="0" dirty="0" smtClean="0"/>
              <a:t>Literatür</a:t>
            </a:r>
            <a:endParaRPr lang="tr-TR" sz="5400" b="0" dirty="0"/>
          </a:p>
        </p:txBody>
      </p:sp>
    </p:spTree>
    <p:extLst>
      <p:ext uri="{BB962C8B-B14F-4D97-AF65-F5344CB8AC3E}">
        <p14:creationId xmlns:p14="http://schemas.microsoft.com/office/powerpoint/2010/main" val="1678443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pic>
        <p:nvPicPr>
          <p:cNvPr id="5" name="Picture 4" descr="1-01055_Template_Bar.png"/>
          <p:cNvPicPr>
            <a:picLocks noChangeAspect="1"/>
          </p:cNvPicPr>
          <p:nvPr/>
        </p:nvPicPr>
        <p:blipFill>
          <a:blip r:embed="rId2"/>
          <a:stretch>
            <a:fillRect/>
          </a:stretch>
        </p:blipFill>
        <p:spPr>
          <a:xfrm flipH="1">
            <a:off x="-955678" y="-99392"/>
            <a:ext cx="10099675" cy="7560840"/>
          </a:xfrm>
          <a:prstGeom prst="rect">
            <a:avLst/>
          </a:prstGeom>
        </p:spPr>
      </p:pic>
      <p:sp>
        <p:nvSpPr>
          <p:cNvPr id="2" name="Title 1"/>
          <p:cNvSpPr>
            <a:spLocks noGrp="1"/>
          </p:cNvSpPr>
          <p:nvPr>
            <p:ph type="ctrTitle"/>
          </p:nvPr>
        </p:nvSpPr>
        <p:spPr>
          <a:xfrm>
            <a:off x="323528" y="2420888"/>
            <a:ext cx="8175906" cy="1523494"/>
          </a:xfrm>
          <a:prstGeom prst="rect">
            <a:avLst/>
          </a:prstGeom>
        </p:spPr>
        <p:txBody>
          <a:bodyPr anchor="ctr" anchorCtr="0">
            <a:noAutofit/>
          </a:bodyPr>
          <a:lstStyle>
            <a:lvl1pPr algn="ctr">
              <a:lnSpc>
                <a:spcPct val="90000"/>
              </a:lnSpc>
              <a:defRPr sz="6600"/>
            </a:lvl1pPr>
          </a:lstStyle>
          <a:p>
            <a:r>
              <a:rPr lang="tr-TR" smtClean="0"/>
              <a:t>Asıl başlık stili için tıklatın</a:t>
            </a:r>
            <a:endParaRPr lang="en-US" dirty="0"/>
          </a:p>
        </p:txBody>
      </p:sp>
      <p:sp>
        <p:nvSpPr>
          <p:cNvPr id="7" name="Text Placeholder 6"/>
          <p:cNvSpPr>
            <a:spLocks noGrp="1"/>
          </p:cNvSpPr>
          <p:nvPr>
            <p:ph type="body" sz="quarter" idx="10" hasCustomPrompt="1"/>
          </p:nvPr>
        </p:nvSpPr>
        <p:spPr>
          <a:xfrm>
            <a:off x="15843" y="5373216"/>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lang="en-US" sz="12000" b="1" kern="1200" spc="-770" dirty="0" smtClean="0">
                <a:ln w="11430">
                  <a:solidFill>
                    <a:schemeClr val="bg2">
                      <a:lumMod val="50000"/>
                      <a:lumOff val="50000"/>
                    </a:schemeClr>
                  </a:solidFill>
                </a:ln>
                <a:gradFill>
                  <a:gsLst>
                    <a:gs pos="0">
                      <a:schemeClr val="accent2">
                        <a:lumMod val="20000"/>
                        <a:lumOff val="80000"/>
                      </a:schemeClr>
                    </a:gs>
                    <a:gs pos="37000">
                      <a:schemeClr val="tx1"/>
                    </a:gs>
                    <a:gs pos="85000">
                      <a:srgbClr val="2D8499"/>
                    </a:gs>
                  </a:gsLst>
                  <a:lin ang="5400000"/>
                </a:gradFill>
                <a:effectLst>
                  <a:outerShdw blurRad="50800" dist="39000" dir="5460000" algn="tl">
                    <a:srgbClr val="000000">
                      <a:alpha val="38000"/>
                    </a:srgbClr>
                  </a:outerShdw>
                </a:effectLst>
                <a:latin typeface="+mn-lt"/>
                <a:ea typeface="+mn-ea"/>
                <a:cs typeface="+mn-cs"/>
              </a:defRPr>
            </a:lvl1pPr>
          </a:lstStyle>
          <a:p>
            <a:pPr marL="0" lvl="0" indent="0" algn="r" defTabSz="1095376" rtl="0" eaLnBrk="1" fontAlgn="base" hangingPunct="1">
              <a:lnSpc>
                <a:spcPct val="90000"/>
              </a:lnSpc>
              <a:spcBef>
                <a:spcPct val="0"/>
              </a:spcBef>
              <a:spcAft>
                <a:spcPct val="0"/>
              </a:spcAft>
              <a:buClr>
                <a:schemeClr val="tx2"/>
              </a:buClr>
              <a:buSzPct val="80000"/>
              <a:buFont typeface="Arial" pitchFamily="34" charset="0"/>
              <a:buNone/>
            </a:pPr>
            <a:r>
              <a:rPr lang="tr-TR" dirty="0" err="1" smtClean="0"/>
              <a:t>ftronline</a:t>
            </a:r>
            <a:r>
              <a:rPr lang="en-US" dirty="0" smtClean="0"/>
              <a:t>…</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a:lstStyle>
            <a:lvl1pPr>
              <a:defRPr b="1"/>
            </a:lvl1pPr>
          </a:lstStyle>
          <a:p>
            <a:r>
              <a:rPr lang="tr-TR" dirty="0" smtClean="0"/>
              <a:t>Asıl Başlık Stili İçin Tıklatın</a:t>
            </a:r>
            <a:endParaRPr lang="tr-TR" dirty="0"/>
          </a:p>
        </p:txBody>
      </p:sp>
      <p:sp>
        <p:nvSpPr>
          <p:cNvPr id="3" name="Text Placeholder 2"/>
          <p:cNvSpPr>
            <a:spLocks noGrp="1"/>
          </p:cNvSpPr>
          <p:nvPr>
            <p:ph idx="1"/>
          </p:nvPr>
        </p:nvSpPr>
        <p:spPr>
          <a:xfrm>
            <a:off x="395536" y="1196752"/>
            <a:ext cx="8424936" cy="2238049"/>
          </a:xfrm>
          <a:prstGeom prst="rect">
            <a:avLst/>
          </a:prstGeom>
        </p:spPr>
        <p:txBody>
          <a:bodyPr vert="horz" wrap="square" lIns="0" tIns="0" rIns="0" bIns="0" rtlCol="0">
            <a:spAutoFit/>
          </a:bodyPr>
          <a:lstStyle>
            <a:lvl1pPr>
              <a:spcBef>
                <a:spcPts val="1200"/>
              </a:spcBef>
              <a:defRPr/>
            </a:lvl1pPr>
            <a:lvl2pPr>
              <a:spcBef>
                <a:spcPts val="600"/>
              </a:spcBef>
              <a:defRPr/>
            </a:lvl2pPr>
            <a:lvl3pPr>
              <a:spcBef>
                <a:spcPts val="600"/>
              </a:spcBef>
              <a:defRPr sz="2200"/>
            </a:lvl3pPr>
            <a:lvl4pPr>
              <a:defRPr sz="1900"/>
            </a:lvl4pPr>
            <a:lvl5pPr>
              <a:defRPr sz="1800"/>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23512838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lasikdüzen">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381000" y="2114483"/>
            <a:ext cx="8382000" cy="2158027"/>
          </a:xfrm>
        </p:spPr>
        <p:txBody>
          <a:bodyPr/>
          <a:lstStyle>
            <a:lvl1pPr marL="360000" indent="-360000">
              <a:lnSpc>
                <a:spcPct val="100000"/>
              </a:lnSpc>
              <a:spcBef>
                <a:spcPts val="1200"/>
              </a:spcBef>
              <a:spcAft>
                <a:spcPts val="400"/>
              </a:spcAft>
              <a:defRPr sz="2600">
                <a:solidFill>
                  <a:schemeClr val="bg1"/>
                </a:solidFill>
                <a:latin typeface="+mj-lt"/>
              </a:defRPr>
            </a:lvl1pPr>
            <a:lvl2pPr marL="936000">
              <a:lnSpc>
                <a:spcPct val="100000"/>
              </a:lnSpc>
              <a:spcBef>
                <a:spcPts val="6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1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nkli">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76672"/>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1411552"/>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50300287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enkli Yarı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41474"/>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2376354"/>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79322955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nkli Yari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41474"/>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2376354"/>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413927754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Yarı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88477"/>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5" name="Text Placeholder 5"/>
          <p:cNvSpPr>
            <a:spLocks noGrp="1"/>
          </p:cNvSpPr>
          <p:nvPr>
            <p:ph type="body" sz="quarter" idx="10"/>
          </p:nvPr>
        </p:nvSpPr>
        <p:spPr>
          <a:xfrm>
            <a:off x="395536" y="2258499"/>
            <a:ext cx="8382000" cy="2044149"/>
          </a:xfrm>
        </p:spPr>
        <p:txBody>
          <a:bodyPr/>
          <a:lstStyle>
            <a:lvl1pPr marL="360000" indent="-360000">
              <a:lnSpc>
                <a:spcPct val="100000"/>
              </a:lnSpc>
              <a:spcBef>
                <a:spcPts val="1400"/>
              </a:spcBef>
              <a:spcAft>
                <a:spcPts val="600"/>
              </a:spcAft>
              <a:defRPr sz="2500">
                <a:solidFill>
                  <a:schemeClr val="bg1"/>
                </a:solidFill>
                <a:latin typeface="+mj-lt"/>
              </a:defRPr>
            </a:lvl1pPr>
            <a:lvl2pPr marL="936000">
              <a:lnSpc>
                <a:spcPct val="100000"/>
              </a:lnSpc>
              <a:spcBef>
                <a:spcPts val="800"/>
              </a:spcBef>
              <a:spcAft>
                <a:spcPts val="200"/>
              </a:spcAft>
              <a:defRPr sz="2300" b="0">
                <a:solidFill>
                  <a:schemeClr val="bg1"/>
                </a:solidFill>
                <a:latin typeface="+mj-lt"/>
              </a:defRPr>
            </a:lvl2pPr>
            <a:lvl3pPr marL="1332000">
              <a:lnSpc>
                <a:spcPct val="90000"/>
              </a:lnSpc>
              <a:spcBef>
                <a:spcPts val="700"/>
              </a:spcBef>
              <a:defRPr sz="2200" b="0">
                <a:solidFill>
                  <a:schemeClr val="bg1"/>
                </a:solidFill>
                <a:latin typeface="+mj-lt"/>
              </a:defRPr>
            </a:lvl3pPr>
            <a:lvl4pPr>
              <a:lnSpc>
                <a:spcPct val="90000"/>
              </a:lnSpc>
              <a:spcBef>
                <a:spcPts val="700"/>
              </a:spcBef>
              <a:defRPr sz="2000" b="0">
                <a:solidFill>
                  <a:schemeClr val="bg1"/>
                </a:solidFill>
                <a:latin typeface="+mj-lt"/>
              </a:defRPr>
            </a:lvl4pPr>
            <a:lvl5pPr>
              <a:lnSpc>
                <a:spcPct val="90000"/>
              </a:lnSpc>
              <a:spcBef>
                <a:spcPts val="700"/>
              </a:spcBef>
              <a:defRPr sz="19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34025039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282714"/>
            <a:ext cx="8382000" cy="553998"/>
          </a:xfrm>
          <a:prstGeom prst="rect">
            <a:avLst/>
          </a:prstGeom>
        </p:spPr>
        <p:txBody>
          <a:bodyPr>
            <a:noAutofit/>
          </a:bodyPr>
          <a:lstStyle>
            <a:lvl1pPr>
              <a:defRPr sz="3500">
                <a:latin typeface="+mj-lt"/>
              </a:defRPr>
            </a:lvl1pPr>
          </a:lstStyle>
          <a:p>
            <a:r>
              <a:rPr lang="tr-TR" dirty="0" smtClean="0"/>
              <a:t>Asıl Başlık Stili İçin Tıklatın</a:t>
            </a:r>
            <a:endParaRPr lang="en-US" dirty="0"/>
          </a:p>
        </p:txBody>
      </p:sp>
      <p:sp>
        <p:nvSpPr>
          <p:cNvPr id="3" name="Content Placeholder 2"/>
          <p:cNvSpPr>
            <a:spLocks noGrp="1"/>
          </p:cNvSpPr>
          <p:nvPr>
            <p:ph sz="half" idx="1"/>
          </p:nvPr>
        </p:nvSpPr>
        <p:spPr>
          <a:xfrm>
            <a:off x="381000" y="1411553"/>
            <a:ext cx="4114800" cy="2262158"/>
          </a:xfrm>
        </p:spPr>
        <p:txBody>
          <a:bodyPr/>
          <a:lstStyle>
            <a:lvl1pPr marL="339976" indent="-339976">
              <a:lnSpc>
                <a:spcPct val="100000"/>
              </a:lnSpc>
              <a:spcBef>
                <a:spcPts val="1500"/>
              </a:spcBef>
              <a:defRPr sz="2200">
                <a:latin typeface="+mj-lt"/>
              </a:defRPr>
            </a:lvl1pPr>
            <a:lvl2pPr marL="673338" indent="-325424">
              <a:lnSpc>
                <a:spcPct val="90000"/>
              </a:lnSpc>
              <a:spcBef>
                <a:spcPts val="1200"/>
              </a:spcBef>
              <a:defRPr sz="2000">
                <a:latin typeface="+mj-lt"/>
              </a:defRPr>
            </a:lvl2pPr>
            <a:lvl3pPr marL="953785" indent="-288384">
              <a:lnSpc>
                <a:spcPct val="90000"/>
              </a:lnSpc>
              <a:spcBef>
                <a:spcPts val="1200"/>
              </a:spcBef>
              <a:defRPr sz="1800">
                <a:latin typeface="+mj-lt"/>
              </a:defRPr>
            </a:lvl3pPr>
            <a:lvl4pPr marL="1227618" indent="-273833">
              <a:lnSpc>
                <a:spcPct val="90000"/>
              </a:lnSpc>
              <a:spcBef>
                <a:spcPts val="1200"/>
              </a:spcBef>
              <a:defRPr sz="1600" b="0">
                <a:latin typeface="+mj-lt"/>
              </a:defRPr>
            </a:lvl4pPr>
            <a:lvl5pPr marL="1516002" indent="-280447">
              <a:lnSpc>
                <a:spcPct val="90000"/>
              </a:lnSpc>
              <a:spcBef>
                <a:spcPts val="1200"/>
              </a:spcBef>
              <a:defRPr sz="1600" b="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648200" y="1411553"/>
            <a:ext cx="4114800" cy="2262158"/>
          </a:xfrm>
        </p:spPr>
        <p:txBody>
          <a:bodyPr/>
          <a:lstStyle>
            <a:lvl1pPr marL="347914" indent="-347914">
              <a:lnSpc>
                <a:spcPct val="100000"/>
              </a:lnSpc>
              <a:spcBef>
                <a:spcPts val="1500"/>
              </a:spcBef>
              <a:defRPr sz="2200">
                <a:latin typeface="+mj-lt"/>
              </a:defRPr>
            </a:lvl1pPr>
            <a:lvl2pPr marL="673338" indent="-339976">
              <a:lnSpc>
                <a:spcPct val="90000"/>
              </a:lnSpc>
              <a:spcBef>
                <a:spcPts val="1200"/>
              </a:spcBef>
              <a:defRPr sz="2000">
                <a:latin typeface="+mj-lt"/>
              </a:defRPr>
            </a:lvl2pPr>
            <a:lvl3pPr marL="961722" indent="-302936">
              <a:lnSpc>
                <a:spcPct val="90000"/>
              </a:lnSpc>
              <a:spcBef>
                <a:spcPts val="1200"/>
              </a:spcBef>
              <a:defRPr sz="1800">
                <a:latin typeface="+mj-lt"/>
              </a:defRPr>
            </a:lvl3pPr>
            <a:lvl4pPr marL="1227618" indent="-265896">
              <a:lnSpc>
                <a:spcPct val="90000"/>
              </a:lnSpc>
              <a:spcBef>
                <a:spcPts val="1200"/>
              </a:spcBef>
              <a:defRPr sz="1600">
                <a:latin typeface="+mj-lt"/>
              </a:defRPr>
            </a:lvl4pPr>
            <a:lvl5pPr marL="1516002" indent="-273833">
              <a:lnSpc>
                <a:spcPct val="90000"/>
              </a:lnSpc>
              <a:spcBef>
                <a:spcPts val="1200"/>
              </a:spcBef>
              <a:defRPr sz="160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YazıSol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282714"/>
            <a:ext cx="8382000" cy="553998"/>
          </a:xfrm>
          <a:prstGeom prst="rect">
            <a:avLst/>
          </a:prstGeom>
        </p:spPr>
        <p:txBody>
          <a:bodyPr>
            <a:noAutofit/>
          </a:bodyPr>
          <a:lstStyle>
            <a:lvl1pPr>
              <a:defRPr sz="3500">
                <a:latin typeface="+mj-lt"/>
              </a:defRPr>
            </a:lvl1pPr>
          </a:lstStyle>
          <a:p>
            <a:r>
              <a:rPr lang="tr-TR" dirty="0" smtClean="0"/>
              <a:t>Asıl Başlık Stili İçin Tıklatın</a:t>
            </a:r>
            <a:endParaRPr lang="en-US" dirty="0"/>
          </a:p>
        </p:txBody>
      </p:sp>
      <p:sp>
        <p:nvSpPr>
          <p:cNvPr id="4" name="Content Placeholder 3"/>
          <p:cNvSpPr>
            <a:spLocks noGrp="1"/>
          </p:cNvSpPr>
          <p:nvPr>
            <p:ph sz="half" idx="2"/>
          </p:nvPr>
        </p:nvSpPr>
        <p:spPr>
          <a:xfrm>
            <a:off x="323528" y="1340768"/>
            <a:ext cx="4191000" cy="2416046"/>
          </a:xfrm>
        </p:spPr>
        <p:txBody>
          <a:bodyPr/>
          <a:lstStyle>
            <a:lvl1pPr marL="347914" indent="-347914">
              <a:lnSpc>
                <a:spcPct val="90000"/>
              </a:lnSpc>
              <a:spcBef>
                <a:spcPts val="1200"/>
              </a:spcBef>
              <a:defRPr sz="2400">
                <a:latin typeface="+mj-lt"/>
              </a:defRPr>
            </a:lvl1pPr>
            <a:lvl2pPr marL="673338" indent="-339976">
              <a:lnSpc>
                <a:spcPct val="90000"/>
              </a:lnSpc>
              <a:spcBef>
                <a:spcPts val="1200"/>
              </a:spcBef>
              <a:defRPr sz="2300">
                <a:latin typeface="+mj-lt"/>
              </a:defRPr>
            </a:lvl2pPr>
            <a:lvl3pPr marL="961722" indent="-302936">
              <a:lnSpc>
                <a:spcPct val="90000"/>
              </a:lnSpc>
              <a:spcBef>
                <a:spcPts val="1200"/>
              </a:spcBef>
              <a:defRPr sz="2200">
                <a:latin typeface="+mj-lt"/>
              </a:defRPr>
            </a:lvl3pPr>
            <a:lvl4pPr marL="1227618" indent="-265896">
              <a:lnSpc>
                <a:spcPct val="90000"/>
              </a:lnSpc>
              <a:spcBef>
                <a:spcPts val="1200"/>
              </a:spcBef>
              <a:defRPr sz="2000">
                <a:latin typeface="+mj-lt"/>
              </a:defRPr>
            </a:lvl4pPr>
            <a:lvl5pPr marL="1516002" indent="-273833">
              <a:lnSpc>
                <a:spcPct val="90000"/>
              </a:lnSpc>
              <a:spcBef>
                <a:spcPts val="1200"/>
              </a:spcBef>
              <a:defRPr sz="180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55811424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88640"/>
            <a:ext cx="8382000" cy="553998"/>
          </a:xfrm>
          <a:prstGeom prst="rect">
            <a:avLst/>
          </a:prstGeom>
        </p:spPr>
        <p:txBody>
          <a:bodyPr/>
          <a:lstStyle>
            <a:lvl1pPr>
              <a:defRPr b="1">
                <a:latin typeface="+mj-lt"/>
              </a:defRPr>
            </a:lvl1pPr>
          </a:lstStyle>
          <a:p>
            <a:r>
              <a:rPr lang="tr-TR" dirty="0" smtClean="0"/>
              <a:t>Asıl Başlık Stili İçin Tıklatın</a:t>
            </a:r>
            <a:endParaRPr lang="en-US" dirty="0"/>
          </a:p>
        </p:txBody>
      </p:sp>
      <p:sp>
        <p:nvSpPr>
          <p:cNvPr id="3" name="Text Placeholder 2"/>
          <p:cNvSpPr>
            <a:spLocks noGrp="1"/>
          </p:cNvSpPr>
          <p:nvPr>
            <p:ph type="body" idx="1"/>
          </p:nvPr>
        </p:nvSpPr>
        <p:spPr>
          <a:xfrm>
            <a:off x="381000" y="1268760"/>
            <a:ext cx="4114800" cy="581698"/>
          </a:xfrm>
        </p:spPr>
        <p:txBody>
          <a:bodyPr anchor="b"/>
          <a:lstStyle>
            <a:lvl1pPr marL="0" indent="0">
              <a:lnSpc>
                <a:spcPct val="90000"/>
              </a:lnSpc>
              <a:spcBef>
                <a:spcPts val="0"/>
              </a:spcBef>
              <a:spcAft>
                <a:spcPts val="1200"/>
              </a:spcAft>
              <a:buNone/>
              <a:defRPr sz="21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380999" y="2174875"/>
            <a:ext cx="4114800" cy="2579168"/>
          </a:xfrm>
        </p:spPr>
        <p:txBody>
          <a:bodyPr/>
          <a:lstStyle>
            <a:lvl1pPr marL="281770" indent="-281770">
              <a:spcBef>
                <a:spcPts val="1600"/>
              </a:spcBef>
              <a:defRPr sz="2100">
                <a:latin typeface="+mj-lt"/>
              </a:defRPr>
            </a:lvl1pPr>
            <a:lvl2pPr marL="562218" indent="-265896">
              <a:spcBef>
                <a:spcPts val="1200"/>
              </a:spcBef>
              <a:defRPr sz="2000">
                <a:latin typeface="+mj-lt"/>
              </a:defRPr>
            </a:lvl2pPr>
            <a:lvl3pPr marL="813562" indent="-243407">
              <a:spcBef>
                <a:spcPts val="1200"/>
              </a:spcBef>
              <a:defRPr sz="1800">
                <a:latin typeface="+mj-lt"/>
              </a:defRPr>
            </a:lvl3pPr>
            <a:lvl4pPr marL="1050354" indent="-228856">
              <a:spcBef>
                <a:spcPts val="1200"/>
              </a:spcBef>
              <a:defRPr sz="1800">
                <a:latin typeface="+mj-lt"/>
              </a:defRPr>
            </a:lvl4pPr>
            <a:lvl5pPr marL="1279210" indent="-206367">
              <a:spcBef>
                <a:spcPts val="1200"/>
              </a:spcBef>
              <a:defRPr sz="1800">
                <a:latin typeface="+mj-lt"/>
              </a:defRPr>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5981" y="1268760"/>
            <a:ext cx="4117019" cy="581698"/>
          </a:xfrm>
        </p:spPr>
        <p:txBody>
          <a:bodyPr anchor="b"/>
          <a:lstStyle>
            <a:lvl1pPr marL="0" indent="0">
              <a:lnSpc>
                <a:spcPct val="90000"/>
              </a:lnSpc>
              <a:spcBef>
                <a:spcPts val="0"/>
              </a:spcBef>
              <a:spcAft>
                <a:spcPts val="600"/>
              </a:spcAft>
              <a:buNone/>
              <a:defRPr sz="21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645026" y="2174875"/>
            <a:ext cx="4117974" cy="2579168"/>
          </a:xfrm>
        </p:spPr>
        <p:txBody>
          <a:bodyPr/>
          <a:lstStyle>
            <a:lvl1pPr marL="296321" indent="-296321">
              <a:spcBef>
                <a:spcPts val="1600"/>
              </a:spcBef>
              <a:defRPr sz="2100">
                <a:latin typeface="+mj-lt"/>
              </a:defRPr>
            </a:lvl1pPr>
            <a:lvl2pPr marL="570155" indent="-273833">
              <a:spcBef>
                <a:spcPts val="1200"/>
              </a:spcBef>
              <a:defRPr sz="2000">
                <a:latin typeface="+mj-lt"/>
              </a:defRPr>
            </a:lvl2pPr>
            <a:lvl3pPr marL="821499" indent="-244730">
              <a:spcBef>
                <a:spcPts val="1200"/>
              </a:spcBef>
              <a:defRPr sz="1800">
                <a:latin typeface="+mj-lt"/>
              </a:defRPr>
            </a:lvl3pPr>
            <a:lvl4pPr marL="1050354" indent="-236793">
              <a:spcBef>
                <a:spcPts val="1200"/>
              </a:spcBef>
              <a:defRPr sz="1800">
                <a:latin typeface="+mj-lt"/>
              </a:defRPr>
            </a:lvl4pPr>
            <a:lvl5pPr marL="1279210" indent="-220919">
              <a:spcBef>
                <a:spcPts val="1200"/>
              </a:spcBef>
              <a:defRPr sz="1800">
                <a:latin typeface="+mj-lt"/>
              </a:defRPr>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esim">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onSlayt">
    <p:spTree>
      <p:nvGrpSpPr>
        <p:cNvPr id="1" name=""/>
        <p:cNvGrpSpPr/>
        <p:nvPr/>
      </p:nvGrpSpPr>
      <p:grpSpPr>
        <a:xfrm>
          <a:off x="0" y="0"/>
          <a:ext cx="0" cy="0"/>
          <a:chOff x="0" y="0"/>
          <a:chExt cx="0" cy="0"/>
        </a:xfrm>
      </p:grpSpPr>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260648"/>
            <a:ext cx="9144000" cy="6552728"/>
          </a:xfrm>
          <a:prstGeom prst="rect">
            <a:avLst/>
          </a:prstGeom>
        </p:spPr>
      </p:pic>
      <p:sp>
        <p:nvSpPr>
          <p:cNvPr id="4" name="Dikdörtgen 3"/>
          <p:cNvSpPr/>
          <p:nvPr/>
        </p:nvSpPr>
        <p:spPr>
          <a:xfrm>
            <a:off x="2843808" y="5085184"/>
            <a:ext cx="3384376" cy="1569660"/>
          </a:xfrm>
          <a:prstGeom prst="rect">
            <a:avLst/>
          </a:prstGeom>
          <a:noFill/>
          <a:effectLst>
            <a:outerShdw blurRad="330200" dist="38100" dir="1920000" algn="tl" rotWithShape="0">
              <a:prstClr val="black">
                <a:alpha val="40000"/>
              </a:prstClr>
            </a:outerShdw>
          </a:effectLst>
        </p:spPr>
        <p:txBody>
          <a:bodyPr wrap="square" lIns="91440" tIns="45720" rIns="91440" bIns="45720">
            <a:spAutoFit/>
          </a:bodyPr>
          <a:lstStyle/>
          <a:p>
            <a:pPr algn="ctr"/>
            <a:r>
              <a:rPr lang="tr-TR" sz="9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Exo 2 Extra Bold" pitchFamily="2" charset="-94"/>
              </a:rPr>
              <a:t>2020</a:t>
            </a:r>
            <a:endParaRPr lang="tr-TR" sz="9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Exo 2 Extra Bold" pitchFamily="2" charset="-94"/>
            </a:endParaRPr>
          </a:p>
        </p:txBody>
      </p:sp>
    </p:spTree>
    <p:extLst>
      <p:ext uri="{BB962C8B-B14F-4D97-AF65-F5344CB8AC3E}">
        <p14:creationId xmlns:p14="http://schemas.microsoft.com/office/powerpoint/2010/main" val="88460040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şekkürSlaytı">
    <p:spTree>
      <p:nvGrpSpPr>
        <p:cNvPr id="1" name=""/>
        <p:cNvGrpSpPr/>
        <p:nvPr/>
      </p:nvGrpSpPr>
      <p:grpSpPr>
        <a:xfrm>
          <a:off x="0" y="0"/>
          <a:ext cx="0" cy="0"/>
          <a:chOff x="0" y="0"/>
          <a:chExt cx="0" cy="0"/>
        </a:xfrm>
      </p:grpSpPr>
      <p:pic>
        <p:nvPicPr>
          <p:cNvPr id="5" name="Picture 4" descr="1-01055_Template_Bar.png"/>
          <p:cNvPicPr>
            <a:picLocks noChangeAspect="1"/>
          </p:cNvPicPr>
          <p:nvPr/>
        </p:nvPicPr>
        <p:blipFill>
          <a:blip r:embed="rId2"/>
          <a:stretch>
            <a:fillRect/>
          </a:stretch>
        </p:blipFill>
        <p:spPr>
          <a:xfrm flipH="1">
            <a:off x="-955675" y="1905000"/>
            <a:ext cx="10099675" cy="2281652"/>
          </a:xfrm>
          <a:prstGeom prst="rect">
            <a:avLst/>
          </a:prstGeom>
        </p:spPr>
      </p:pic>
      <p:sp>
        <p:nvSpPr>
          <p:cNvPr id="2" name="Title 1"/>
          <p:cNvSpPr>
            <a:spLocks noGrp="1"/>
          </p:cNvSpPr>
          <p:nvPr>
            <p:ph type="ctrTitle" hasCustomPrompt="1"/>
          </p:nvPr>
        </p:nvSpPr>
        <p:spPr>
          <a:xfrm>
            <a:off x="755576" y="4365104"/>
            <a:ext cx="7992888" cy="1523494"/>
          </a:xfrm>
          <a:prstGeom prst="rect">
            <a:avLst/>
          </a:prstGeom>
        </p:spPr>
        <p:txBody>
          <a:bodyPr anchor="ctr" anchorCtr="0">
            <a:noAutofit/>
          </a:bodyPr>
          <a:lstStyle>
            <a:lvl1pPr algn="ctr">
              <a:lnSpc>
                <a:spcPct val="90000"/>
              </a:lnSpc>
              <a:defRPr sz="6000" b="1" i="1">
                <a:solidFill>
                  <a:schemeClr val="bg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tr-TR" dirty="0" smtClean="0"/>
              <a:t>Sabrınız için teşekkürler</a:t>
            </a:r>
            <a:endParaRPr lang="en-US" dirty="0"/>
          </a:p>
        </p:txBody>
      </p:sp>
      <p:sp>
        <p:nvSpPr>
          <p:cNvPr id="7" name="Text Placeholder 6"/>
          <p:cNvSpPr>
            <a:spLocks noGrp="1"/>
          </p:cNvSpPr>
          <p:nvPr>
            <p:ph type="body" sz="quarter" idx="10" hasCustomPrompt="1"/>
          </p:nvPr>
        </p:nvSpPr>
        <p:spPr>
          <a:xfrm>
            <a:off x="755576" y="2072174"/>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ctr">
              <a:lnSpc>
                <a:spcPct val="100000"/>
              </a:lnSpc>
              <a:spcBef>
                <a:spcPts val="0"/>
              </a:spcBef>
              <a:buFont typeface="Arial" pitchFamily="34" charset="0"/>
              <a:buNone/>
              <a:defRPr lang="en-US" sz="12000" b="1" kern="1200" spc="-770" dirty="0" smtClean="0">
                <a:ln w="11430">
                  <a:solidFill>
                    <a:schemeClr val="bg2">
                      <a:lumMod val="50000"/>
                      <a:lumOff val="50000"/>
                    </a:schemeClr>
                  </a:solidFill>
                </a:ln>
                <a:gradFill>
                  <a:gsLst>
                    <a:gs pos="0">
                      <a:schemeClr val="accent2">
                        <a:lumMod val="20000"/>
                        <a:lumOff val="80000"/>
                      </a:schemeClr>
                    </a:gs>
                    <a:gs pos="37000">
                      <a:schemeClr val="tx1"/>
                    </a:gs>
                    <a:gs pos="85000">
                      <a:srgbClr val="2D8499"/>
                    </a:gs>
                  </a:gsLst>
                  <a:lin ang="5400000"/>
                </a:gradFill>
                <a:effectLst>
                  <a:outerShdw blurRad="50800" dist="39000" dir="5460000" algn="tl">
                    <a:srgbClr val="000000">
                      <a:alpha val="38000"/>
                    </a:srgbClr>
                  </a:outerShdw>
                </a:effectLst>
                <a:latin typeface="+mn-lt"/>
                <a:ea typeface="+mn-ea"/>
                <a:cs typeface="+mn-cs"/>
              </a:defRPr>
            </a:lvl1pPr>
          </a:lstStyle>
          <a:p>
            <a:r>
              <a:rPr lang="tr-TR" dirty="0" smtClean="0"/>
              <a:t>ftronline.com</a:t>
            </a:r>
            <a:endParaRPr lang="tr-TR" dirty="0"/>
          </a:p>
        </p:txBody>
      </p:sp>
      <p:sp>
        <p:nvSpPr>
          <p:cNvPr id="6" name="Title 1"/>
          <p:cNvSpPr txBox="1">
            <a:spLocks/>
          </p:cNvSpPr>
          <p:nvPr/>
        </p:nvSpPr>
        <p:spPr>
          <a:xfrm>
            <a:off x="971600" y="548680"/>
            <a:ext cx="7043208" cy="1523494"/>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54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outerShdw blurRad="114300" dir="2700000" algn="tl" rotWithShape="0">
                    <a:prstClr val="black">
                      <a:alpha val="51000"/>
                    </a:prstClr>
                  </a:outerShdw>
                </a:effectLst>
                <a:latin typeface="+mj-lt"/>
                <a:ea typeface="+mn-ea"/>
                <a:cs typeface="Arial" charset="0"/>
              </a:defRPr>
            </a:lvl1pPr>
          </a:lstStyle>
          <a:p>
            <a:endParaRPr lang="tr-TR" dirty="0"/>
          </a:p>
        </p:txBody>
      </p:sp>
      <p:sp>
        <p:nvSpPr>
          <p:cNvPr id="8" name="Title 1"/>
          <p:cNvSpPr txBox="1">
            <a:spLocks/>
          </p:cNvSpPr>
          <p:nvPr/>
        </p:nvSpPr>
        <p:spPr>
          <a:xfrm>
            <a:off x="1187624" y="381506"/>
            <a:ext cx="7043208" cy="1523494"/>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54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latin typeface="+mj-lt"/>
                <a:ea typeface="+mn-ea"/>
                <a:cs typeface="Arial" charset="0"/>
              </a:defRPr>
            </a:lvl1pPr>
          </a:lstStyle>
          <a:p>
            <a:r>
              <a:rPr lang="tr-TR" sz="7200" b="0" dirty="0" smtClean="0">
                <a:latin typeface="Futura XBlk BT" panose="020B0903020204020204" pitchFamily="34" charset="0"/>
              </a:rPr>
              <a:t>Teşekkürler</a:t>
            </a:r>
            <a:endParaRPr lang="tr-TR" sz="7200" b="0" dirty="0">
              <a:latin typeface="Futura XBlk BT" panose="020B0903020204020204" pitchFamily="34" charset="0"/>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5536" y="1224168"/>
            <a:ext cx="8424936" cy="2348848"/>
          </a:xfrm>
          <a:prstGeom prst="rect">
            <a:avLst/>
          </a:prstGeom>
        </p:spPr>
        <p:txBody>
          <a:bodyPr vert="horz" wrap="square" lIns="0" tIns="0" rIns="0" bIns="0" rtlCol="0">
            <a:spAutoFit/>
          </a:bodyPr>
          <a:lstStyle/>
          <a:p>
            <a:pPr lvl="0"/>
            <a:r>
              <a:rPr lang="tr-TR" dirty="0" smtClean="0"/>
              <a:t>Asıl metin stillerini düzenlemek için tıklatın</a:t>
            </a:r>
          </a:p>
          <a:p>
            <a:pPr lvl="1"/>
            <a:r>
              <a:rPr lang="tr-TR" dirty="0" smtClean="0"/>
              <a:t>İkinci düzey</a:t>
            </a:r>
          </a:p>
          <a:p>
            <a:pPr lvl="2"/>
            <a:r>
              <a:rPr lang="tr-TR" dirty="0" smtClean="0"/>
              <a:t>Üçüncü düzey</a:t>
            </a:r>
          </a:p>
          <a:p>
            <a:pPr lvl="3"/>
            <a:r>
              <a:rPr lang="tr-TR" dirty="0" smtClean="0"/>
              <a:t>Dördüncü düzey</a:t>
            </a:r>
          </a:p>
          <a:p>
            <a:pPr lvl="4"/>
            <a:r>
              <a:rPr lang="tr-TR" dirty="0" smtClean="0"/>
              <a:t>Beşinci düzey</a:t>
            </a:r>
            <a:endParaRPr lang="en-US" dirty="0"/>
          </a:p>
        </p:txBody>
      </p:sp>
      <p:sp>
        <p:nvSpPr>
          <p:cNvPr id="2" name="Başlık Yer Tutucusu 1"/>
          <p:cNvSpPr>
            <a:spLocks noGrp="1"/>
          </p:cNvSpPr>
          <p:nvPr>
            <p:ph type="title"/>
          </p:nvPr>
        </p:nvSpPr>
        <p:spPr>
          <a:xfrm>
            <a:off x="467544" y="404664"/>
            <a:ext cx="8229600" cy="576064"/>
          </a:xfrm>
          <a:prstGeom prst="rect">
            <a:avLst/>
          </a:prstGeom>
        </p:spPr>
        <p:txBody>
          <a:bodyPr vert="horz" lIns="91440" tIns="45720" rIns="91440" bIns="45720" rtlCol="0" anchor="ctr">
            <a:noAutofit/>
          </a:bodyPr>
          <a:lstStyle/>
          <a:p>
            <a:r>
              <a:rPr lang="tr-TR" dirty="0" smtClean="0"/>
              <a:t>Asıl Başlık Stili İçin Tıklatın</a:t>
            </a:r>
            <a:endParaRPr lang="tr-TR" dirty="0"/>
          </a:p>
        </p:txBody>
      </p:sp>
      <p:sp>
        <p:nvSpPr>
          <p:cNvPr id="4" name="Dikdörtgen 3"/>
          <p:cNvSpPr/>
          <p:nvPr/>
        </p:nvSpPr>
        <p:spPr bwMode="auto">
          <a:xfrm>
            <a:off x="179512" y="6552728"/>
            <a:ext cx="8784976" cy="332656"/>
          </a:xfrm>
          <a:prstGeom prst="rect">
            <a:avLst/>
          </a:prstGeom>
          <a:solidFill>
            <a:srgbClr val="FF7F00"/>
          </a:solidFill>
          <a:ln>
            <a:noFill/>
            <a:headEnd type="none" w="med" len="med"/>
            <a:tailEnd type="none" w="med" len="med"/>
          </a:ln>
          <a:effectLst>
            <a:glow>
              <a:schemeClr val="accent1">
                <a:alpha val="48000"/>
              </a:schemeClr>
            </a:glow>
            <a:outerShdw blurRad="50800" dist="38100" dir="16200000" rotWithShape="0">
              <a:prstClr val="black">
                <a:alpha val="40000"/>
              </a:prstClr>
            </a:outerShdw>
            <a:softEdge rad="12700"/>
          </a:effectLst>
        </p:spPr>
        <p:style>
          <a:lnRef idx="3">
            <a:schemeClr val="lt1"/>
          </a:lnRef>
          <a:fillRef idx="1">
            <a:schemeClr val="accent1"/>
          </a:fillRef>
          <a:effectRef idx="1">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tr-TR" sz="1800" spc="1000" baseline="0" dirty="0" smtClean="0">
                <a:solidFill>
                  <a:srgbClr val="FF962D"/>
                </a:solidFill>
                <a:effectLst/>
                <a:latin typeface="Times New Roman" panose="02020603050405020304" pitchFamily="18" charset="0"/>
                <a:cs typeface="Times New Roman" panose="02020603050405020304" pitchFamily="18" charset="0"/>
              </a:rPr>
              <a:t>www.ftronline.com</a:t>
            </a:r>
          </a:p>
        </p:txBody>
      </p:sp>
    </p:spTree>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Lst>
  <p:transition>
    <p:fade/>
  </p:transition>
  <p:txStyles>
    <p:titleStyle>
      <a:lvl1pPr algn="ctr" defTabSz="914363" rtl="0" eaLnBrk="1" latinLnBrk="0" hangingPunct="1">
        <a:lnSpc>
          <a:spcPct val="90000"/>
        </a:lnSpc>
        <a:spcBef>
          <a:spcPct val="0"/>
        </a:spcBef>
        <a:buNone/>
        <a:defRPr lang="en-US" sz="3500" b="0" kern="1200" cap="none" spc="0" dirty="0">
          <a:ln>
            <a:noFill/>
          </a:ln>
          <a:solidFill>
            <a:schemeClr val="bg1">
              <a:lumMod val="85000"/>
              <a:lumOff val="15000"/>
            </a:schemeClr>
          </a:solidFill>
          <a:effectLst/>
          <a:latin typeface="+mj-lt"/>
          <a:ea typeface="Segoe UI" pitchFamily="34" charset="0"/>
          <a:cs typeface="Segoe UI" pitchFamily="34" charset="0"/>
        </a:defRPr>
      </a:lvl1pPr>
    </p:titleStyle>
    <p:bodyStyle>
      <a:lvl1pPr marL="396875" indent="-396875" algn="l" defTabSz="914363" rtl="0" eaLnBrk="1" latinLnBrk="0" hangingPunct="1">
        <a:lnSpc>
          <a:spcPct val="100000"/>
        </a:lnSpc>
        <a:spcBef>
          <a:spcPts val="1400"/>
        </a:spcBef>
        <a:spcAft>
          <a:spcPts val="600"/>
        </a:spcAft>
        <a:buFontTx/>
        <a:buBlip>
          <a:blip r:embed="rId17"/>
        </a:buBlip>
        <a:defRPr sz="2500" kern="1200">
          <a:solidFill>
            <a:schemeClr val="bg1"/>
          </a:solidFill>
          <a:latin typeface="+mj-lt"/>
          <a:ea typeface="+mn-ea"/>
          <a:cs typeface="+mn-cs"/>
        </a:defRPr>
      </a:lvl1pPr>
      <a:lvl2pPr marL="914400" indent="-396875" algn="l" defTabSz="914363" rtl="0" eaLnBrk="1" latinLnBrk="0" hangingPunct="1">
        <a:lnSpc>
          <a:spcPct val="100000"/>
        </a:lnSpc>
        <a:spcBef>
          <a:spcPts val="800"/>
        </a:spcBef>
        <a:spcAft>
          <a:spcPts val="200"/>
        </a:spcAft>
        <a:buFontTx/>
        <a:buBlip>
          <a:blip r:embed="rId17"/>
        </a:buBlip>
        <a:defRPr sz="2400" kern="1200">
          <a:solidFill>
            <a:schemeClr val="bg1"/>
          </a:solidFill>
          <a:latin typeface="+mj-lt"/>
          <a:ea typeface="+mn-ea"/>
          <a:cs typeface="+mn-cs"/>
        </a:defRPr>
      </a:lvl2pPr>
      <a:lvl3pPr marL="1258888" indent="-344488" algn="l" defTabSz="914363" rtl="0" eaLnBrk="1" latinLnBrk="0" hangingPunct="1">
        <a:lnSpc>
          <a:spcPct val="100000"/>
        </a:lnSpc>
        <a:spcBef>
          <a:spcPts val="800"/>
        </a:spcBef>
        <a:buFontTx/>
        <a:buBlip>
          <a:blip r:embed="rId17"/>
        </a:buBlip>
        <a:defRPr sz="2300" kern="1200">
          <a:solidFill>
            <a:schemeClr val="bg1"/>
          </a:solidFill>
          <a:latin typeface="+mj-lt"/>
          <a:ea typeface="+mn-ea"/>
          <a:cs typeface="+mn-cs"/>
        </a:defRPr>
      </a:lvl3pPr>
      <a:lvl4pPr marL="1604963" indent="-346075" algn="l" defTabSz="914363" rtl="0" eaLnBrk="1" latinLnBrk="0" hangingPunct="1">
        <a:lnSpc>
          <a:spcPct val="110000"/>
        </a:lnSpc>
        <a:spcBef>
          <a:spcPts val="700"/>
        </a:spcBef>
        <a:buFontTx/>
        <a:buBlip>
          <a:blip r:embed="rId17"/>
        </a:buBlip>
        <a:defRPr sz="2100" kern="1200">
          <a:solidFill>
            <a:schemeClr val="bg1"/>
          </a:solidFill>
          <a:latin typeface="+mj-lt"/>
          <a:ea typeface="+mn-ea"/>
          <a:cs typeface="+mn-cs"/>
        </a:defRPr>
      </a:lvl4pPr>
      <a:lvl5pPr marL="1941513" indent="-336550" algn="l" defTabSz="914363" rtl="0" eaLnBrk="1" latinLnBrk="0" hangingPunct="1">
        <a:lnSpc>
          <a:spcPct val="110000"/>
        </a:lnSpc>
        <a:spcBef>
          <a:spcPts val="700"/>
        </a:spcBef>
        <a:buFontTx/>
        <a:buBlip>
          <a:blip r:embed="rId17"/>
        </a:buBlip>
        <a:defRPr sz="2000" kern="1200">
          <a:solidFill>
            <a:schemeClr val="bg1"/>
          </a:solidFill>
          <a:latin typeface="+mj-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p:cNvSpPr>
            <a:spLocks noGrp="1"/>
          </p:cNvSpPr>
          <p:nvPr>
            <p:ph type="subTitle" idx="1"/>
          </p:nvPr>
        </p:nvSpPr>
        <p:spPr/>
        <p:txBody>
          <a:bodyPr/>
          <a:lstStyle/>
          <a:p>
            <a:r>
              <a:rPr lang="tr-TR" sz="2400" dirty="0" smtClean="0"/>
              <a:t>Hazırlayan: </a:t>
            </a:r>
            <a:r>
              <a:rPr lang="tr-TR" dirty="0" smtClean="0"/>
              <a:t>Dr. Neşe Merve Kartal </a:t>
            </a:r>
            <a:r>
              <a:rPr lang="tr-TR" sz="2400" dirty="0" smtClean="0"/>
              <a:t>2020 Nisan</a:t>
            </a:r>
            <a:endParaRPr lang="tr-TR" sz="2400" dirty="0"/>
          </a:p>
        </p:txBody>
      </p:sp>
      <p:sp>
        <p:nvSpPr>
          <p:cNvPr id="3" name="Başlık 2"/>
          <p:cNvSpPr>
            <a:spLocks noGrp="1"/>
          </p:cNvSpPr>
          <p:nvPr>
            <p:ph type="ctrTitle"/>
          </p:nvPr>
        </p:nvSpPr>
        <p:spPr>
          <a:xfrm>
            <a:off x="611560" y="2636912"/>
            <a:ext cx="8136904" cy="1368152"/>
          </a:xfrm>
        </p:spPr>
        <p:txBody>
          <a:bodyPr/>
          <a:lstStyle/>
          <a:p>
            <a:pPr>
              <a:lnSpc>
                <a:spcPct val="130000"/>
              </a:lnSpc>
              <a:spcAft>
                <a:spcPts val="1200"/>
              </a:spcAft>
            </a:pPr>
            <a:r>
              <a:rPr lang="tr-TR" dirty="0" smtClean="0"/>
              <a:t>2019 </a:t>
            </a:r>
            <a:r>
              <a:rPr lang="tr-TR" dirty="0"/>
              <a:t>EULAR </a:t>
            </a:r>
            <a:r>
              <a:rPr lang="tr-TR" dirty="0" smtClean="0"/>
              <a:t/>
            </a:r>
            <a:br>
              <a:rPr lang="tr-TR" dirty="0" smtClean="0"/>
            </a:br>
            <a:r>
              <a:rPr lang="tr-TR" dirty="0"/>
              <a:t>Erişkin </a:t>
            </a:r>
            <a:r>
              <a:rPr lang="tr-TR" dirty="0" smtClean="0"/>
              <a:t>Antifosfolipid </a:t>
            </a:r>
            <a:r>
              <a:rPr lang="tr-TR" dirty="0"/>
              <a:t>Sendromu </a:t>
            </a:r>
            <a:r>
              <a:rPr lang="tr-TR" dirty="0" smtClean="0"/>
              <a:t>Önerileri</a:t>
            </a:r>
            <a:endParaRPr lang="tr-TR" dirty="0"/>
          </a:p>
        </p:txBody>
      </p:sp>
    </p:spTree>
    <p:extLst>
      <p:ext uri="{BB962C8B-B14F-4D97-AF65-F5344CB8AC3E}">
        <p14:creationId xmlns:p14="http://schemas.microsoft.com/office/powerpoint/2010/main" val="238787619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p:cNvSpPr>
            <a:spLocks noGrp="1"/>
          </p:cNvSpPr>
          <p:nvPr>
            <p:ph type="subTitle" idx="1"/>
          </p:nvPr>
        </p:nvSpPr>
        <p:spPr/>
        <p:txBody>
          <a:bodyPr/>
          <a:lstStyle/>
          <a:p>
            <a:r>
              <a:rPr lang="tr-TR" sz="2400" dirty="0" smtClean="0"/>
              <a:t>Hazırlayan: </a:t>
            </a:r>
            <a:r>
              <a:rPr lang="tr-TR" dirty="0" smtClean="0"/>
              <a:t>Dr. Neşe Merve Kartal </a:t>
            </a:r>
            <a:r>
              <a:rPr lang="tr-TR" sz="2400" dirty="0" smtClean="0"/>
              <a:t>2020 Nisan</a:t>
            </a:r>
            <a:endParaRPr lang="tr-TR" sz="2400" dirty="0"/>
          </a:p>
        </p:txBody>
      </p:sp>
      <p:sp>
        <p:nvSpPr>
          <p:cNvPr id="4" name="Başlık 3"/>
          <p:cNvSpPr>
            <a:spLocks noGrp="1"/>
          </p:cNvSpPr>
          <p:nvPr>
            <p:ph type="ctrTitle"/>
          </p:nvPr>
        </p:nvSpPr>
        <p:spPr/>
        <p:txBody>
          <a:bodyPr/>
          <a:lstStyle/>
          <a:p>
            <a:endParaRPr lang="tr-TR"/>
          </a:p>
        </p:txBody>
      </p:sp>
      <p:pic>
        <p:nvPicPr>
          <p:cNvPr id="5" name="Resi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700808"/>
            <a:ext cx="8649293" cy="3744416"/>
          </a:xfrm>
          <a:prstGeom prst="rect">
            <a:avLst/>
          </a:prstGeom>
        </p:spPr>
      </p:pic>
    </p:spTree>
    <p:extLst>
      <p:ext uri="{BB962C8B-B14F-4D97-AF65-F5344CB8AC3E}">
        <p14:creationId xmlns:p14="http://schemas.microsoft.com/office/powerpoint/2010/main" val="120729118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5" name="Metin Yer Tutucusu 4"/>
          <p:cNvSpPr>
            <a:spLocks noGrp="1"/>
          </p:cNvSpPr>
          <p:nvPr>
            <p:ph idx="1"/>
          </p:nvPr>
        </p:nvSpPr>
        <p:spPr>
          <a:xfrm>
            <a:off x="381000" y="1411552"/>
            <a:ext cx="8382000" cy="4662815"/>
          </a:xfrm>
        </p:spPr>
        <p:txBody>
          <a:bodyPr/>
          <a:lstStyle/>
          <a:p>
            <a:r>
              <a:rPr lang="tr-TR" dirty="0" smtClean="0"/>
              <a:t>Antifosfolipid </a:t>
            </a:r>
            <a:r>
              <a:rPr lang="tr-TR" dirty="0"/>
              <a:t>sendromu (APS) , </a:t>
            </a:r>
            <a:r>
              <a:rPr lang="tr-TR" dirty="0" smtClean="0"/>
              <a:t>Antifosfolipid </a:t>
            </a:r>
            <a:r>
              <a:rPr lang="tr-TR" dirty="0"/>
              <a:t>antikorlarca (</a:t>
            </a:r>
            <a:r>
              <a:rPr lang="tr-TR" dirty="0" err="1"/>
              <a:t>aPL</a:t>
            </a:r>
            <a:r>
              <a:rPr lang="tr-TR" dirty="0"/>
              <a:t>) tetiklenen trombotik ve </a:t>
            </a:r>
            <a:r>
              <a:rPr lang="tr-TR" dirty="0" smtClean="0"/>
              <a:t>inflamatuvar </a:t>
            </a:r>
            <a:r>
              <a:rPr lang="tr-TR" dirty="0"/>
              <a:t>mekanizmalarca oluşan vasküler ve obstetrik manifestasyonları olan sistemik bir hastalıktır. </a:t>
            </a:r>
          </a:p>
          <a:p>
            <a:r>
              <a:rPr lang="tr-TR" dirty="0"/>
              <a:t>APL antikorlar: antikardiyolipin, antibeta2 glikoprotein, lupus antikoagülanı</a:t>
            </a:r>
          </a:p>
          <a:p>
            <a:pPr lvl="0"/>
            <a:r>
              <a:rPr lang="tr-TR" dirty="0"/>
              <a:t>Trombotik durumla en yakın ilişkili olan </a:t>
            </a:r>
            <a:r>
              <a:rPr lang="tr-TR" dirty="0" smtClean="0"/>
              <a:t>antikor </a:t>
            </a:r>
            <a:r>
              <a:rPr lang="tr-TR" dirty="0"/>
              <a:t>lupus </a:t>
            </a:r>
            <a:r>
              <a:rPr lang="tr-TR" dirty="0" smtClean="0"/>
              <a:t>antikoagülanıdır.</a:t>
            </a:r>
            <a:endParaRPr lang="tr-TR" dirty="0"/>
          </a:p>
          <a:p>
            <a:r>
              <a:rPr lang="tr-TR" dirty="0"/>
              <a:t>En sık görülen APS klinik görünümleri: venöz tromboz, SVO, tekrar eden erken gebelik kayıpları, geç dönem gebelik kaybı </a:t>
            </a:r>
          </a:p>
        </p:txBody>
      </p:sp>
    </p:spTree>
    <p:extLst>
      <p:ext uri="{BB962C8B-B14F-4D97-AF65-F5344CB8AC3E}">
        <p14:creationId xmlns:p14="http://schemas.microsoft.com/office/powerpoint/2010/main" val="124577982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Metin Yer Tutucusu 2"/>
          <p:cNvSpPr>
            <a:spLocks noGrp="1"/>
          </p:cNvSpPr>
          <p:nvPr>
            <p:ph idx="1"/>
          </p:nvPr>
        </p:nvSpPr>
        <p:spPr/>
        <p:txBody>
          <a:bodyPr/>
          <a:lstStyle/>
          <a:p>
            <a:endParaRPr lang="tr-TR"/>
          </a:p>
        </p:txBody>
      </p:sp>
      <p:graphicFrame>
        <p:nvGraphicFramePr>
          <p:cNvPr id="4" name="Diyagram 3"/>
          <p:cNvGraphicFramePr/>
          <p:nvPr>
            <p:extLst>
              <p:ext uri="{D42A27DB-BD31-4B8C-83A1-F6EECF244321}">
                <p14:modId xmlns:p14="http://schemas.microsoft.com/office/powerpoint/2010/main" val="3022250133"/>
              </p:ext>
            </p:extLst>
          </p:nvPr>
        </p:nvGraphicFramePr>
        <p:xfrm>
          <a:off x="251520" y="260648"/>
          <a:ext cx="8640960" cy="6408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980998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Genel Prensipler</a:t>
            </a:r>
            <a:endParaRPr lang="tr-TR" dirty="0"/>
          </a:p>
        </p:txBody>
      </p:sp>
      <p:sp>
        <p:nvSpPr>
          <p:cNvPr id="3" name="Metin Yer Tutucusu 2"/>
          <p:cNvSpPr>
            <a:spLocks noGrp="1"/>
          </p:cNvSpPr>
          <p:nvPr>
            <p:ph type="body" sz="quarter" idx="10"/>
          </p:nvPr>
        </p:nvSpPr>
        <p:spPr/>
        <p:txBody>
          <a:bodyPr/>
          <a:lstStyle/>
          <a:p>
            <a:r>
              <a:rPr lang="tr-TR" dirty="0" smtClean="0"/>
              <a:t>1) </a:t>
            </a:r>
            <a:r>
              <a:rPr lang="tr-TR" dirty="0" err="1" smtClean="0"/>
              <a:t>aPL</a:t>
            </a:r>
            <a:r>
              <a:rPr lang="tr-TR" dirty="0" smtClean="0"/>
              <a:t> </a:t>
            </a:r>
            <a:r>
              <a:rPr lang="tr-TR" dirty="0"/>
              <a:t>pozitif olan bireylerde risk değerlendirmesi yapılmalıdır. </a:t>
            </a:r>
          </a:p>
          <a:p>
            <a:pPr lvl="1"/>
            <a:r>
              <a:rPr lang="tr-TR" dirty="0" smtClean="0"/>
              <a:t>Yüksek </a:t>
            </a:r>
            <a:r>
              <a:rPr lang="tr-TR" dirty="0"/>
              <a:t>riskli </a:t>
            </a:r>
            <a:r>
              <a:rPr lang="tr-TR" dirty="0" err="1"/>
              <a:t>aPL</a:t>
            </a:r>
            <a:r>
              <a:rPr lang="tr-TR" dirty="0"/>
              <a:t> profili var mı?</a:t>
            </a:r>
          </a:p>
          <a:p>
            <a:pPr lvl="1"/>
            <a:r>
              <a:rPr lang="tr-TR" dirty="0" smtClean="0"/>
              <a:t>Trombotik </a:t>
            </a:r>
            <a:r>
              <a:rPr lang="tr-TR" dirty="0"/>
              <a:t>olay geçmişi? Obstetrik APS öyküsü?</a:t>
            </a:r>
          </a:p>
          <a:p>
            <a:pPr lvl="1"/>
            <a:r>
              <a:rPr lang="tr-TR" dirty="0" smtClean="0"/>
              <a:t>Diğer </a:t>
            </a:r>
            <a:r>
              <a:rPr lang="tr-TR" dirty="0"/>
              <a:t>sistemik otoimmün hastalık öyküsü (örneğin SLE)?</a:t>
            </a:r>
          </a:p>
          <a:p>
            <a:pPr lvl="1"/>
            <a:r>
              <a:rPr lang="tr-TR" dirty="0" smtClean="0"/>
              <a:t>Genel </a:t>
            </a:r>
            <a:r>
              <a:rPr lang="tr-TR" dirty="0"/>
              <a:t>kardiyovasküler risk faktörleri var mı?</a:t>
            </a:r>
          </a:p>
          <a:p>
            <a:pPr lvl="1"/>
            <a:endParaRPr lang="tr-TR" dirty="0"/>
          </a:p>
        </p:txBody>
      </p:sp>
    </p:spTree>
    <p:extLst>
      <p:ext uri="{BB962C8B-B14F-4D97-AF65-F5344CB8AC3E}">
        <p14:creationId xmlns:p14="http://schemas.microsoft.com/office/powerpoint/2010/main" val="205029294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Genel Prensipler</a:t>
            </a:r>
            <a:endParaRPr lang="tr-TR" dirty="0"/>
          </a:p>
        </p:txBody>
      </p:sp>
      <p:sp>
        <p:nvSpPr>
          <p:cNvPr id="3" name="Metin Yer Tutucusu 2"/>
          <p:cNvSpPr>
            <a:spLocks noGrp="1"/>
          </p:cNvSpPr>
          <p:nvPr>
            <p:ph type="body" sz="quarter" idx="10"/>
          </p:nvPr>
        </p:nvSpPr>
        <p:spPr>
          <a:xfrm>
            <a:off x="381000" y="1411552"/>
            <a:ext cx="8382000" cy="4580741"/>
          </a:xfrm>
        </p:spPr>
        <p:txBody>
          <a:bodyPr/>
          <a:lstStyle/>
          <a:p>
            <a:r>
              <a:rPr lang="tr-TR" dirty="0" smtClean="0"/>
              <a:t>2) </a:t>
            </a:r>
            <a:r>
              <a:rPr lang="tr-TR" dirty="0" err="1" smtClean="0"/>
              <a:t>aPL</a:t>
            </a:r>
            <a:r>
              <a:rPr lang="tr-TR" dirty="0" smtClean="0"/>
              <a:t> </a:t>
            </a:r>
            <a:r>
              <a:rPr lang="tr-TR" dirty="0"/>
              <a:t>pozitif olan bireyler kardiyovasküler risk faktörleri açısından yakın takip edilmelidir. </a:t>
            </a:r>
          </a:p>
          <a:p>
            <a:pPr lvl="1"/>
            <a:r>
              <a:rPr lang="tr-TR" dirty="0"/>
              <a:t>Sigaranın bırakılması</a:t>
            </a:r>
          </a:p>
          <a:p>
            <a:pPr lvl="1"/>
            <a:r>
              <a:rPr lang="tr-TR" dirty="0"/>
              <a:t>Hipertansiyon, dislipidemi ve diyabetin iyi takip edilmesi</a:t>
            </a:r>
          </a:p>
          <a:p>
            <a:pPr lvl="1"/>
            <a:r>
              <a:rPr lang="tr-TR" dirty="0"/>
              <a:t>Düzenli fiziksel aktivitenin </a:t>
            </a:r>
            <a:r>
              <a:rPr lang="tr-TR" dirty="0" smtClean="0"/>
              <a:t>teşvik </a:t>
            </a:r>
            <a:r>
              <a:rPr lang="tr-TR" dirty="0"/>
              <a:t>edilmesi</a:t>
            </a:r>
          </a:p>
          <a:p>
            <a:pPr lvl="1"/>
            <a:r>
              <a:rPr lang="tr-TR" dirty="0"/>
              <a:t>Yüksek riskli </a:t>
            </a:r>
            <a:r>
              <a:rPr lang="tr-TR" dirty="0" err="1"/>
              <a:t>aPL</a:t>
            </a:r>
            <a:r>
              <a:rPr lang="tr-TR" dirty="0"/>
              <a:t> profili varsa venöz tromboz risk faktörlerinin gözden geçirilmesi ve yüksek riskli durumlarda (örneğin cerrahi, hospitalizasyon, uzamış immobilite, </a:t>
            </a:r>
            <a:r>
              <a:rPr lang="tr-TR" dirty="0" err="1"/>
              <a:t>puerperal</a:t>
            </a:r>
            <a:r>
              <a:rPr lang="tr-TR" dirty="0"/>
              <a:t> dönem </a:t>
            </a:r>
            <a:r>
              <a:rPr lang="tr-TR" dirty="0" err="1"/>
              <a:t>vb</a:t>
            </a:r>
            <a:r>
              <a:rPr lang="tr-TR" dirty="0"/>
              <a:t>) DMAH kullanılması </a:t>
            </a:r>
            <a:r>
              <a:rPr lang="tr-TR" dirty="0" smtClean="0"/>
              <a:t>gerekir</a:t>
            </a:r>
            <a:r>
              <a:rPr lang="tr-TR" dirty="0"/>
              <a:t>.</a:t>
            </a:r>
          </a:p>
        </p:txBody>
      </p:sp>
    </p:spTree>
    <p:extLst>
      <p:ext uri="{BB962C8B-B14F-4D97-AF65-F5344CB8AC3E}">
        <p14:creationId xmlns:p14="http://schemas.microsoft.com/office/powerpoint/2010/main" val="392149133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Genel Prensipler</a:t>
            </a:r>
            <a:endParaRPr lang="tr-TR" dirty="0"/>
          </a:p>
        </p:txBody>
      </p:sp>
      <p:sp>
        <p:nvSpPr>
          <p:cNvPr id="3" name="Metin Yer Tutucusu 2"/>
          <p:cNvSpPr>
            <a:spLocks noGrp="1"/>
          </p:cNvSpPr>
          <p:nvPr>
            <p:ph type="body" sz="quarter" idx="10"/>
          </p:nvPr>
        </p:nvSpPr>
        <p:spPr>
          <a:xfrm>
            <a:off x="381000" y="1411552"/>
            <a:ext cx="8382000" cy="4729500"/>
          </a:xfrm>
        </p:spPr>
        <p:txBody>
          <a:bodyPr/>
          <a:lstStyle/>
          <a:p>
            <a:r>
              <a:rPr lang="tr-TR" dirty="0" smtClean="0"/>
              <a:t>3) Hastaların </a:t>
            </a:r>
            <a:r>
              <a:rPr lang="tr-TR" dirty="0"/>
              <a:t>tedavi uyumları değerlendirilmeli hasta eğitimi- bilgilendirmesi yapılmalıdır.</a:t>
            </a:r>
          </a:p>
          <a:p>
            <a:pPr lvl="1"/>
            <a:r>
              <a:rPr lang="tr-TR" dirty="0"/>
              <a:t>K vitamini antagonisti alan hastalarda INR takibi önemlidir.</a:t>
            </a:r>
          </a:p>
          <a:p>
            <a:pPr lvl="1"/>
            <a:r>
              <a:rPr lang="tr-TR" dirty="0"/>
              <a:t>Oral antikoagülan kullanan hastalarda perioperatif DMAH kullanımı düşünülmelidir.</a:t>
            </a:r>
          </a:p>
          <a:p>
            <a:pPr lvl="1"/>
            <a:r>
              <a:rPr lang="tr-TR" dirty="0"/>
              <a:t>Oral kontraseptif alan, gebelik planlayan, post-</a:t>
            </a:r>
            <a:r>
              <a:rPr lang="tr-TR" dirty="0" err="1"/>
              <a:t>partum</a:t>
            </a:r>
            <a:r>
              <a:rPr lang="tr-TR" dirty="0"/>
              <a:t> dönemde, </a:t>
            </a:r>
            <a:r>
              <a:rPr lang="tr-TR" dirty="0" smtClean="0"/>
              <a:t>post-menopozal </a:t>
            </a:r>
            <a:r>
              <a:rPr lang="tr-TR" dirty="0"/>
              <a:t>hormon tedavisi kullanılacaksa bu hastalar </a:t>
            </a:r>
            <a:r>
              <a:rPr lang="tr-TR" dirty="0" smtClean="0"/>
              <a:t>konsülte </a:t>
            </a:r>
            <a:r>
              <a:rPr lang="tr-TR" dirty="0"/>
              <a:t>edilmelidir.</a:t>
            </a:r>
          </a:p>
          <a:p>
            <a:pPr lvl="1"/>
            <a:r>
              <a:rPr lang="tr-TR" dirty="0"/>
              <a:t>KVH riski açısından gerekli ise beslenme ve diyetetik </a:t>
            </a:r>
            <a:r>
              <a:rPr lang="tr-TR" dirty="0" smtClean="0"/>
              <a:t>konsültasyonu </a:t>
            </a:r>
            <a:r>
              <a:rPr lang="tr-TR" dirty="0"/>
              <a:t>istenmelidir.</a:t>
            </a:r>
          </a:p>
        </p:txBody>
      </p:sp>
    </p:spTree>
    <p:extLst>
      <p:ext uri="{BB962C8B-B14F-4D97-AF65-F5344CB8AC3E}">
        <p14:creationId xmlns:p14="http://schemas.microsoft.com/office/powerpoint/2010/main" val="289563662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569456"/>
          </a:xfrm>
        </p:spPr>
        <p:txBody>
          <a:bodyPr/>
          <a:lstStyle/>
          <a:p>
            <a:r>
              <a:rPr lang="tr-TR" i="0" dirty="0" err="1" smtClean="0"/>
              <a:t>aPL</a:t>
            </a:r>
            <a:r>
              <a:rPr lang="tr-TR" i="0" dirty="0" smtClean="0"/>
              <a:t> Pozitif Hastalarda Primer </a:t>
            </a:r>
            <a:r>
              <a:rPr lang="tr-TR" i="0" dirty="0" err="1" smtClean="0"/>
              <a:t>Trombofilaksi</a:t>
            </a:r>
            <a:endParaRPr lang="tr-TR" i="0" dirty="0" smtClean="0"/>
          </a:p>
          <a:p>
            <a:pPr lvl="1"/>
            <a:r>
              <a:rPr lang="tr-TR" i="0" dirty="0" smtClean="0"/>
              <a:t>1. </a:t>
            </a:r>
            <a:r>
              <a:rPr lang="tr-TR" i="0" dirty="0"/>
              <a:t>Asemptomatik  (herhangi bir vasküler ya da obstetrik kriteri karşılamayanlar) ancak yüksek risk profilli </a:t>
            </a:r>
            <a:r>
              <a:rPr lang="tr-TR" i="0" dirty="0" err="1"/>
              <a:t>aPL</a:t>
            </a:r>
            <a:r>
              <a:rPr lang="tr-TR" i="0" dirty="0"/>
              <a:t> taşıyıcılarında, risk faktörleri olsun ya da olmasın, profilaktik olarak düşük doz aspirin (75-100mg/gün) kullanımı önerilir.</a:t>
            </a:r>
          </a:p>
          <a:p>
            <a:pPr lvl="1"/>
            <a:r>
              <a:rPr lang="tr-TR" i="0" dirty="0"/>
              <a:t>2. SLE hastalarında, herhangi bir trombotik olay ya da gebelik komplikasyonu yokken,</a:t>
            </a:r>
          </a:p>
          <a:p>
            <a:pPr lvl="2"/>
            <a:r>
              <a:rPr lang="tr-TR" i="0" dirty="0"/>
              <a:t> a. eğer yüksek riskli </a:t>
            </a:r>
            <a:r>
              <a:rPr lang="tr-TR" i="0" dirty="0" err="1"/>
              <a:t>aPL</a:t>
            </a:r>
            <a:r>
              <a:rPr lang="tr-TR" i="0" dirty="0"/>
              <a:t> profili varsa düşük doz aspirin ile profilaksi önerilir.</a:t>
            </a:r>
          </a:p>
          <a:p>
            <a:pPr lvl="2"/>
            <a:r>
              <a:rPr lang="tr-TR" i="0" dirty="0" smtClean="0"/>
              <a:t>b</a:t>
            </a:r>
            <a:r>
              <a:rPr lang="tr-TR" i="0" dirty="0"/>
              <a:t>. eğer düşük riskli </a:t>
            </a:r>
            <a:r>
              <a:rPr lang="tr-TR" i="0" dirty="0" err="1"/>
              <a:t>aPL</a:t>
            </a:r>
            <a:r>
              <a:rPr lang="tr-TR" i="0" dirty="0"/>
              <a:t> profili varsa düşük doz aspirin ile profilaksi belki düşünülebilir</a:t>
            </a:r>
            <a:r>
              <a:rPr lang="tr-TR" i="0" dirty="0" smtClean="0"/>
              <a:t>.</a:t>
            </a:r>
            <a:endParaRPr lang="tr-TR" i="0" dirty="0"/>
          </a:p>
        </p:txBody>
      </p:sp>
    </p:spTree>
    <p:extLst>
      <p:ext uri="{BB962C8B-B14F-4D97-AF65-F5344CB8AC3E}">
        <p14:creationId xmlns:p14="http://schemas.microsoft.com/office/powerpoint/2010/main" val="167830125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p:txBody>
          <a:bodyPr/>
          <a:lstStyle/>
          <a:p>
            <a:r>
              <a:rPr lang="tr-TR" i="0" dirty="0" err="1" smtClean="0"/>
              <a:t>aPL</a:t>
            </a:r>
            <a:r>
              <a:rPr lang="tr-TR" i="0" dirty="0" smtClean="0"/>
              <a:t> Pozitif Hastalarda Primer </a:t>
            </a:r>
            <a:r>
              <a:rPr lang="tr-TR" i="0" dirty="0" err="1" smtClean="0"/>
              <a:t>Trombofilaksi</a:t>
            </a:r>
            <a:endParaRPr lang="tr-TR" i="0" dirty="0" smtClean="0"/>
          </a:p>
          <a:p>
            <a:pPr lvl="1"/>
            <a:r>
              <a:rPr lang="tr-TR" i="0" dirty="0" smtClean="0"/>
              <a:t>3</a:t>
            </a:r>
            <a:r>
              <a:rPr lang="tr-TR" i="0" dirty="0"/>
              <a:t>. Gebe olmayan ancak obstetrik APS öyküsü olan (SLE tanısı olsun ya da olmasın) kadınlarda risk/yarar değerlendirilmesi yapılarak düşük doz aspirin ile profilaksi gereğine karar verilmelidir.</a:t>
            </a:r>
          </a:p>
          <a:p>
            <a:pPr lvl="1"/>
            <a:endParaRPr lang="tr-TR" i="0" dirty="0"/>
          </a:p>
        </p:txBody>
      </p:sp>
    </p:spTree>
    <p:extLst>
      <p:ext uri="{BB962C8B-B14F-4D97-AF65-F5344CB8AC3E}">
        <p14:creationId xmlns:p14="http://schemas.microsoft.com/office/powerpoint/2010/main" val="335843593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152419"/>
          </a:xfrm>
        </p:spPr>
        <p:txBody>
          <a:bodyPr/>
          <a:lstStyle/>
          <a:p>
            <a:r>
              <a:rPr lang="tr-TR" i="0" dirty="0" err="1" smtClean="0"/>
              <a:t>APS’li</a:t>
            </a:r>
            <a:r>
              <a:rPr lang="tr-TR" i="0" dirty="0" smtClean="0"/>
              <a:t> Hastalarda Sekonder </a:t>
            </a:r>
            <a:r>
              <a:rPr lang="tr-TR" i="0" dirty="0" err="1" smtClean="0"/>
              <a:t>Trombofilaksi</a:t>
            </a:r>
            <a:endParaRPr lang="tr-TR" i="0" dirty="0" smtClean="0"/>
          </a:p>
          <a:p>
            <a:pPr lvl="1"/>
            <a:r>
              <a:rPr lang="tr-TR" dirty="0" smtClean="0"/>
              <a:t>4. </a:t>
            </a:r>
            <a:r>
              <a:rPr lang="tr-TR" dirty="0" err="1" smtClean="0"/>
              <a:t>APS’li</a:t>
            </a:r>
            <a:r>
              <a:rPr lang="tr-TR" dirty="0" smtClean="0"/>
              <a:t> </a:t>
            </a:r>
            <a:r>
              <a:rPr lang="tr-TR" dirty="0"/>
              <a:t>hastada ilk venöz tromboz için;</a:t>
            </a:r>
          </a:p>
          <a:p>
            <a:pPr lvl="2"/>
            <a:r>
              <a:rPr lang="tr-TR" dirty="0"/>
              <a:t>a. Vitamin K antagonistleri( VKA)  verilmeli ve INR 2-3 arasında olmalıdır</a:t>
            </a:r>
          </a:p>
          <a:p>
            <a:pPr lvl="2"/>
            <a:r>
              <a:rPr lang="tr-TR" dirty="0"/>
              <a:t>b. 3’lü </a:t>
            </a:r>
            <a:r>
              <a:rPr lang="tr-TR" dirty="0" err="1"/>
              <a:t>aPL</a:t>
            </a:r>
            <a:r>
              <a:rPr lang="tr-TR" dirty="0"/>
              <a:t> pozitifliği olan hastalarda </a:t>
            </a:r>
            <a:r>
              <a:rPr lang="tr-TR" dirty="0" smtClean="0"/>
              <a:t>rivaroksaban </a:t>
            </a:r>
            <a:r>
              <a:rPr lang="tr-TR" dirty="0"/>
              <a:t>kullanılmamalıdır. ( artmış rekürren olay riski nedeni ile). Yeterli VKA kullanımına rağmen hedef </a:t>
            </a:r>
            <a:r>
              <a:rPr lang="tr-TR" dirty="0" err="1"/>
              <a:t>INRye</a:t>
            </a:r>
            <a:r>
              <a:rPr lang="tr-TR" dirty="0"/>
              <a:t> ulaşılamayan hastalarda ya da VKA kontrendike olan hastalarda </a:t>
            </a:r>
            <a:r>
              <a:rPr lang="tr-TR" dirty="0" smtClean="0"/>
              <a:t>direkt </a:t>
            </a:r>
            <a:r>
              <a:rPr lang="tr-TR" dirty="0"/>
              <a:t>oral antikoagülan başlanmalıdır.</a:t>
            </a:r>
          </a:p>
          <a:p>
            <a:pPr lvl="2"/>
            <a:r>
              <a:rPr lang="tr-TR" dirty="0"/>
              <a:t>c. Risk faktörü yokken oluşan (</a:t>
            </a:r>
            <a:r>
              <a:rPr lang="tr-TR" dirty="0" err="1"/>
              <a:t>unprovoked</a:t>
            </a:r>
            <a:r>
              <a:rPr lang="tr-TR" dirty="0"/>
              <a:t> DVT) ilk venöz trombozda antikoagülasyona uzun süreler devam edilmelidir</a:t>
            </a:r>
            <a:r>
              <a:rPr lang="tr-TR" dirty="0" smtClean="0"/>
              <a:t>.</a:t>
            </a:r>
            <a:endParaRPr lang="tr-TR" i="0" dirty="0"/>
          </a:p>
        </p:txBody>
      </p:sp>
    </p:spTree>
    <p:extLst>
      <p:ext uri="{BB962C8B-B14F-4D97-AF65-F5344CB8AC3E}">
        <p14:creationId xmlns:p14="http://schemas.microsoft.com/office/powerpoint/2010/main" val="60412509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317079"/>
          </a:xfrm>
        </p:spPr>
        <p:txBody>
          <a:bodyPr/>
          <a:lstStyle/>
          <a:p>
            <a:r>
              <a:rPr lang="tr-TR" i="0" dirty="0" err="1" smtClean="0"/>
              <a:t>APS’li</a:t>
            </a:r>
            <a:r>
              <a:rPr lang="tr-TR" i="0" dirty="0" smtClean="0"/>
              <a:t> Hastalarda Sekonder </a:t>
            </a:r>
            <a:r>
              <a:rPr lang="tr-TR" i="0" dirty="0" err="1" smtClean="0"/>
              <a:t>Trombofilaksi</a:t>
            </a:r>
            <a:endParaRPr lang="tr-TR" i="0" dirty="0" smtClean="0"/>
          </a:p>
          <a:p>
            <a:pPr lvl="1"/>
            <a:r>
              <a:rPr lang="tr-TR" dirty="0" smtClean="0"/>
              <a:t>4. </a:t>
            </a:r>
            <a:r>
              <a:rPr lang="tr-TR" dirty="0" err="1" smtClean="0"/>
              <a:t>APS’li</a:t>
            </a:r>
            <a:r>
              <a:rPr lang="tr-TR" dirty="0" smtClean="0"/>
              <a:t> </a:t>
            </a:r>
            <a:r>
              <a:rPr lang="tr-TR" dirty="0"/>
              <a:t>hastada ilk venöz tromboz için;</a:t>
            </a:r>
          </a:p>
          <a:p>
            <a:pPr lvl="2"/>
            <a:r>
              <a:rPr lang="tr-TR" dirty="0" smtClean="0"/>
              <a:t>d</a:t>
            </a:r>
            <a:r>
              <a:rPr lang="tr-TR" dirty="0"/>
              <a:t>. Eğer ilk venöz tromboz için tetikleyici bir faktör varsa ( </a:t>
            </a:r>
            <a:r>
              <a:rPr lang="tr-TR" dirty="0" err="1"/>
              <a:t>provoked</a:t>
            </a:r>
            <a:r>
              <a:rPr lang="tr-TR" dirty="0"/>
              <a:t> DVT) , tedavi süresi APS olmayan hastalar için güncel </a:t>
            </a:r>
            <a:r>
              <a:rPr lang="tr-TR" dirty="0" smtClean="0"/>
              <a:t>kılavuzlarda </a:t>
            </a:r>
            <a:r>
              <a:rPr lang="tr-TR" dirty="0"/>
              <a:t>önerilen süre kadar olmalıdır. Ancak hastanın </a:t>
            </a:r>
            <a:r>
              <a:rPr lang="tr-TR" dirty="0" err="1"/>
              <a:t>aPL</a:t>
            </a:r>
            <a:r>
              <a:rPr lang="tr-TR" dirty="0"/>
              <a:t> profili yüksek riskli ise,  diğer risk faktörleri ile birlikte değerlendirilerek daha uzun sürelerde antikoagülan tedavi gerekli olabilir. </a:t>
            </a:r>
          </a:p>
          <a:p>
            <a:pPr lvl="1"/>
            <a:r>
              <a:rPr lang="tr-TR" dirty="0"/>
              <a:t>5. </a:t>
            </a:r>
            <a:r>
              <a:rPr lang="tr-TR" dirty="0" err="1"/>
              <a:t>APS’li</a:t>
            </a:r>
            <a:r>
              <a:rPr lang="tr-TR" dirty="0"/>
              <a:t> hastada INR 2-3 arasında olacak şekilde VKA almasına rağmen tekrar eden venöz tromboz varsa;</a:t>
            </a:r>
          </a:p>
          <a:p>
            <a:pPr lvl="2"/>
            <a:r>
              <a:rPr lang="tr-TR" dirty="0"/>
              <a:t>a. Hastanın eğitimi gözden geçirilip, VKA tedavisine uyumu kontrol edilmeli daha sık INR kontrolü </a:t>
            </a:r>
            <a:r>
              <a:rPr lang="tr-TR" dirty="0" smtClean="0"/>
              <a:t>yapılmalıdır</a:t>
            </a:r>
            <a:endParaRPr lang="tr-TR" dirty="0"/>
          </a:p>
        </p:txBody>
      </p:sp>
    </p:spTree>
    <p:extLst>
      <p:ext uri="{BB962C8B-B14F-4D97-AF65-F5344CB8AC3E}">
        <p14:creationId xmlns:p14="http://schemas.microsoft.com/office/powerpoint/2010/main" val="327484285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3735382"/>
          </a:xfrm>
        </p:spPr>
        <p:txBody>
          <a:bodyPr/>
          <a:lstStyle/>
          <a:p>
            <a:r>
              <a:rPr lang="tr-TR" i="0" dirty="0" err="1" smtClean="0"/>
              <a:t>APS’li</a:t>
            </a:r>
            <a:r>
              <a:rPr lang="tr-TR" i="0" dirty="0" smtClean="0"/>
              <a:t> Hastalarda Sekonder </a:t>
            </a:r>
            <a:r>
              <a:rPr lang="tr-TR" i="0" dirty="0" err="1" smtClean="0"/>
              <a:t>Trombofilaksi</a:t>
            </a:r>
            <a:endParaRPr lang="tr-TR" i="0" dirty="0" smtClean="0"/>
          </a:p>
          <a:p>
            <a:pPr lvl="1"/>
            <a:r>
              <a:rPr lang="tr-TR" dirty="0" smtClean="0"/>
              <a:t>5</a:t>
            </a:r>
            <a:r>
              <a:rPr lang="tr-TR" dirty="0"/>
              <a:t>. </a:t>
            </a:r>
            <a:r>
              <a:rPr lang="tr-TR" dirty="0" err="1"/>
              <a:t>APS’li</a:t>
            </a:r>
            <a:r>
              <a:rPr lang="tr-TR" dirty="0"/>
              <a:t> hastada INR 2-3 arasında olacak şekilde VKA almasına rağmen tekrar eden venöz tromboz varsa;</a:t>
            </a:r>
          </a:p>
          <a:p>
            <a:pPr lvl="2"/>
            <a:r>
              <a:rPr lang="tr-TR" dirty="0" smtClean="0"/>
              <a:t>b</a:t>
            </a:r>
            <a:r>
              <a:rPr lang="tr-TR" dirty="0"/>
              <a:t>.  Eğer gerçekten INR 2-3 arasında ise, düşük doz aspirin eklenmesi, INR 3-4 arasında olacak şekilde yeni doz ayarlaması ya da DMAH tedavisine geçiş seçeneklerinden birisi düşünülmelidir. </a:t>
            </a:r>
          </a:p>
          <a:p>
            <a:pPr lvl="1"/>
            <a:r>
              <a:rPr lang="tr-TR" dirty="0"/>
              <a:t>6. </a:t>
            </a:r>
            <a:r>
              <a:rPr lang="tr-TR" dirty="0" err="1"/>
              <a:t>APS’li</a:t>
            </a:r>
            <a:r>
              <a:rPr lang="tr-TR" dirty="0"/>
              <a:t> hastada ilk </a:t>
            </a:r>
            <a:r>
              <a:rPr lang="tr-TR" dirty="0" smtClean="0"/>
              <a:t>arteriyel </a:t>
            </a:r>
            <a:r>
              <a:rPr lang="tr-TR" dirty="0"/>
              <a:t>tromboz;</a:t>
            </a:r>
          </a:p>
          <a:p>
            <a:pPr lvl="2"/>
            <a:r>
              <a:rPr lang="tr-TR" dirty="0"/>
              <a:t>a. VKA ile tedavinin tek başına düşük doz aspirine tercih edilmesi önerilir </a:t>
            </a:r>
          </a:p>
        </p:txBody>
      </p:sp>
    </p:spTree>
    <p:extLst>
      <p:ext uri="{BB962C8B-B14F-4D97-AF65-F5344CB8AC3E}">
        <p14:creationId xmlns:p14="http://schemas.microsoft.com/office/powerpoint/2010/main" val="361325623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3771802"/>
          </a:xfrm>
        </p:spPr>
        <p:txBody>
          <a:bodyPr/>
          <a:lstStyle/>
          <a:p>
            <a:r>
              <a:rPr lang="tr-TR" i="0" dirty="0" err="1" smtClean="0"/>
              <a:t>APS’li</a:t>
            </a:r>
            <a:r>
              <a:rPr lang="tr-TR" i="0" dirty="0" smtClean="0"/>
              <a:t> Hastalarda Sekonder </a:t>
            </a:r>
            <a:r>
              <a:rPr lang="tr-TR" i="0" dirty="0" err="1" smtClean="0"/>
              <a:t>Trombofilaksi</a:t>
            </a:r>
            <a:endParaRPr lang="tr-TR" i="0" dirty="0" smtClean="0"/>
          </a:p>
          <a:p>
            <a:pPr lvl="1"/>
            <a:r>
              <a:rPr lang="tr-TR" dirty="0" smtClean="0"/>
              <a:t>6</a:t>
            </a:r>
            <a:r>
              <a:rPr lang="tr-TR" dirty="0"/>
              <a:t>. </a:t>
            </a:r>
            <a:r>
              <a:rPr lang="tr-TR" dirty="0" err="1"/>
              <a:t>APS’li</a:t>
            </a:r>
            <a:r>
              <a:rPr lang="tr-TR" dirty="0"/>
              <a:t> hastada ilk </a:t>
            </a:r>
            <a:r>
              <a:rPr lang="tr-TR" dirty="0" smtClean="0"/>
              <a:t>arteriyel </a:t>
            </a:r>
            <a:r>
              <a:rPr lang="tr-TR" dirty="0"/>
              <a:t>tromboz;</a:t>
            </a:r>
          </a:p>
          <a:p>
            <a:pPr lvl="2"/>
            <a:r>
              <a:rPr lang="tr-TR" dirty="0" smtClean="0"/>
              <a:t>b</a:t>
            </a:r>
            <a:r>
              <a:rPr lang="tr-TR" dirty="0"/>
              <a:t>. VKA ile hedef INR 2-3 ya da 3-4 arasında tutulmalı, kanama riski/ tromboz riski iyi değerlendirilmelidir. INR 2-3 arasında olacak şekilde VKA ile birlikte düşük doz aspirin kullanımı da düşünülebilir. </a:t>
            </a:r>
          </a:p>
          <a:p>
            <a:pPr lvl="2"/>
            <a:r>
              <a:rPr lang="tr-TR" dirty="0"/>
              <a:t>c. </a:t>
            </a:r>
            <a:r>
              <a:rPr lang="tr-TR" dirty="0" smtClean="0"/>
              <a:t>Arteriyel </a:t>
            </a:r>
            <a:r>
              <a:rPr lang="tr-TR" dirty="0"/>
              <a:t>tromboz geçiren ve 3’lü </a:t>
            </a:r>
            <a:r>
              <a:rPr lang="tr-TR" dirty="0" err="1"/>
              <a:t>aPL</a:t>
            </a:r>
            <a:r>
              <a:rPr lang="tr-TR" dirty="0"/>
              <a:t> pozitifliği olan hastalarda </a:t>
            </a:r>
            <a:r>
              <a:rPr lang="tr-TR" dirty="0" smtClean="0"/>
              <a:t>rivaroksaban </a:t>
            </a:r>
            <a:r>
              <a:rPr lang="tr-TR" dirty="0"/>
              <a:t>kullanılmamalıdır. Direk oral antikoagülan (DOAK) tedavisi de </a:t>
            </a:r>
            <a:r>
              <a:rPr lang="tr-TR" dirty="0" smtClean="0"/>
              <a:t>arteriyel </a:t>
            </a:r>
            <a:r>
              <a:rPr lang="tr-TR" dirty="0"/>
              <a:t>trombozlu hastalarda rekürren tromboz riski nedeni ile kullanılmamalıdır</a:t>
            </a:r>
            <a:r>
              <a:rPr lang="tr-TR" dirty="0" smtClean="0"/>
              <a:t>.</a:t>
            </a:r>
            <a:endParaRPr lang="tr-TR" dirty="0"/>
          </a:p>
        </p:txBody>
      </p:sp>
    </p:spTree>
    <p:extLst>
      <p:ext uri="{BB962C8B-B14F-4D97-AF65-F5344CB8AC3E}">
        <p14:creationId xmlns:p14="http://schemas.microsoft.com/office/powerpoint/2010/main" val="375908055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p:txBody>
          <a:bodyPr/>
          <a:lstStyle/>
          <a:p>
            <a:r>
              <a:rPr lang="tr-TR" i="0" dirty="0" err="1" smtClean="0"/>
              <a:t>APS’li</a:t>
            </a:r>
            <a:r>
              <a:rPr lang="tr-TR" i="0" dirty="0" smtClean="0"/>
              <a:t> Hastalarda Sekonder </a:t>
            </a:r>
            <a:r>
              <a:rPr lang="tr-TR" i="0" dirty="0" err="1" smtClean="0"/>
              <a:t>Trombofilaksi</a:t>
            </a:r>
            <a:endParaRPr lang="tr-TR" i="0" dirty="0" smtClean="0"/>
          </a:p>
          <a:p>
            <a:pPr lvl="1"/>
            <a:r>
              <a:rPr lang="tr-TR" dirty="0" smtClean="0"/>
              <a:t>7</a:t>
            </a:r>
            <a:r>
              <a:rPr lang="tr-TR" dirty="0"/>
              <a:t>. Yeterli VKA tedavisine rağmen rekürren arteriyel tromboz gelişen </a:t>
            </a:r>
            <a:r>
              <a:rPr lang="tr-TR" dirty="0" smtClean="0"/>
              <a:t>hastalarda, </a:t>
            </a:r>
            <a:r>
              <a:rPr lang="tr-TR" dirty="0"/>
              <a:t>potansiyel nedenler değerlendirildikten sonra INR hedefi 3-4 arasına yükseltilmeli, düşük doz aspirin ya da DMAH tedavisine geçiş düşünülmelidir</a:t>
            </a:r>
            <a:r>
              <a:rPr lang="tr-TR" dirty="0" smtClean="0"/>
              <a:t>.</a:t>
            </a:r>
            <a:endParaRPr lang="tr-TR" i="0" dirty="0"/>
          </a:p>
        </p:txBody>
      </p:sp>
    </p:spTree>
    <p:extLst>
      <p:ext uri="{BB962C8B-B14F-4D97-AF65-F5344CB8AC3E}">
        <p14:creationId xmlns:p14="http://schemas.microsoft.com/office/powerpoint/2010/main" val="231403817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125745"/>
          </a:xfrm>
        </p:spPr>
        <p:txBody>
          <a:bodyPr/>
          <a:lstStyle/>
          <a:p>
            <a:pPr lvl="0"/>
            <a:r>
              <a:rPr lang="tr-TR" i="0" dirty="0" smtClean="0"/>
              <a:t>Obstetrik APS</a:t>
            </a:r>
          </a:p>
          <a:p>
            <a:pPr lvl="1"/>
            <a:r>
              <a:rPr lang="tr-TR" dirty="0"/>
              <a:t>8. Herhangi bir gebelik komplikasyonu ya da tromboz öyküsü olmayan, yüksek riskli </a:t>
            </a:r>
            <a:r>
              <a:rPr lang="tr-TR" dirty="0" err="1"/>
              <a:t>aPL</a:t>
            </a:r>
            <a:r>
              <a:rPr lang="tr-TR" dirty="0"/>
              <a:t> profili olan kadınlarda gebelik boyunca düşük doz aspirin (75-100mg) kullanımı düşünülmelidir.</a:t>
            </a:r>
          </a:p>
          <a:p>
            <a:pPr lvl="1"/>
            <a:r>
              <a:rPr lang="tr-TR" dirty="0"/>
              <a:t>9. Trombotik olay olmaksızın obstetrik APS olan kadınlarda ( SLE olsun ya da olmasın),</a:t>
            </a:r>
          </a:p>
          <a:p>
            <a:pPr lvl="2"/>
            <a:r>
              <a:rPr lang="tr-TR" dirty="0"/>
              <a:t>a. 10. Gebelik haftasının altında 3 ve üzerinde düşük öyküsü varsa ve 10 hafta üzeri bir fetüs kaybı öyküsü varsa gebelik boyunca profilaktik dozda heparin ve düşük doz aspirin birlikte önerilir</a:t>
            </a:r>
            <a:r>
              <a:rPr lang="tr-TR" dirty="0" smtClean="0"/>
              <a:t>.</a:t>
            </a:r>
            <a:endParaRPr lang="tr-TR" dirty="0"/>
          </a:p>
        </p:txBody>
      </p:sp>
    </p:spTree>
    <p:extLst>
      <p:ext uri="{BB962C8B-B14F-4D97-AF65-F5344CB8AC3E}">
        <p14:creationId xmlns:p14="http://schemas.microsoft.com/office/powerpoint/2010/main" val="418118790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707443"/>
          </a:xfrm>
        </p:spPr>
        <p:txBody>
          <a:bodyPr/>
          <a:lstStyle/>
          <a:p>
            <a:pPr lvl="0"/>
            <a:r>
              <a:rPr lang="tr-TR" i="0" dirty="0" smtClean="0"/>
              <a:t>Obstetrik APS</a:t>
            </a:r>
          </a:p>
          <a:p>
            <a:pPr lvl="1"/>
            <a:r>
              <a:rPr lang="tr-TR" dirty="0" smtClean="0"/>
              <a:t>9</a:t>
            </a:r>
            <a:r>
              <a:rPr lang="tr-TR" dirty="0"/>
              <a:t>. Trombotik olay olmaksızın obstetrik APS olan kadınlarda ( SLE olsun ya da olmasın),</a:t>
            </a:r>
          </a:p>
          <a:p>
            <a:pPr lvl="2"/>
            <a:r>
              <a:rPr lang="tr-TR" dirty="0" smtClean="0"/>
              <a:t>b</a:t>
            </a:r>
            <a:r>
              <a:rPr lang="tr-TR" dirty="0"/>
              <a:t>. </a:t>
            </a:r>
            <a:r>
              <a:rPr lang="tr-TR" dirty="0" smtClean="0"/>
              <a:t>Eklampsi </a:t>
            </a:r>
            <a:r>
              <a:rPr lang="tr-TR" dirty="0"/>
              <a:t>ya da ciddi </a:t>
            </a:r>
            <a:r>
              <a:rPr lang="tr-TR" dirty="0" smtClean="0"/>
              <a:t>preeklampsi </a:t>
            </a:r>
            <a:r>
              <a:rPr lang="tr-TR" dirty="0"/>
              <a:t>ya da plasental yetmezlik bulgularına  bağlı 34 hafta öncesinde erken doğum eylemi varsa, bireyin risk profili gözden geçirilerek düşük doz aspirin ya da düşük doz aspirin ve profilaktik dozda heparin birlikte kullanımı önerilir.</a:t>
            </a:r>
          </a:p>
          <a:p>
            <a:pPr lvl="2"/>
            <a:r>
              <a:rPr lang="tr-TR" dirty="0"/>
              <a:t>c. Obstetrik klinik kriterleri tam karşılamayan ancak,  &lt;10. Haftada 2 rekürren spontan gebelik kaybı ya da 34 hafta üzerinde </a:t>
            </a:r>
            <a:r>
              <a:rPr lang="tr-TR" dirty="0" smtClean="0"/>
              <a:t>eklampsi preeklampsi </a:t>
            </a:r>
            <a:r>
              <a:rPr lang="tr-TR" dirty="0"/>
              <a:t>ya da plasental yetmezliğe bağlı erken doğum olan kadınlarda bireyin risk profili değerlendirilerek tek başına düşük doz aspirin ya da heparinle kombinasyonu önerilir</a:t>
            </a:r>
            <a:r>
              <a:rPr lang="tr-TR" dirty="0" smtClean="0"/>
              <a:t>.</a:t>
            </a:r>
          </a:p>
        </p:txBody>
      </p:sp>
    </p:spTree>
    <p:extLst>
      <p:ext uri="{BB962C8B-B14F-4D97-AF65-F5344CB8AC3E}">
        <p14:creationId xmlns:p14="http://schemas.microsoft.com/office/powerpoint/2010/main" val="81673065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p:txBody>
          <a:bodyPr/>
          <a:lstStyle/>
          <a:p>
            <a:pPr lvl="0"/>
            <a:r>
              <a:rPr lang="tr-TR" i="0" dirty="0" smtClean="0"/>
              <a:t>Obstetrik APS</a:t>
            </a:r>
          </a:p>
          <a:p>
            <a:pPr lvl="1"/>
            <a:r>
              <a:rPr lang="tr-TR" dirty="0" smtClean="0"/>
              <a:t>9</a:t>
            </a:r>
            <a:r>
              <a:rPr lang="tr-TR" dirty="0"/>
              <a:t>. Trombotik olay olmaksızın obstetrik APS olan kadınlarda ( SLE olsun ya da olmasın),</a:t>
            </a:r>
          </a:p>
          <a:p>
            <a:pPr lvl="2"/>
            <a:r>
              <a:rPr lang="tr-TR" dirty="0" smtClean="0"/>
              <a:t>d. Gebelik boyunca heparin profilaksisi alan obstetrik APS hastalarında maternal tromboz riskini azaltmak için doğum sonrası 6 haftaya kadar profilaksiye devam edilmelidir. </a:t>
            </a:r>
          </a:p>
        </p:txBody>
      </p:sp>
    </p:spTree>
    <p:extLst>
      <p:ext uri="{BB962C8B-B14F-4D97-AF65-F5344CB8AC3E}">
        <p14:creationId xmlns:p14="http://schemas.microsoft.com/office/powerpoint/2010/main" val="365282136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744889"/>
          </a:xfrm>
        </p:spPr>
        <p:txBody>
          <a:bodyPr/>
          <a:lstStyle/>
          <a:p>
            <a:pPr lvl="0"/>
            <a:r>
              <a:rPr lang="tr-TR" i="0" dirty="0" smtClean="0"/>
              <a:t>Obstetrik APS</a:t>
            </a:r>
          </a:p>
          <a:p>
            <a:pPr lvl="1"/>
            <a:r>
              <a:rPr lang="tr-TR" dirty="0" smtClean="0"/>
              <a:t>10. Düşük doz aspirin ve profilaktik heparin tedavisine rağmen gebelik komplikasyonu yaşayan obstetrik APS öyküsü olan kadınlarda, heparin dozunun tedavi dozuna artırılması ve hidroksiklorokin eklemesi ya da ilk </a:t>
            </a:r>
            <a:r>
              <a:rPr lang="tr-TR" dirty="0" smtClean="0"/>
              <a:t>trimesterde </a:t>
            </a:r>
            <a:r>
              <a:rPr lang="tr-TR" dirty="0" smtClean="0"/>
              <a:t>düşük doz </a:t>
            </a:r>
            <a:r>
              <a:rPr lang="tr-TR" dirty="0" smtClean="0"/>
              <a:t>prednizolon </a:t>
            </a:r>
            <a:r>
              <a:rPr lang="tr-TR" dirty="0" smtClean="0"/>
              <a:t>eklenmesi düşünülebilir. Seçilmiş olgularda IVIG tedavisi gerekebilir.</a:t>
            </a:r>
          </a:p>
          <a:p>
            <a:pPr lvl="1"/>
            <a:r>
              <a:rPr lang="tr-TR" dirty="0" smtClean="0"/>
              <a:t>11. Trombotik APS öyküsü olan kadınlarda gebelik boyunca düşük doz aspirin ve terapötik dozda heparin kullanımı önerilir.</a:t>
            </a:r>
          </a:p>
          <a:p>
            <a:pPr lvl="1"/>
            <a:endParaRPr lang="tr-TR" i="0" dirty="0"/>
          </a:p>
        </p:txBody>
      </p:sp>
    </p:spTree>
    <p:extLst>
      <p:ext uri="{BB962C8B-B14F-4D97-AF65-F5344CB8AC3E}">
        <p14:creationId xmlns:p14="http://schemas.microsoft.com/office/powerpoint/2010/main" val="412470382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899803"/>
          </a:xfrm>
        </p:spPr>
        <p:txBody>
          <a:bodyPr/>
          <a:lstStyle/>
          <a:p>
            <a:pPr lvl="0"/>
            <a:r>
              <a:rPr lang="tr-TR" i="0" dirty="0"/>
              <a:t>CAPS ( </a:t>
            </a:r>
            <a:r>
              <a:rPr lang="tr-TR" i="0" dirty="0" err="1" smtClean="0"/>
              <a:t>Catastrophic</a:t>
            </a:r>
            <a:r>
              <a:rPr lang="tr-TR" i="0" dirty="0" smtClean="0"/>
              <a:t> APS)</a:t>
            </a:r>
          </a:p>
          <a:p>
            <a:pPr lvl="1"/>
            <a:r>
              <a:rPr lang="tr-TR" dirty="0"/>
              <a:t>12. CAPS gelişiminde en temel predispozan faktör olarak antikoagülan tedavinin kesilmesi, enfeksiyon ve cerrahi prosedür belirlenmiştir.</a:t>
            </a:r>
          </a:p>
          <a:p>
            <a:pPr lvl="2"/>
            <a:r>
              <a:rPr lang="tr-TR" dirty="0"/>
              <a:t>a. Tüm </a:t>
            </a:r>
            <a:r>
              <a:rPr lang="tr-TR" dirty="0" err="1"/>
              <a:t>aPL</a:t>
            </a:r>
            <a:r>
              <a:rPr lang="tr-TR" dirty="0"/>
              <a:t> pozitif hastalarda enfeksiyonların erken teşhis ve tedavisi ve trombotik APS hastalarında antikoagülasyon tedavinin kesintisiz/minimum kesinti ile devamı gereklidir.</a:t>
            </a:r>
          </a:p>
          <a:p>
            <a:pPr lvl="2"/>
            <a:r>
              <a:rPr lang="tr-TR" dirty="0"/>
              <a:t>b. CAPS tedavisinde steroid, heparin, plazma değişimi ya da IVIG tek başına ya da kombinasyonlar halinde önerilir.</a:t>
            </a:r>
          </a:p>
          <a:p>
            <a:pPr lvl="2"/>
            <a:r>
              <a:rPr lang="tr-TR" dirty="0"/>
              <a:t>c. Refrakter CAPS hastalarında </a:t>
            </a:r>
            <a:r>
              <a:rPr lang="tr-TR" dirty="0" err="1" smtClean="0"/>
              <a:t>rituksimab</a:t>
            </a:r>
            <a:r>
              <a:rPr lang="tr-TR" dirty="0" smtClean="0"/>
              <a:t> </a:t>
            </a:r>
            <a:r>
              <a:rPr lang="tr-TR" dirty="0"/>
              <a:t>ya da </a:t>
            </a:r>
            <a:r>
              <a:rPr lang="tr-TR" dirty="0" err="1"/>
              <a:t>eculizumab</a:t>
            </a:r>
            <a:r>
              <a:rPr lang="tr-TR" dirty="0"/>
              <a:t> ile tedavi düşünülebilir. </a:t>
            </a:r>
          </a:p>
          <a:p>
            <a:pPr lvl="1"/>
            <a:endParaRPr lang="tr-TR" i="0" dirty="0"/>
          </a:p>
        </p:txBody>
      </p:sp>
    </p:spTree>
    <p:extLst>
      <p:ext uri="{BB962C8B-B14F-4D97-AF65-F5344CB8AC3E}">
        <p14:creationId xmlns:p14="http://schemas.microsoft.com/office/powerpoint/2010/main" val="3720949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endParaRPr lang="tr-TR"/>
          </a:p>
        </p:txBody>
      </p:sp>
      <p:sp>
        <p:nvSpPr>
          <p:cNvPr id="5" name="Metin Yer Tutucusu 4"/>
          <p:cNvSpPr>
            <a:spLocks noGrp="1"/>
          </p:cNvSpPr>
          <p:nvPr>
            <p:ph type="body" sz="quarter" idx="10"/>
          </p:nvPr>
        </p:nvSpPr>
        <p:spPr/>
        <p:txBody>
          <a:bodyPr/>
          <a:lstStyle/>
          <a:p>
            <a:endParaRPr lang="tr-TR"/>
          </a:p>
        </p:txBody>
      </p:sp>
    </p:spTree>
    <p:extLst>
      <p:ext uri="{BB962C8B-B14F-4D97-AF65-F5344CB8AC3E}">
        <p14:creationId xmlns:p14="http://schemas.microsoft.com/office/powerpoint/2010/main" val="83831120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937427"/>
      </p:ext>
    </p:extLst>
  </p:cSld>
  <p:clrMapOvr>
    <a:masterClrMapping/>
  </p:clrMapOvr>
  <p:transition>
    <p:fade/>
  </p:transition>
</p:sld>
</file>

<file path=ppt/theme/theme1.xml><?xml version="1.0" encoding="utf-8"?>
<a:theme xmlns:a="http://schemas.openxmlformats.org/drawingml/2006/main" name="ender.DL.2019">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labalık">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docProps/app.xml><?xml version="1.0" encoding="utf-8"?>
<Properties xmlns="http://schemas.openxmlformats.org/officeDocument/2006/extended-properties" xmlns:vt="http://schemas.openxmlformats.org/officeDocument/2006/docPropsVTypes">
  <Template>ender.PDF</Template>
  <TotalTime>111</TotalTime>
  <Words>1230</Words>
  <Application>Microsoft Office PowerPoint</Application>
  <PresentationFormat>Ekran Gösterisi (4:3)</PresentationFormat>
  <Paragraphs>93</Paragraphs>
  <Slides>21</Slides>
  <Notes>0</Notes>
  <HiddenSlides>0</HiddenSlides>
  <MMClips>0</MMClips>
  <ScaleCrop>false</ScaleCrop>
  <HeadingPairs>
    <vt:vector size="4" baseType="variant">
      <vt:variant>
        <vt:lpstr>Tema</vt:lpstr>
      </vt:variant>
      <vt:variant>
        <vt:i4>1</vt:i4>
      </vt:variant>
      <vt:variant>
        <vt:lpstr>Slayt Başlıkları</vt:lpstr>
      </vt:variant>
      <vt:variant>
        <vt:i4>21</vt:i4>
      </vt:variant>
    </vt:vector>
  </HeadingPairs>
  <TitlesOfParts>
    <vt:vector size="22" baseType="lpstr">
      <vt:lpstr>ender.DL.2019</vt:lpstr>
      <vt:lpstr>2019 EULAR  Erişkin Antifosfolipid Sendromu Önerileri</vt:lpstr>
      <vt:lpstr>PowerPoint Sunusu</vt:lpstr>
      <vt:lpstr>PowerPoint Sunusu</vt:lpstr>
      <vt:lpstr>PowerPoint Sunusu</vt:lpstr>
      <vt:lpstr>Genel Prensipler</vt:lpstr>
      <vt:lpstr>Genel Prensipler</vt:lpstr>
      <vt:lpstr>Genel Prensipler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PowerPoint Sunusu</vt:lpstr>
      <vt:lpstr>PowerPoint Sunusu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2019 EULAR Erişkin Antifosfolipit Sendromu Önerileri</dc:title>
  <dc:creator>Dr. Neşe Merve Kartal</dc:creator>
  <cp:keywords>www.ftronline.com</cp:keywords>
  <cp:lastModifiedBy>Dr.Ender Salbaş</cp:lastModifiedBy>
  <cp:revision>18</cp:revision>
  <dcterms:created xsi:type="dcterms:W3CDTF">2020-05-21T10:11:40Z</dcterms:created>
  <dcterms:modified xsi:type="dcterms:W3CDTF">2020-06-10T11:59:09Z</dcterms:modified>
  <cp:category>2020 Mayıs Literatür</cp:category>
</cp:coreProperties>
</file>