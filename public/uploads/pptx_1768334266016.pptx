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4" r:id="rId2"/>
  </p:sldMasterIdLst>
  <p:notesMasterIdLst>
    <p:notesMasterId r:id="rId58"/>
  </p:notesMasterIdLst>
  <p:sldIdLst>
    <p:sldId id="257" r:id="rId3"/>
    <p:sldId id="258" r:id="rId4"/>
    <p:sldId id="259" r:id="rId5"/>
    <p:sldId id="260" r:id="rId6"/>
    <p:sldId id="319" r:id="rId7"/>
    <p:sldId id="313" r:id="rId8"/>
    <p:sldId id="262" r:id="rId9"/>
    <p:sldId id="263" r:id="rId10"/>
    <p:sldId id="264" r:id="rId11"/>
    <p:sldId id="266" r:id="rId12"/>
    <p:sldId id="267" r:id="rId13"/>
    <p:sldId id="268" r:id="rId14"/>
    <p:sldId id="314" r:id="rId15"/>
    <p:sldId id="269" r:id="rId16"/>
    <p:sldId id="270" r:id="rId17"/>
    <p:sldId id="271" r:id="rId18"/>
    <p:sldId id="272" r:id="rId19"/>
    <p:sldId id="273" r:id="rId20"/>
    <p:sldId id="321" r:id="rId21"/>
    <p:sldId id="274" r:id="rId22"/>
    <p:sldId id="320" r:id="rId23"/>
    <p:sldId id="275" r:id="rId24"/>
    <p:sldId id="276" r:id="rId25"/>
    <p:sldId id="310" r:id="rId26"/>
    <p:sldId id="277" r:id="rId27"/>
    <p:sldId id="278" r:id="rId28"/>
    <p:sldId id="279" r:id="rId29"/>
    <p:sldId id="280" r:id="rId30"/>
    <p:sldId id="281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322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15" r:id="rId49"/>
    <p:sldId id="316" r:id="rId50"/>
    <p:sldId id="323" r:id="rId51"/>
    <p:sldId id="317" r:id="rId52"/>
    <p:sldId id="324" r:id="rId53"/>
    <p:sldId id="300" r:id="rId54"/>
    <p:sldId id="325" r:id="rId55"/>
    <p:sldId id="326" r:id="rId56"/>
    <p:sldId id="327" r:id="rId5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>
        <p:scale>
          <a:sx n="60" d="100"/>
          <a:sy n="60" d="100"/>
        </p:scale>
        <p:origin x="-165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EE3370-FAB2-442A-94E0-2A12FB7C6B41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8FCF1-86D3-494D-819C-4C6152957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the DESIR cohort, elevated CRP levels</a:t>
            </a:r>
            <a:r>
              <a:rPr lang="tr-TR" dirty="0" smtClean="0"/>
              <a:t> </a:t>
            </a:r>
            <a:r>
              <a:rPr lang="en-US" dirty="0" smtClean="0"/>
              <a:t>were related to higher chance of radiographic progression to r-</a:t>
            </a:r>
            <a:r>
              <a:rPr lang="en-US" dirty="0" err="1" smtClean="0"/>
              <a:t>axSpA</a:t>
            </a:r>
            <a:r>
              <a:rPr lang="en-US" dirty="0" smtClean="0"/>
              <a:t> after 5 years of follow-up</a:t>
            </a:r>
          </a:p>
          <a:p>
            <a:r>
              <a:rPr lang="en-US" dirty="0" smtClean="0"/>
              <a:t>in HLA-B27 positive (OR 2.87, 95% CI 1.66 to 4.97), but not in HLA-B27 negative patients</a:t>
            </a:r>
            <a:r>
              <a:rPr lang="tr-TR" dirty="0" smtClean="0"/>
              <a:t>. Ek olarak </a:t>
            </a:r>
            <a:r>
              <a:rPr lang="tr-TR" dirty="0" err="1" smtClean="0"/>
              <a:t>siggara</a:t>
            </a:r>
            <a:r>
              <a:rPr lang="tr-TR" dirty="0" smtClean="0"/>
              <a:t> içmek </a:t>
            </a:r>
          </a:p>
          <a:p>
            <a:r>
              <a:rPr lang="en-US" dirty="0" smtClean="0"/>
              <a:t>In GESPIC cohort, elevated CRP level</a:t>
            </a:r>
            <a:r>
              <a:rPr lang="tr-TR" dirty="0" smtClean="0"/>
              <a:t>  </a:t>
            </a:r>
            <a:r>
              <a:rPr lang="en-US" dirty="0" smtClean="0"/>
              <a:t>at baseline (OR 3.59, 95% CI 1.12 to 11.55) was a predictor of radiographic </a:t>
            </a:r>
            <a:r>
              <a:rPr lang="en-US" dirty="0" err="1" smtClean="0"/>
              <a:t>sacroiliitis</a:t>
            </a:r>
            <a:endParaRPr lang="en-US" dirty="0" smtClean="0"/>
          </a:p>
          <a:p>
            <a:r>
              <a:rPr lang="en-US" dirty="0" smtClean="0"/>
              <a:t>progression by at least one grade over two years</a:t>
            </a:r>
            <a:endParaRPr lang="tr-TR" dirty="0" smtClean="0"/>
          </a:p>
          <a:p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5.3. 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Low-grade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radiographic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sacroiliitis</a:t>
            </a:r>
            <a:endParaRPr lang="tr-TR" sz="1200" b="1" i="1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B27 +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liği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MR da ve 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Crpde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yüksek 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inflamatuar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aktivite,</a:t>
            </a:r>
          </a:p>
          <a:p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Yaşam boyu 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progresyon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1" i="1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dah</a:t>
            </a:r>
            <a:r>
              <a:rPr lang="tr-TR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yüksek olabilir</a:t>
            </a:r>
          </a:p>
          <a:p>
            <a:endParaRPr lang="tr-TR" sz="1200" b="1" i="1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Yüksek CRP ve MR da ödem yüzde 20-30 </a:t>
            </a:r>
            <a:r>
              <a:rPr lang="tr-TR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lara</a:t>
            </a:r>
            <a:r>
              <a:rPr lang="tr-T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varır 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2700CA-A1E5-428A-A6FE-70C7276E65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61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8FCF1-86D3-494D-819C-4C61529572B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22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 smtClean="0"/>
              <a:t>Asde</a:t>
            </a:r>
            <a:r>
              <a:rPr lang="tr-TR" dirty="0" smtClean="0"/>
              <a:t> tümü </a:t>
            </a:r>
            <a:r>
              <a:rPr lang="tr-TR" dirty="0" err="1" smtClean="0"/>
              <a:t>b27</a:t>
            </a:r>
            <a:endParaRPr lang="tr-TR" dirty="0" smtClean="0"/>
          </a:p>
          <a:p>
            <a:r>
              <a:rPr lang="tr-TR" dirty="0" err="1" smtClean="0"/>
              <a:t>Tbc</a:t>
            </a:r>
            <a:r>
              <a:rPr lang="tr-TR" dirty="0" smtClean="0"/>
              <a:t> dışlanmalı</a:t>
            </a:r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8FCF1-86D3-494D-819C-4C61529572B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84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%60-64,  ,6. </a:t>
            </a:r>
            <a:r>
              <a:rPr lang="tr-TR" dirty="0" err="1" smtClean="0"/>
              <a:t>a6</a:t>
            </a:r>
            <a:r>
              <a:rPr lang="tr-TR" dirty="0" smtClean="0"/>
              <a:t> %15-20, 12. ay %12 16 ay %5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8FCF1-86D3-494D-819C-4C61529572B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64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7584" y="5157192"/>
            <a:ext cx="7681913" cy="461665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300"/>
              </a:spcBef>
              <a:buNone/>
              <a:defRPr sz="2700" b="1" baseline="0">
                <a:solidFill>
                  <a:schemeClr val="accent1">
                    <a:lumMod val="20000"/>
                    <a:lumOff val="80000"/>
                  </a:schemeClr>
                </a:solidFill>
                <a:latin typeface="Ubuntu" panose="020B0504030602030204" pitchFamily="34" charset="0"/>
                <a:ea typeface="Segoe UI" pitchFamily="34" charset="0"/>
                <a:cs typeface="Segoe UI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Yazar Adını Yazınız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23528" y="764704"/>
            <a:ext cx="8424936" cy="3600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110000"/>
              </a:lnSpc>
              <a:defRPr sz="6600" baseline="0">
                <a:latin typeface="Futura XBlk BT" pitchFamily="34" charset="0"/>
              </a:defRPr>
            </a:lvl1pPr>
          </a:lstStyle>
          <a:p>
            <a:r>
              <a:rPr lang="tr-TR" dirty="0"/>
              <a:t>SEMİNER BAŞLIĞINI YAZINIZ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teratür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9552" y="6021288"/>
            <a:ext cx="8136904" cy="461665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baseline="0">
                <a:solidFill>
                  <a:schemeClr val="accent1">
                    <a:lumMod val="20000"/>
                    <a:lumOff val="8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Yazar Adını Yazın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611560" y="2924944"/>
            <a:ext cx="8136904" cy="136815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5000" b="0">
                <a:latin typeface="Futura XBlk BT" pitchFamily="34" charset="0"/>
              </a:defRPr>
            </a:lvl1pPr>
          </a:lstStyle>
          <a:p>
            <a:r>
              <a:rPr lang="tr-TR" dirty="0"/>
              <a:t>Literatürün Adını Yazın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85176" y="260647"/>
            <a:ext cx="7043208" cy="5760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/>
                <a:latin typeface="Futura XBlk BT" pitchFamily="34" charset="0"/>
                <a:ea typeface="+mn-ea"/>
                <a:cs typeface="Arial" charset="0"/>
              </a:defRPr>
            </a:lvl1pPr>
          </a:lstStyle>
          <a:p>
            <a:r>
              <a:rPr lang="tr-TR" sz="5400" b="0" dirty="0"/>
              <a:t>Literatür</a:t>
            </a:r>
          </a:p>
        </p:txBody>
      </p:sp>
    </p:spTree>
    <p:extLst>
      <p:ext uri="{BB962C8B-B14F-4D97-AF65-F5344CB8AC3E}">
        <p14:creationId xmlns:p14="http://schemas.microsoft.com/office/powerpoint/2010/main" val="1678443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-01055_Templ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828600" y="116632"/>
            <a:ext cx="9972595" cy="67413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1930994"/>
            <a:ext cx="8175906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6600"/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5013176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lang="en-US" sz="12000" b="1" kern="1200" spc="-770" dirty="0" smtClean="0">
                <a:ln w="11430">
                  <a:solidFill>
                    <a:schemeClr val="bg2">
                      <a:lumMod val="50000"/>
                      <a:lumOff val="50000"/>
                    </a:schemeClr>
                  </a:solidFill>
                </a:ln>
                <a:gradFill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37000">
                      <a:schemeClr val="tx1"/>
                    </a:gs>
                    <a:gs pos="85000">
                      <a:srgbClr val="2D8499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10953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Arial" pitchFamily="34" charset="0"/>
              <a:buNone/>
            </a:pPr>
            <a:r>
              <a:rPr lang="tr-TR" dirty="0" err="1"/>
              <a:t>ftronline</a:t>
            </a:r>
            <a:r>
              <a:rPr lang="en-US" dirty="0"/>
              <a:t>…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lasik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114483"/>
            <a:ext cx="8382000" cy="1962589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300">
                <a:latin typeface="Segoe UI Semibold" pitchFamily="34" charset="0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100" b="0">
                <a:latin typeface="Segoe UI Semibold" pitchFamily="34" charset="0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000" b="0">
                <a:latin typeface="Segoe UI Semibold" pitchFamily="34" charset="0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76672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Ubuntu" panose="020B0504030602030204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1962589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300">
                <a:latin typeface="Segoe UI Semibold" pitchFamily="34" charset="0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100" b="0">
                <a:latin typeface="Segoe UI Semibold" pitchFamily="34" charset="0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000" b="0">
                <a:latin typeface="Segoe UI Semibold" pitchFamily="34" charset="0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2303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76672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Ubuntu" panose="020B0504030602030204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033377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700" b="1" i="1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300" b="0">
                <a:latin typeface="Segoe UI Semibold" pitchFamily="34" charset="0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100" b="0">
                <a:latin typeface="Segoe UI Semibold" pitchFamily="34" charset="0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60429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 Yari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268760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Ubuntu" panose="020B0504030602030204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203640"/>
            <a:ext cx="8382000" cy="2033377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700" b="1" i="1">
                <a:solidFill>
                  <a:schemeClr val="tx2">
                    <a:lumMod val="75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300" b="0">
                <a:latin typeface="Segoe UI Semibold" pitchFamily="34" charset="0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100" b="0">
                <a:latin typeface="Segoe UI Semibold" pitchFamily="34" charset="0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67712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rı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340768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Ubuntu" panose="020B0504030602030204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95536" y="2258499"/>
            <a:ext cx="8382000" cy="1962589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300">
                <a:latin typeface="Segoe UI Semibold" pitchFamily="34" charset="0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100" b="0">
                <a:latin typeface="Segoe UI Semibold" pitchFamily="34" charset="0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000" b="0">
                <a:latin typeface="Segoe UI Semibold" pitchFamily="34" charset="0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1800" b="0">
                <a:latin typeface="Segoe UI Semibold" pitchFamily="34" charset="0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5039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8271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231380"/>
          </a:xfrm>
        </p:spPr>
        <p:txBody>
          <a:bodyPr/>
          <a:lstStyle>
            <a:lvl1pPr marL="339976" indent="-339976">
              <a:lnSpc>
                <a:spcPct val="100000"/>
              </a:lnSpc>
              <a:spcBef>
                <a:spcPts val="1500"/>
              </a:spcBef>
              <a:defRPr sz="2100">
                <a:latin typeface="Segoe UI Semibold" pitchFamily="34" charset="0"/>
              </a:defRPr>
            </a:lvl1pPr>
            <a:lvl2pPr marL="673338" indent="-325424">
              <a:lnSpc>
                <a:spcPct val="90000"/>
              </a:lnSpc>
              <a:spcBef>
                <a:spcPts val="1200"/>
              </a:spcBef>
              <a:defRPr sz="2000">
                <a:latin typeface="Segoe UI Semibold" pitchFamily="34" charset="0"/>
              </a:defRPr>
            </a:lvl2pPr>
            <a:lvl3pPr marL="953785" indent="-288384">
              <a:lnSpc>
                <a:spcPct val="90000"/>
              </a:lnSpc>
              <a:spcBef>
                <a:spcPts val="1200"/>
              </a:spcBef>
              <a:defRPr sz="1800">
                <a:latin typeface="Segoe UI Semibold" pitchFamily="34" charset="0"/>
              </a:defRPr>
            </a:lvl3pPr>
            <a:lvl4pPr marL="1227618" indent="-273833">
              <a:lnSpc>
                <a:spcPct val="90000"/>
              </a:lnSpc>
              <a:spcBef>
                <a:spcPts val="1200"/>
              </a:spcBef>
              <a:defRPr sz="1600" b="0">
                <a:latin typeface="Segoe UI Semibold" pitchFamily="34" charset="0"/>
              </a:defRPr>
            </a:lvl4pPr>
            <a:lvl5pPr marL="1516002" indent="-280447">
              <a:lnSpc>
                <a:spcPct val="90000"/>
              </a:lnSpc>
              <a:spcBef>
                <a:spcPts val="1200"/>
              </a:spcBef>
              <a:defRPr sz="1600" b="0">
                <a:latin typeface="Segoe UI Semibold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231380"/>
          </a:xfrm>
        </p:spPr>
        <p:txBody>
          <a:bodyPr/>
          <a:lstStyle>
            <a:lvl1pPr marL="347914" indent="-347914">
              <a:lnSpc>
                <a:spcPct val="100000"/>
              </a:lnSpc>
              <a:spcBef>
                <a:spcPts val="1500"/>
              </a:spcBef>
              <a:defRPr sz="2100">
                <a:latin typeface="Segoe UI Semibold" pitchFamily="34" charset="0"/>
              </a:defRPr>
            </a:lvl1pPr>
            <a:lvl2pPr marL="673338" indent="-339976">
              <a:lnSpc>
                <a:spcPct val="90000"/>
              </a:lnSpc>
              <a:spcBef>
                <a:spcPts val="1200"/>
              </a:spcBef>
              <a:defRPr sz="2000">
                <a:latin typeface="Segoe UI Semibold" pitchFamily="34" charset="0"/>
              </a:defRPr>
            </a:lvl2pPr>
            <a:lvl3pPr marL="961722" indent="-302936">
              <a:lnSpc>
                <a:spcPct val="90000"/>
              </a:lnSpc>
              <a:spcBef>
                <a:spcPts val="1200"/>
              </a:spcBef>
              <a:defRPr sz="1800">
                <a:latin typeface="Segoe UI Semibold" pitchFamily="34" charset="0"/>
              </a:defRPr>
            </a:lvl3pPr>
            <a:lvl4pPr marL="1227618" indent="-265896">
              <a:lnSpc>
                <a:spcPct val="90000"/>
              </a:lnSpc>
              <a:spcBef>
                <a:spcPts val="1200"/>
              </a:spcBef>
              <a:defRPr sz="1600">
                <a:latin typeface="Segoe UI Semibold" pitchFamily="34" charset="0"/>
              </a:defRPr>
            </a:lvl4pPr>
            <a:lvl5pPr marL="1516002" indent="-273833">
              <a:lnSpc>
                <a:spcPct val="90000"/>
              </a:lnSpc>
              <a:spcBef>
                <a:spcPts val="1200"/>
              </a:spcBef>
              <a:defRPr sz="1600">
                <a:latin typeface="Segoe UI Semibold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Sol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8271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528" y="1556792"/>
            <a:ext cx="4191000" cy="2263697"/>
          </a:xfrm>
        </p:spPr>
        <p:txBody>
          <a:bodyPr/>
          <a:lstStyle>
            <a:lvl1pPr marL="347914" indent="-347914">
              <a:lnSpc>
                <a:spcPct val="90000"/>
              </a:lnSpc>
              <a:spcBef>
                <a:spcPts val="1200"/>
              </a:spcBef>
              <a:defRPr sz="2300">
                <a:latin typeface="Segoe UI Semibold" pitchFamily="34" charset="0"/>
              </a:defRPr>
            </a:lvl1pPr>
            <a:lvl2pPr marL="673338" indent="-339976">
              <a:lnSpc>
                <a:spcPct val="90000"/>
              </a:lnSpc>
              <a:spcBef>
                <a:spcPts val="1200"/>
              </a:spcBef>
              <a:defRPr sz="2100">
                <a:latin typeface="Segoe UI Semibold" pitchFamily="34" charset="0"/>
              </a:defRPr>
            </a:lvl2pPr>
            <a:lvl3pPr marL="961722" indent="-302936">
              <a:lnSpc>
                <a:spcPct val="90000"/>
              </a:lnSpc>
              <a:spcBef>
                <a:spcPts val="1200"/>
              </a:spcBef>
              <a:defRPr sz="1800">
                <a:latin typeface="Segoe UI Semibold" pitchFamily="34" charset="0"/>
              </a:defRPr>
            </a:lvl3pPr>
            <a:lvl4pPr marL="1227618" indent="-265896">
              <a:lnSpc>
                <a:spcPct val="90000"/>
              </a:lnSpc>
              <a:spcBef>
                <a:spcPts val="1200"/>
              </a:spcBef>
              <a:defRPr sz="1700">
                <a:latin typeface="Segoe UI Semibold" pitchFamily="34" charset="0"/>
              </a:defRPr>
            </a:lvl4pPr>
            <a:lvl5pPr marL="1516002" indent="-273833">
              <a:lnSpc>
                <a:spcPct val="90000"/>
              </a:lnSpc>
              <a:spcBef>
                <a:spcPts val="1200"/>
              </a:spcBef>
              <a:defRPr sz="1700">
                <a:latin typeface="Segoe UI Semibold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1424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88640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68760"/>
            <a:ext cx="4114800" cy="5816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sz="2100" b="0">
                <a:latin typeface="Segoe UI Semibold" pitchFamily="34" charset="0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2249847"/>
          </a:xfrm>
        </p:spPr>
        <p:txBody>
          <a:bodyPr/>
          <a:lstStyle>
            <a:lvl1pPr marL="281770" indent="-281770">
              <a:spcBef>
                <a:spcPts val="1600"/>
              </a:spcBef>
              <a:defRPr sz="2100">
                <a:latin typeface="Segoe UI Semibold" pitchFamily="34" charset="0"/>
              </a:defRPr>
            </a:lvl1pPr>
            <a:lvl2pPr marL="562218" indent="-265896">
              <a:spcBef>
                <a:spcPts val="1200"/>
              </a:spcBef>
              <a:defRPr sz="2000">
                <a:latin typeface="Segoe UI Semibold" pitchFamily="34" charset="0"/>
              </a:defRPr>
            </a:lvl2pPr>
            <a:lvl3pPr marL="813562" indent="-243407">
              <a:spcBef>
                <a:spcPts val="1200"/>
              </a:spcBef>
              <a:defRPr sz="1800">
                <a:latin typeface="Segoe UI Semibold" pitchFamily="34" charset="0"/>
              </a:defRPr>
            </a:lvl3pPr>
            <a:lvl4pPr marL="1050354" indent="-228856">
              <a:spcBef>
                <a:spcPts val="1200"/>
              </a:spcBef>
              <a:defRPr sz="1800">
                <a:latin typeface="Segoe UI Semibold" pitchFamily="34" charset="0"/>
              </a:defRPr>
            </a:lvl4pPr>
            <a:lvl5pPr marL="1279210" indent="-206367">
              <a:spcBef>
                <a:spcPts val="1200"/>
              </a:spcBef>
              <a:defRPr sz="1800">
                <a:latin typeface="Segoe UI Semibold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268760"/>
            <a:ext cx="4117019" cy="5816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2100" b="0">
                <a:latin typeface="Segoe UI Semibold" pitchFamily="34" charset="0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2249847"/>
          </a:xfrm>
        </p:spPr>
        <p:txBody>
          <a:bodyPr/>
          <a:lstStyle>
            <a:lvl1pPr marL="296321" indent="-296321">
              <a:spcBef>
                <a:spcPts val="1600"/>
              </a:spcBef>
              <a:defRPr sz="2100">
                <a:latin typeface="Segoe UI Semibold" pitchFamily="34" charset="0"/>
              </a:defRPr>
            </a:lvl1pPr>
            <a:lvl2pPr marL="570155" indent="-273833">
              <a:spcBef>
                <a:spcPts val="1200"/>
              </a:spcBef>
              <a:defRPr sz="2000">
                <a:latin typeface="Segoe UI Semibold" pitchFamily="34" charset="0"/>
              </a:defRPr>
            </a:lvl2pPr>
            <a:lvl3pPr marL="821499" indent="-244730">
              <a:spcBef>
                <a:spcPts val="1200"/>
              </a:spcBef>
              <a:defRPr sz="1800">
                <a:latin typeface="Segoe UI Semibold" pitchFamily="34" charset="0"/>
              </a:defRPr>
            </a:lvl3pPr>
            <a:lvl4pPr marL="1050354" indent="-236793">
              <a:spcBef>
                <a:spcPts val="1200"/>
              </a:spcBef>
              <a:defRPr sz="1800">
                <a:latin typeface="Segoe UI Semibold" pitchFamily="34" charset="0"/>
              </a:defRPr>
            </a:lvl4pPr>
            <a:lvl5pPr marL="1279210" indent="-220919">
              <a:spcBef>
                <a:spcPts val="1200"/>
              </a:spcBef>
              <a:defRPr sz="1800">
                <a:latin typeface="Segoe UI Semibold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n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260648"/>
            <a:ext cx="9144000" cy="6552728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2915816" y="5085184"/>
            <a:ext cx="3384376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96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Exo 2 Extra Bold" pitchFamily="2" charset="-94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54425301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şekkür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2784" y="4437112"/>
            <a:ext cx="7992888" cy="172819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4800" b="0">
                <a:latin typeface="Segoe Print" pitchFamily="2" charset="0"/>
              </a:defRPr>
            </a:lvl1pPr>
          </a:lstStyle>
          <a:p>
            <a:r>
              <a:rPr lang="tr-TR" dirty="0"/>
              <a:t>Sabrınız için teşekkürler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71600" y="548680"/>
            <a:ext cx="7043208" cy="15234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>
                  <a:outerShdw blurRad="114300" dir="2700000" algn="tl" rotWithShape="0">
                    <a:prstClr val="black">
                      <a:alpha val="51000"/>
                    </a:prstClr>
                  </a:outerShdw>
                </a:effectLst>
                <a:latin typeface="+mj-lt"/>
                <a:ea typeface="+mn-ea"/>
                <a:cs typeface="Arial" charset="0"/>
              </a:defRPr>
            </a:lvl1pPr>
          </a:lstStyle>
          <a:p>
            <a:endParaRPr lang="tr-TR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87624" y="381506"/>
            <a:ext cx="7043208" cy="15234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/>
                <a:latin typeface="+mj-lt"/>
                <a:ea typeface="+mn-ea"/>
                <a:cs typeface="Arial" charset="0"/>
              </a:defRPr>
            </a:lvl1pPr>
          </a:lstStyle>
          <a:p>
            <a:r>
              <a:rPr lang="tr-TR" sz="7200" b="0" dirty="0">
                <a:latin typeface="Futura XBlk BT" panose="020B0903020204020204" pitchFamily="34" charset="0"/>
              </a:rPr>
              <a:t>Teşekkürler</a:t>
            </a:r>
          </a:p>
        </p:txBody>
      </p:sp>
      <p:pic>
        <p:nvPicPr>
          <p:cNvPr id="9" name="Picture 4" descr="1-01055_Templ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828595" y="1960612"/>
            <a:ext cx="9972595" cy="24765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864171" y="2072174"/>
            <a:ext cx="7690114" cy="1668670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lang="en-US" sz="12000" b="1" kern="1200" spc="-770" dirty="0" smtClean="0">
                <a:ln w="11430">
                  <a:solidFill>
                    <a:schemeClr val="bg2">
                      <a:lumMod val="50000"/>
                      <a:lumOff val="50000"/>
                    </a:schemeClr>
                  </a:solidFill>
                </a:ln>
                <a:gradFill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37000">
                      <a:schemeClr val="tx1"/>
                    </a:gs>
                    <a:gs pos="85000">
                      <a:srgbClr val="2D8499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tr-TR" dirty="0"/>
              <a:t>ftronline.com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64CF2E0-CCC4-4E1E-9902-C3C36AB3FDA4}" type="datetimeFigureOut">
              <a:rPr lang="en-US" smtClean="0">
                <a:solidFill>
                  <a:srgbClr val="FFFFFF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5/10/2022</a:t>
            </a:fld>
            <a:endParaRPr lang="en-US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F42FDE4-A7DD-41A7-A0A6-9B649FB43336}" type="slidenum">
              <a:rPr lang="en-US" smtClean="0">
                <a:solidFill>
                  <a:srgbClr val="FFFFFF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36292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7584" y="5157192"/>
            <a:ext cx="7681913" cy="461665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300"/>
              </a:spcBef>
              <a:buNone/>
              <a:defRPr sz="2700" b="1" baseline="0">
                <a:solidFill>
                  <a:schemeClr val="bg1">
                    <a:lumMod val="65000"/>
                    <a:lumOff val="35000"/>
                  </a:schemeClr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Yazar Adını Yazınız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323528" y="764704"/>
            <a:ext cx="8424936" cy="3600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110000"/>
              </a:lnSpc>
              <a:defRPr sz="6600" b="1" baseline="0">
                <a:latin typeface="+mj-lt"/>
              </a:defRPr>
            </a:lvl1pPr>
          </a:lstStyle>
          <a:p>
            <a:r>
              <a:rPr lang="tr-TR" dirty="0"/>
              <a:t>SEMİNER BAŞLIĞINI YAZINIZ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teratür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9552" y="6021288"/>
            <a:ext cx="8136904" cy="461665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baseline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dirty="0"/>
              <a:t>Yazar Adını Yazın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39552" y="3789040"/>
            <a:ext cx="8136904" cy="136815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4500" b="1">
                <a:latin typeface="+mj-lt"/>
              </a:defRPr>
            </a:lvl1pPr>
          </a:lstStyle>
          <a:p>
            <a:r>
              <a:rPr lang="tr-TR" dirty="0"/>
              <a:t>Literatürün Adını Yazın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85176" y="260647"/>
            <a:ext cx="7043208" cy="57606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/>
                <a:latin typeface="Futura XBlk BT" pitchFamily="34" charset="0"/>
                <a:ea typeface="+mn-ea"/>
                <a:cs typeface="Arial" charset="0"/>
              </a:defRPr>
            </a:lvl1pPr>
          </a:lstStyle>
          <a:p>
            <a:r>
              <a:rPr lang="tr-TR" sz="5400" b="0" dirty="0"/>
              <a:t>Literatür</a:t>
            </a:r>
          </a:p>
        </p:txBody>
      </p:sp>
    </p:spTree>
    <p:extLst>
      <p:ext uri="{BB962C8B-B14F-4D97-AF65-F5344CB8AC3E}">
        <p14:creationId xmlns:p14="http://schemas.microsoft.com/office/powerpoint/2010/main" val="16784431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-01055_Templ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955678" y="-99392"/>
            <a:ext cx="10099675" cy="75608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2420888"/>
            <a:ext cx="8175906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66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5843" y="5373216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lang="en-US" sz="12000" b="1" kern="1200" spc="-770" dirty="0" smtClean="0">
                <a:ln w="11430">
                  <a:solidFill>
                    <a:schemeClr val="bg2">
                      <a:lumMod val="50000"/>
                      <a:lumOff val="50000"/>
                    </a:schemeClr>
                  </a:solidFill>
                </a:ln>
                <a:gradFill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37000">
                      <a:schemeClr val="tx1"/>
                    </a:gs>
                    <a:gs pos="85000">
                      <a:srgbClr val="2D8499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10953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Arial" pitchFamily="34" charset="0"/>
              <a:buNone/>
            </a:pPr>
            <a:r>
              <a:rPr lang="tr-TR" dirty="0" err="1"/>
              <a:t>ftronline</a:t>
            </a:r>
            <a:r>
              <a:rPr lang="en-US" dirty="0"/>
              <a:t>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tr-TR" dirty="0"/>
              <a:t>Asıl Başlık Stili İçin Tıklatın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424936" cy="2238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 sz="2200"/>
            </a:lvl3pPr>
            <a:lvl4pPr>
              <a:defRPr sz="1900"/>
            </a:lvl4pPr>
            <a:lvl5pPr>
              <a:defRPr sz="1800"/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838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lasik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114483"/>
            <a:ext cx="8382000" cy="2158027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200"/>
              </a:spcBef>
              <a:spcAft>
                <a:spcPts val="400"/>
              </a:spcAft>
              <a:defRPr sz="2600">
                <a:solidFill>
                  <a:schemeClr val="bg1"/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1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76672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159566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700" b="1" i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002871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 Yarı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44147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376354"/>
            <a:ext cx="8382000" cy="2159566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700" b="1" i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2955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nkli Yari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44147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2376354"/>
            <a:ext cx="8382000" cy="2159566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700" b="1" i="1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4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3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7754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rıDo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488477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 b="1"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95536" y="2258499"/>
            <a:ext cx="8382000" cy="2044149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defRPr sz="2500">
                <a:solidFill>
                  <a:schemeClr val="bg1"/>
                </a:solidFill>
                <a:latin typeface="+mj-lt"/>
              </a:defRPr>
            </a:lvl1pPr>
            <a:lvl2pPr marL="936000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defRPr sz="2300" b="0">
                <a:solidFill>
                  <a:schemeClr val="bg1"/>
                </a:solidFill>
                <a:latin typeface="+mj-lt"/>
              </a:defRPr>
            </a:lvl2pPr>
            <a:lvl3pPr marL="1332000">
              <a:lnSpc>
                <a:spcPct val="90000"/>
              </a:lnSpc>
              <a:spcBef>
                <a:spcPts val="700"/>
              </a:spcBef>
              <a:defRPr sz="2200" b="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90000"/>
              </a:lnSpc>
              <a:spcBef>
                <a:spcPts val="700"/>
              </a:spcBef>
              <a:defRPr sz="2000" b="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90000"/>
              </a:lnSpc>
              <a:spcBef>
                <a:spcPts val="700"/>
              </a:spcBef>
              <a:defRPr sz="19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25039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28271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>
                <a:latin typeface="+mj-lt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262158"/>
          </a:xfrm>
        </p:spPr>
        <p:txBody>
          <a:bodyPr/>
          <a:lstStyle>
            <a:lvl1pPr marL="339976" indent="-339976">
              <a:lnSpc>
                <a:spcPct val="100000"/>
              </a:lnSpc>
              <a:spcBef>
                <a:spcPts val="1500"/>
              </a:spcBef>
              <a:defRPr sz="2200">
                <a:latin typeface="+mj-lt"/>
              </a:defRPr>
            </a:lvl1pPr>
            <a:lvl2pPr marL="673338" indent="-325424">
              <a:lnSpc>
                <a:spcPct val="90000"/>
              </a:lnSpc>
              <a:spcBef>
                <a:spcPts val="1200"/>
              </a:spcBef>
              <a:defRPr sz="2000">
                <a:latin typeface="+mj-lt"/>
              </a:defRPr>
            </a:lvl2pPr>
            <a:lvl3pPr marL="953785" indent="-288384">
              <a:lnSpc>
                <a:spcPct val="90000"/>
              </a:lnSpc>
              <a:spcBef>
                <a:spcPts val="1200"/>
              </a:spcBef>
              <a:defRPr sz="1800">
                <a:latin typeface="+mj-lt"/>
              </a:defRPr>
            </a:lvl3pPr>
            <a:lvl4pPr marL="1227618" indent="-273833">
              <a:lnSpc>
                <a:spcPct val="90000"/>
              </a:lnSpc>
              <a:spcBef>
                <a:spcPts val="1200"/>
              </a:spcBef>
              <a:defRPr sz="1600" b="0">
                <a:latin typeface="+mj-lt"/>
              </a:defRPr>
            </a:lvl4pPr>
            <a:lvl5pPr marL="1516002" indent="-280447">
              <a:lnSpc>
                <a:spcPct val="90000"/>
              </a:lnSpc>
              <a:spcBef>
                <a:spcPts val="1200"/>
              </a:spcBef>
              <a:defRPr sz="1600" b="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262158"/>
          </a:xfrm>
        </p:spPr>
        <p:txBody>
          <a:bodyPr/>
          <a:lstStyle>
            <a:lvl1pPr marL="347914" indent="-347914">
              <a:lnSpc>
                <a:spcPct val="100000"/>
              </a:lnSpc>
              <a:spcBef>
                <a:spcPts val="1500"/>
              </a:spcBef>
              <a:defRPr sz="2200">
                <a:latin typeface="+mj-lt"/>
              </a:defRPr>
            </a:lvl1pPr>
            <a:lvl2pPr marL="673338" indent="-339976">
              <a:lnSpc>
                <a:spcPct val="90000"/>
              </a:lnSpc>
              <a:spcBef>
                <a:spcPts val="1200"/>
              </a:spcBef>
              <a:defRPr sz="2000">
                <a:latin typeface="+mj-lt"/>
              </a:defRPr>
            </a:lvl2pPr>
            <a:lvl3pPr marL="961722" indent="-302936">
              <a:lnSpc>
                <a:spcPct val="90000"/>
              </a:lnSpc>
              <a:spcBef>
                <a:spcPts val="1200"/>
              </a:spcBef>
              <a:defRPr sz="1800">
                <a:latin typeface="+mj-lt"/>
              </a:defRPr>
            </a:lvl3pPr>
            <a:lvl4pPr marL="1227618" indent="-265896">
              <a:lnSpc>
                <a:spcPct val="90000"/>
              </a:lnSpc>
              <a:spcBef>
                <a:spcPts val="1200"/>
              </a:spcBef>
              <a:defRPr sz="1600">
                <a:latin typeface="+mj-lt"/>
              </a:defRPr>
            </a:lvl4pPr>
            <a:lvl5pPr marL="1516002" indent="-273833">
              <a:lnSpc>
                <a:spcPct val="90000"/>
              </a:lnSpc>
              <a:spcBef>
                <a:spcPts val="1200"/>
              </a:spcBef>
              <a:defRPr sz="16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Sol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282714"/>
            <a:ext cx="8382000" cy="55399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>
                <a:latin typeface="+mj-lt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528" y="1340768"/>
            <a:ext cx="4191000" cy="2416046"/>
          </a:xfrm>
        </p:spPr>
        <p:txBody>
          <a:bodyPr/>
          <a:lstStyle>
            <a:lvl1pPr marL="347914" indent="-347914">
              <a:lnSpc>
                <a:spcPct val="90000"/>
              </a:lnSpc>
              <a:spcBef>
                <a:spcPts val="1200"/>
              </a:spcBef>
              <a:defRPr sz="2400">
                <a:latin typeface="+mj-lt"/>
              </a:defRPr>
            </a:lvl1pPr>
            <a:lvl2pPr marL="673338" indent="-339976">
              <a:lnSpc>
                <a:spcPct val="90000"/>
              </a:lnSpc>
              <a:spcBef>
                <a:spcPts val="1200"/>
              </a:spcBef>
              <a:defRPr sz="2300">
                <a:latin typeface="+mj-lt"/>
              </a:defRPr>
            </a:lvl2pPr>
            <a:lvl3pPr marL="961722" indent="-302936">
              <a:lnSpc>
                <a:spcPct val="90000"/>
              </a:lnSpc>
              <a:spcBef>
                <a:spcPts val="1200"/>
              </a:spcBef>
              <a:defRPr sz="2200">
                <a:latin typeface="+mj-lt"/>
              </a:defRPr>
            </a:lvl3pPr>
            <a:lvl4pPr marL="1227618" indent="-265896">
              <a:lnSpc>
                <a:spcPct val="90000"/>
              </a:lnSpc>
              <a:spcBef>
                <a:spcPts val="1200"/>
              </a:spcBef>
              <a:defRPr sz="2000">
                <a:latin typeface="+mj-lt"/>
              </a:defRPr>
            </a:lvl4pPr>
            <a:lvl5pPr marL="1516002" indent="-273833">
              <a:lnSpc>
                <a:spcPct val="90000"/>
              </a:lnSpc>
              <a:spcBef>
                <a:spcPts val="1200"/>
              </a:spcBef>
              <a:defRPr sz="1800">
                <a:latin typeface="+mj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1424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188640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tr-TR" dirty="0"/>
              <a:t>Asıl Başlık Stili İçin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68760"/>
            <a:ext cx="4114800" cy="5816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  <a:defRPr sz="2100" b="0">
                <a:latin typeface="+mj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2579168"/>
          </a:xfrm>
        </p:spPr>
        <p:txBody>
          <a:bodyPr/>
          <a:lstStyle>
            <a:lvl1pPr marL="281770" indent="-281770">
              <a:spcBef>
                <a:spcPts val="1600"/>
              </a:spcBef>
              <a:defRPr sz="2100">
                <a:latin typeface="+mj-lt"/>
              </a:defRPr>
            </a:lvl1pPr>
            <a:lvl2pPr marL="562218" indent="-265896">
              <a:spcBef>
                <a:spcPts val="1200"/>
              </a:spcBef>
              <a:defRPr sz="2000">
                <a:latin typeface="+mj-lt"/>
              </a:defRPr>
            </a:lvl2pPr>
            <a:lvl3pPr marL="813562" indent="-243407">
              <a:spcBef>
                <a:spcPts val="1200"/>
              </a:spcBef>
              <a:defRPr sz="1800">
                <a:latin typeface="+mj-lt"/>
              </a:defRPr>
            </a:lvl3pPr>
            <a:lvl4pPr marL="1050354" indent="-228856">
              <a:spcBef>
                <a:spcPts val="1200"/>
              </a:spcBef>
              <a:defRPr sz="1800">
                <a:latin typeface="+mj-lt"/>
              </a:defRPr>
            </a:lvl4pPr>
            <a:lvl5pPr marL="1279210" indent="-206367">
              <a:spcBef>
                <a:spcPts val="1200"/>
              </a:spcBef>
              <a:defRPr sz="18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268760"/>
            <a:ext cx="4117019" cy="5816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2100" b="0">
                <a:latin typeface="+mj-lt"/>
              </a:defRPr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2579168"/>
          </a:xfrm>
        </p:spPr>
        <p:txBody>
          <a:bodyPr/>
          <a:lstStyle>
            <a:lvl1pPr marL="296321" indent="-296321">
              <a:spcBef>
                <a:spcPts val="1600"/>
              </a:spcBef>
              <a:defRPr sz="2100">
                <a:latin typeface="+mj-lt"/>
              </a:defRPr>
            </a:lvl1pPr>
            <a:lvl2pPr marL="570155" indent="-273833">
              <a:spcBef>
                <a:spcPts val="1200"/>
              </a:spcBef>
              <a:defRPr sz="2000">
                <a:latin typeface="+mj-lt"/>
              </a:defRPr>
            </a:lvl2pPr>
            <a:lvl3pPr marL="821499" indent="-244730">
              <a:spcBef>
                <a:spcPts val="1200"/>
              </a:spcBef>
              <a:defRPr sz="1800">
                <a:latin typeface="+mj-lt"/>
              </a:defRPr>
            </a:lvl3pPr>
            <a:lvl4pPr marL="1050354" indent="-236793">
              <a:spcBef>
                <a:spcPts val="1200"/>
              </a:spcBef>
              <a:defRPr sz="1800">
                <a:latin typeface="+mj-lt"/>
              </a:defRPr>
            </a:lvl4pPr>
            <a:lvl5pPr marL="1279210" indent="-220919">
              <a:spcBef>
                <a:spcPts val="1200"/>
              </a:spcBef>
              <a:defRPr sz="1800">
                <a:latin typeface="+mj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nSlay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260648"/>
            <a:ext cx="9144000" cy="6552728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2843808" y="5085184"/>
            <a:ext cx="3384376" cy="1569660"/>
          </a:xfrm>
          <a:prstGeom prst="rect">
            <a:avLst/>
          </a:prstGeom>
          <a:noFill/>
          <a:effectLst>
            <a:outerShdw blurRad="330200" dist="38100" dir="192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9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Exo 2 Extra Bold" pitchFamily="2" charset="-94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88460040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şekkürSlay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-01055_Templ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955675" y="1905000"/>
            <a:ext cx="10099675" cy="22816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5576" y="4365104"/>
            <a:ext cx="799288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6000" b="1" i="1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tr-TR" dirty="0"/>
              <a:t>Sabrınız için teşekkürler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55576" y="2072174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lang="en-US" sz="12000" b="1" kern="1200" spc="-770" dirty="0" smtClean="0">
                <a:ln w="11430">
                  <a:solidFill>
                    <a:schemeClr val="bg2">
                      <a:lumMod val="50000"/>
                      <a:lumOff val="50000"/>
                    </a:schemeClr>
                  </a:solidFill>
                </a:ln>
                <a:gradFill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37000">
                      <a:schemeClr val="tx1"/>
                    </a:gs>
                    <a:gs pos="85000">
                      <a:srgbClr val="2D8499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tr-TR" dirty="0"/>
              <a:t>ftronline.com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71600" y="548680"/>
            <a:ext cx="7043208" cy="15234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>
                  <a:outerShdw blurRad="114300" dir="2700000" algn="tl" rotWithShape="0">
                    <a:prstClr val="black">
                      <a:alpha val="51000"/>
                    </a:prstClr>
                  </a:outerShdw>
                </a:effectLst>
                <a:latin typeface="+mj-lt"/>
                <a:ea typeface="+mn-ea"/>
                <a:cs typeface="Arial" charset="0"/>
              </a:defRPr>
            </a:lvl1pPr>
          </a:lstStyle>
          <a:p>
            <a:endParaRPr lang="tr-TR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87624" y="381506"/>
            <a:ext cx="7043208" cy="15234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 defTabSz="9143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1" kern="1200" cap="none" spc="-15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/>
                <a:latin typeface="+mj-lt"/>
                <a:ea typeface="+mn-ea"/>
                <a:cs typeface="Arial" charset="0"/>
              </a:defRPr>
            </a:lvl1pPr>
          </a:lstStyle>
          <a:p>
            <a:r>
              <a:rPr lang="tr-TR" sz="7200" b="0" dirty="0">
                <a:latin typeface="Futura XBlk BT" panose="020B0903020204020204" pitchFamily="34" charset="0"/>
              </a:rPr>
              <a:t>Teşekkürler</a:t>
            </a:r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64CF2E0-CCC4-4E1E-9902-C3C36AB3FDA4}" type="datetimeFigureOut">
              <a:rPr lang="en-US" smtClean="0">
                <a:solidFill>
                  <a:srgbClr val="FFFFFF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5/10/2022</a:t>
            </a:fld>
            <a:endParaRPr lang="en-US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F42FDE4-A7DD-41A7-A0A6-9B649FB43336}" type="slidenum">
              <a:rPr lang="en-US" smtClean="0">
                <a:solidFill>
                  <a:srgbClr val="FFFFFF"/>
                </a:solidFill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36292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1350491"/>
            <a:ext cx="8424936" cy="2128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dirty="0"/>
              <a:t>Asıl Başlık Stili İçin Tıklatın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transition>
    <p:fade/>
  </p:transition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3600" b="1" kern="1200" cap="none" spc="-150" dirty="0">
          <a:ln w="3175">
            <a:solidFill>
              <a:schemeClr val="bg2">
                <a:lumMod val="75000"/>
                <a:lumOff val="25000"/>
                <a:alpha val="75000"/>
              </a:schemeClr>
            </a:solidFill>
          </a:ln>
          <a:gradFill flip="none" rotWithShape="1">
            <a:gsLst>
              <a:gs pos="0">
                <a:schemeClr val="tx1"/>
              </a:gs>
              <a:gs pos="61000">
                <a:schemeClr val="accent2">
                  <a:lumMod val="20000"/>
                  <a:lumOff val="80000"/>
                </a:schemeClr>
              </a:gs>
              <a:gs pos="86000">
                <a:schemeClr val="tx1"/>
              </a:gs>
            </a:gsLst>
            <a:lin ang="5400000" scaled="0"/>
            <a:tileRect/>
          </a:gradFill>
          <a:effectLst/>
          <a:latin typeface="Ubuntu" panose="020B0504030602030204" pitchFamily="34" charset="0"/>
          <a:ea typeface="Segoe UI" pitchFamily="34" charset="0"/>
          <a:cs typeface="Segoe UI" pitchFamily="34" charset="0"/>
        </a:defRPr>
      </a:lvl1pPr>
    </p:titleStyle>
    <p:bodyStyle>
      <a:lvl1pPr marL="396875" indent="-396875" algn="l" defTabSz="914363" rtl="0" eaLnBrk="1" latinLnBrk="0" hangingPunct="1">
        <a:lnSpc>
          <a:spcPct val="110000"/>
        </a:lnSpc>
        <a:spcBef>
          <a:spcPts val="2000"/>
        </a:spcBef>
        <a:buFontTx/>
        <a:buBlip>
          <a:blip r:embed="rId17"/>
        </a:buBlip>
        <a:defRPr sz="2300" kern="1200">
          <a:solidFill>
            <a:schemeClr val="tx1"/>
          </a:solidFill>
          <a:latin typeface="Segoe UI Semibold" pitchFamily="34" charset="0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110000"/>
        </a:lnSpc>
        <a:spcBef>
          <a:spcPts val="1000"/>
        </a:spcBef>
        <a:buFontTx/>
        <a:buBlip>
          <a:blip r:embed="rId17"/>
        </a:buBlip>
        <a:defRPr sz="2100" kern="1200">
          <a:solidFill>
            <a:schemeClr val="tx1"/>
          </a:solidFill>
          <a:latin typeface="Segoe UI Semibold" pitchFamily="34" charset="0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11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/>
          </a:solidFill>
          <a:latin typeface="Segoe UI Semibold" pitchFamily="34" charset="0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110000"/>
        </a:lnSpc>
        <a:spcBef>
          <a:spcPts val="700"/>
        </a:spcBef>
        <a:buFontTx/>
        <a:buBlip>
          <a:blip r:embed="rId17"/>
        </a:buBlip>
        <a:defRPr sz="1800" kern="1200">
          <a:solidFill>
            <a:schemeClr val="tx1"/>
          </a:solidFill>
          <a:latin typeface="Segoe UI Semibold" pitchFamily="34" charset="0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110000"/>
        </a:lnSpc>
        <a:spcBef>
          <a:spcPts val="700"/>
        </a:spcBef>
        <a:buFontTx/>
        <a:buBlip>
          <a:blip r:embed="rId17"/>
        </a:buBlip>
        <a:defRPr sz="1800" kern="1200">
          <a:solidFill>
            <a:schemeClr val="tx1"/>
          </a:solidFill>
          <a:latin typeface="Segoe UI Semibold" pitchFamily="34" charset="0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1224168"/>
            <a:ext cx="8424936" cy="2348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dirty="0"/>
              <a:t>Asıl Başlık Stili İçin Tıklatın</a:t>
            </a:r>
          </a:p>
        </p:txBody>
      </p:sp>
      <p:sp>
        <p:nvSpPr>
          <p:cNvPr id="4" name="Dikdörtgen 3"/>
          <p:cNvSpPr/>
          <p:nvPr/>
        </p:nvSpPr>
        <p:spPr bwMode="auto">
          <a:xfrm>
            <a:off x="179512" y="6552728"/>
            <a:ext cx="8784976" cy="332656"/>
          </a:xfrm>
          <a:prstGeom prst="rect">
            <a:avLst/>
          </a:prstGeom>
          <a:solidFill>
            <a:srgbClr val="FF7F00"/>
          </a:solidFill>
          <a:ln>
            <a:noFill/>
            <a:headEnd type="none" w="med" len="med"/>
            <a:tailEnd type="none" w="med" len="med"/>
          </a:ln>
          <a:effectLst>
            <a:glow>
              <a:schemeClr val="accent1">
                <a:alpha val="48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  <a:softEdge rad="12700"/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r>
              <a:rPr lang="tr-TR" sz="1800" spc="1000" baseline="0" dirty="0">
                <a:solidFill>
                  <a:srgbClr val="FF96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www.ftronline.com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ransition>
    <p:fade/>
  </p:transition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3500" b="0" kern="1200" cap="none" spc="0" dirty="0">
          <a:ln>
            <a:noFill/>
          </a:ln>
          <a:solidFill>
            <a:schemeClr val="bg1">
              <a:lumMod val="85000"/>
              <a:lumOff val="15000"/>
            </a:schemeClr>
          </a:solidFill>
          <a:effectLst/>
          <a:latin typeface="+mj-lt"/>
          <a:ea typeface="Segoe UI" pitchFamily="34" charset="0"/>
          <a:cs typeface="Segoe UI" pitchFamily="34" charset="0"/>
        </a:defRPr>
      </a:lvl1pPr>
    </p:titleStyle>
    <p:bodyStyle>
      <a:lvl1pPr marL="396875" indent="-396875" algn="l" defTabSz="914363" rtl="0" eaLnBrk="1" latinLnBrk="0" hangingPunct="1">
        <a:lnSpc>
          <a:spcPct val="100000"/>
        </a:lnSpc>
        <a:spcBef>
          <a:spcPts val="1400"/>
        </a:spcBef>
        <a:spcAft>
          <a:spcPts val="600"/>
        </a:spcAft>
        <a:buFontTx/>
        <a:buBlip>
          <a:blip r:embed="rId18"/>
        </a:buBlip>
        <a:defRPr sz="2500" kern="1200">
          <a:solidFill>
            <a:schemeClr val="bg1"/>
          </a:solidFill>
          <a:latin typeface="+mj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100000"/>
        </a:lnSpc>
        <a:spcBef>
          <a:spcPts val="800"/>
        </a:spcBef>
        <a:spcAft>
          <a:spcPts val="200"/>
        </a:spcAft>
        <a:buFontTx/>
        <a:buBlip>
          <a:blip r:embed="rId18"/>
        </a:buBlip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100000"/>
        </a:lnSpc>
        <a:spcBef>
          <a:spcPts val="800"/>
        </a:spcBef>
        <a:buFontTx/>
        <a:buBlip>
          <a:blip r:embed="rId18"/>
        </a:buBlip>
        <a:defRPr sz="2300" kern="1200">
          <a:solidFill>
            <a:schemeClr val="bg1"/>
          </a:solidFill>
          <a:latin typeface="+mj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110000"/>
        </a:lnSpc>
        <a:spcBef>
          <a:spcPts val="700"/>
        </a:spcBef>
        <a:buFontTx/>
        <a:buBlip>
          <a:blip r:embed="rId18"/>
        </a:buBlip>
        <a:defRPr sz="2100" kern="1200">
          <a:solidFill>
            <a:schemeClr val="bg1"/>
          </a:solidFill>
          <a:latin typeface="+mj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110000"/>
        </a:lnSpc>
        <a:spcBef>
          <a:spcPts val="700"/>
        </a:spcBef>
        <a:buFontTx/>
        <a:buBlip>
          <a:blip r:embed="rId18"/>
        </a:buBlip>
        <a:defRPr sz="20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8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6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8.jpe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259632" y="5229200"/>
            <a:ext cx="7681913" cy="461665"/>
          </a:xfrm>
        </p:spPr>
        <p:txBody>
          <a:bodyPr/>
          <a:lstStyle/>
          <a:p>
            <a:r>
              <a:rPr lang="tr-TR" dirty="0" smtClean="0"/>
              <a:t>Dr. Sertaç Ketenci 2022</a:t>
            </a:r>
          </a:p>
        </p:txBody>
      </p:sp>
      <p:sp>
        <p:nvSpPr>
          <p:cNvPr id="6147" name="1 Başlık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9600" dirty="0" smtClean="0"/>
              <a:t>AKSİYEL </a:t>
            </a:r>
            <a:br>
              <a:rPr lang="tr-TR" sz="9600" dirty="0" smtClean="0"/>
            </a:br>
            <a:r>
              <a:rPr lang="tr-TR" sz="9600" dirty="0" smtClean="0"/>
              <a:t>SpA TANI</a:t>
            </a:r>
            <a:endParaRPr lang="tr-TR" altLang="tr-TR" sz="9600" dirty="0" smtClean="0"/>
          </a:p>
        </p:txBody>
      </p:sp>
    </p:spTree>
    <p:extLst>
      <p:ext uri="{BB962C8B-B14F-4D97-AF65-F5344CB8AC3E}">
        <p14:creationId xmlns:p14="http://schemas.microsoft.com/office/powerpoint/2010/main" val="32145563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Spondiloartropati Kavramı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264244"/>
          </a:xfrm>
        </p:spPr>
        <p:txBody>
          <a:bodyPr/>
          <a:lstStyle/>
          <a:p>
            <a:r>
              <a:rPr lang="tr-TR" dirty="0" smtClean="0"/>
              <a:t>HLA B27  ilişkili</a:t>
            </a:r>
          </a:p>
          <a:p>
            <a:r>
              <a:rPr lang="tr-TR" dirty="0" smtClean="0"/>
              <a:t>Seronegatif  ( RF negatif *)</a:t>
            </a:r>
          </a:p>
          <a:p>
            <a:r>
              <a:rPr lang="tr-TR" dirty="0" smtClean="0"/>
              <a:t>Omurgayı tutan</a:t>
            </a:r>
          </a:p>
          <a:p>
            <a:r>
              <a:rPr lang="tr-TR" dirty="0" smtClean="0"/>
              <a:t>Asimetrik eklem tutulumu olan</a:t>
            </a:r>
          </a:p>
          <a:p>
            <a:r>
              <a:rPr lang="tr-TR" dirty="0" smtClean="0"/>
              <a:t>Entezit yapan</a:t>
            </a:r>
          </a:p>
          <a:p>
            <a:endParaRPr lang="tr-TR" dirty="0" smtClean="0"/>
          </a:p>
          <a:p>
            <a:pPr lvl="1"/>
            <a:r>
              <a:rPr lang="tr-TR" dirty="0" smtClean="0"/>
              <a:t>İnflamatuvar Romatizmal Hastalıklardır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7489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Spondiloartrit Kavramı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Aksiyel Spondiloartrit</a:t>
            </a:r>
          </a:p>
          <a:p>
            <a:endParaRPr lang="tr-TR" dirty="0" smtClean="0"/>
          </a:p>
          <a:p>
            <a:pPr lvl="2"/>
            <a:r>
              <a:rPr lang="tr-TR" dirty="0" smtClean="0"/>
              <a:t>Nonradyografik </a:t>
            </a:r>
            <a:r>
              <a:rPr lang="tr-TR" dirty="0" err="1" smtClean="0"/>
              <a:t>AxSpA</a:t>
            </a:r>
            <a:endParaRPr lang="tr-TR" dirty="0" smtClean="0"/>
          </a:p>
          <a:p>
            <a:pPr lvl="2"/>
            <a:endParaRPr lang="tr-TR" dirty="0" smtClean="0"/>
          </a:p>
          <a:p>
            <a:pPr lvl="2"/>
            <a:r>
              <a:rPr lang="tr-TR" dirty="0" smtClean="0"/>
              <a:t>Radyografik  </a:t>
            </a:r>
            <a:r>
              <a:rPr lang="tr-TR" dirty="0" err="1" smtClean="0"/>
              <a:t>AxSpA</a:t>
            </a:r>
            <a:endParaRPr lang="tr-TR" dirty="0" smtClean="0"/>
          </a:p>
          <a:p>
            <a:endParaRPr lang="tr-TR" dirty="0" smtClean="0"/>
          </a:p>
          <a:p>
            <a:endParaRPr lang="tr-TR" dirty="0" smtClean="0"/>
          </a:p>
          <a:p>
            <a:r>
              <a:rPr lang="tr-TR" dirty="0" smtClean="0"/>
              <a:t>Periferik Spondiloartrit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19531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Aksiyel SpA Spektrumu</a:t>
            </a:r>
            <a:endParaRPr lang="tr-TR" dirty="0"/>
          </a:p>
        </p:txBody>
      </p:sp>
      <p:sp>
        <p:nvSpPr>
          <p:cNvPr id="6" name="Metin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 descr="C:\Users\M\Desktop\Yeni klasör\image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" y="1628800"/>
            <a:ext cx="8969418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6784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Non-Radyografik </a:t>
            </a:r>
            <a:r>
              <a:rPr lang="tr-TR" sz="3500" b="1" kern="1200" cap="none" spc="-150" dirty="0" smtClean="0">
                <a:ln w="3175">
                  <a:solidFill>
                    <a:schemeClr val="bg2">
                      <a:lumMod val="75000"/>
                      <a:lumOff val="25000"/>
                      <a:alpha val="75000"/>
                    </a:schemeClr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61000">
                      <a:schemeClr val="accent2">
                        <a:lumMod val="20000"/>
                        <a:lumOff val="80000"/>
                      </a:schemeClr>
                    </a:gs>
                    <a:gs pos="86000">
                      <a:schemeClr val="tx1"/>
                    </a:gs>
                  </a:gsLst>
                  <a:lin ang="5400000" scaled="0"/>
                  <a:tileRect/>
                </a:gradFill>
                <a:effectLst/>
                <a:latin typeface="Ubuntu" panose="020B0504030602030204" pitchFamily="34" charset="0"/>
                <a:ea typeface="Segoe UI" pitchFamily="34" charset="0"/>
                <a:cs typeface="Segoe UI" pitchFamily="34" charset="0"/>
              </a:rPr>
              <a:t>Aksiyel </a:t>
            </a:r>
            <a:r>
              <a:rPr lang="tr-TR" dirty="0" smtClean="0"/>
              <a:t>SpA</a:t>
            </a:r>
            <a:endParaRPr lang="en-US" dirty="0"/>
          </a:p>
        </p:txBody>
      </p:sp>
      <p:sp>
        <p:nvSpPr>
          <p:cNvPr id="7" name="Metin Yer Tutucus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79"/>
          <a:stretch/>
        </p:blipFill>
        <p:spPr bwMode="auto">
          <a:xfrm>
            <a:off x="1661601" y="1412776"/>
            <a:ext cx="5847349" cy="515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5717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Non-Radyografik Aksiyel SpA</a:t>
            </a:r>
            <a:endParaRPr lang="tr-T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0768"/>
            <a:ext cx="6545263" cy="442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Yuvarlatılmış Dikdörtgen 2"/>
          <p:cNvSpPr/>
          <p:nvPr/>
        </p:nvSpPr>
        <p:spPr>
          <a:xfrm>
            <a:off x="4271212" y="3962401"/>
            <a:ext cx="1383632" cy="19250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Yuvarlatılmış Dikdörtgen 5"/>
          <p:cNvSpPr/>
          <p:nvPr/>
        </p:nvSpPr>
        <p:spPr>
          <a:xfrm>
            <a:off x="3031959" y="3966716"/>
            <a:ext cx="1371600" cy="19250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407566" y="6149436"/>
            <a:ext cx="84777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smtClean="0"/>
              <a:t>Protopopov M, Poddubnyy D. Radiographic progression in non-radiographic axial spondyloarthritis. Expert Rev Clin Immunol. 2018 Jun;14(6):525-533. </a:t>
            </a: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26822428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Ankilozan Spondilit</a:t>
            </a:r>
            <a:endParaRPr lang="tr-TR" altLang="tr-TR" dirty="0" smtClean="0"/>
          </a:p>
        </p:txBody>
      </p:sp>
      <p:sp>
        <p:nvSpPr>
          <p:cNvPr id="18435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Omurga , periferik eklemler ve entezislerde inflamasyonla giden;</a:t>
            </a:r>
          </a:p>
          <a:p>
            <a:r>
              <a:rPr lang="tr-TR" altLang="tr-TR" dirty="0" smtClean="0"/>
              <a:t>Sakroileit ve kronik bel ağrısı ile giden inflamatuvar bir hastalıktır.</a:t>
            </a:r>
          </a:p>
          <a:p>
            <a:r>
              <a:rPr lang="tr-TR" altLang="tr-TR" dirty="0" smtClean="0"/>
              <a:t>Spondiloartropati ailesinin prototipidir</a:t>
            </a:r>
          </a:p>
          <a:p>
            <a:endParaRPr lang="tr-TR" altLang="tr-TR" dirty="0" smtClean="0"/>
          </a:p>
        </p:txBody>
      </p:sp>
    </p:spTree>
    <p:extLst>
      <p:ext uri="{BB962C8B-B14F-4D97-AF65-F5344CB8AC3E}">
        <p14:creationId xmlns:p14="http://schemas.microsoft.com/office/powerpoint/2010/main" val="28695253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Spondiloartrit Ailesi</a:t>
            </a:r>
            <a:endParaRPr lang="tr-TR" altLang="tr-TR" dirty="0" smtClean="0"/>
          </a:p>
        </p:txBody>
      </p:sp>
      <p:sp>
        <p:nvSpPr>
          <p:cNvPr id="8195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smtClean="0"/>
              <a:t>% 43.3 uSpA</a:t>
            </a:r>
          </a:p>
          <a:p>
            <a:r>
              <a:rPr lang="tr-TR" altLang="tr-TR" smtClean="0"/>
              <a:t>%30.2  AS</a:t>
            </a:r>
          </a:p>
          <a:p>
            <a:r>
              <a:rPr lang="tr-TR" altLang="tr-TR" smtClean="0"/>
              <a:t>%14.2  PsA</a:t>
            </a:r>
          </a:p>
          <a:p>
            <a:r>
              <a:rPr lang="tr-TR" altLang="tr-TR" smtClean="0"/>
              <a:t>%9.4    ReA</a:t>
            </a:r>
          </a:p>
          <a:p>
            <a:r>
              <a:rPr lang="tr-TR" altLang="tr-TR" smtClean="0"/>
              <a:t>%2.8    IBH ilişkili SpA</a:t>
            </a:r>
            <a:endParaRPr lang="tr-TR" altLang="tr-TR" dirty="0" smtClean="0"/>
          </a:p>
        </p:txBody>
      </p:sp>
      <p:sp>
        <p:nvSpPr>
          <p:cNvPr id="4" name="Dikdörtgen 3"/>
          <p:cNvSpPr/>
          <p:nvPr/>
        </p:nvSpPr>
        <p:spPr>
          <a:xfrm>
            <a:off x="539552" y="5635098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Brandt </a:t>
            </a:r>
            <a:r>
              <a:rPr lang="en-US" b="1" dirty="0" err="1">
                <a:solidFill>
                  <a:srgbClr val="FFFFFF">
                    <a:lumMod val="50000"/>
                  </a:srgbClr>
                </a:solidFill>
                <a:cs typeface="Arial" charset="0"/>
              </a:rPr>
              <a:t>J,Bollow</a:t>
            </a:r>
            <a:r>
              <a:rPr lang="en-US" b="1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 M  et al. Studying patients with </a:t>
            </a:r>
            <a:r>
              <a:rPr lang="en-US" b="1" dirty="0" err="1">
                <a:solidFill>
                  <a:srgbClr val="FFFFFF">
                    <a:lumMod val="50000"/>
                  </a:srgbClr>
                </a:solidFill>
                <a:cs typeface="Arial" charset="0"/>
              </a:rPr>
              <a:t>inflamatuary</a:t>
            </a:r>
            <a:r>
              <a:rPr lang="en-US" b="1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 back pain and </a:t>
            </a:r>
            <a:r>
              <a:rPr lang="en-US" b="1" dirty="0" err="1">
                <a:solidFill>
                  <a:srgbClr val="FFFFFF">
                    <a:lumMod val="50000"/>
                  </a:srgbClr>
                </a:solidFill>
                <a:cs typeface="Arial" charset="0"/>
              </a:rPr>
              <a:t>arhtitis</a:t>
            </a:r>
            <a:r>
              <a:rPr lang="en-US" b="1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 of the lower limbs clinically and by </a:t>
            </a:r>
            <a:r>
              <a:rPr lang="en-US" b="1" dirty="0" err="1">
                <a:solidFill>
                  <a:srgbClr val="FFFFFF">
                    <a:lumMod val="50000"/>
                  </a:srgbClr>
                </a:solidFill>
                <a:cs typeface="Arial" charset="0"/>
              </a:rPr>
              <a:t>mr.</a:t>
            </a:r>
            <a:r>
              <a:rPr lang="en-US" b="1" dirty="0">
                <a:solidFill>
                  <a:srgbClr val="FFFFFF">
                    <a:lumMod val="50000"/>
                  </a:srgbClr>
                </a:solidFill>
                <a:cs typeface="Arial" charset="0"/>
              </a:rPr>
              <a:t> RHEUMATOLOGY (oxford)</a:t>
            </a:r>
          </a:p>
        </p:txBody>
      </p:sp>
      <p:grpSp>
        <p:nvGrpSpPr>
          <p:cNvPr id="9" name="Grup 8"/>
          <p:cNvGrpSpPr/>
          <p:nvPr/>
        </p:nvGrpSpPr>
        <p:grpSpPr>
          <a:xfrm>
            <a:off x="5074381" y="1397393"/>
            <a:ext cx="3799334" cy="3484984"/>
            <a:chOff x="8659366" y="1497891"/>
            <a:chExt cx="3799334" cy="3484984"/>
          </a:xfrm>
        </p:grpSpPr>
        <p:sp>
          <p:nvSpPr>
            <p:cNvPr id="5" name="Oval 4"/>
            <p:cNvSpPr/>
            <p:nvPr/>
          </p:nvSpPr>
          <p:spPr bwMode="auto">
            <a:xfrm>
              <a:off x="8659366" y="1497891"/>
              <a:ext cx="3799334" cy="348498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tr-TR" sz="23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endParaRPr>
            </a:p>
          </p:txBody>
        </p:sp>
        <p:grpSp>
          <p:nvGrpSpPr>
            <p:cNvPr id="8" name="Grup 7"/>
            <p:cNvGrpSpPr/>
            <p:nvPr/>
          </p:nvGrpSpPr>
          <p:grpSpPr>
            <a:xfrm>
              <a:off x="8659366" y="1704474"/>
              <a:ext cx="3528059" cy="3231944"/>
              <a:chOff x="8659366" y="1704474"/>
              <a:chExt cx="3528059" cy="3231944"/>
            </a:xfrm>
          </p:grpSpPr>
          <p:sp>
            <p:nvSpPr>
              <p:cNvPr id="10" name="Oval 9"/>
              <p:cNvSpPr/>
              <p:nvPr/>
            </p:nvSpPr>
            <p:spPr bwMode="auto">
              <a:xfrm>
                <a:off x="9972600" y="1704474"/>
                <a:ext cx="2187699" cy="179653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  <a:alpha val="49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99"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 sz="230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 pitchFamily="34" charset="0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 bwMode="auto">
              <a:xfrm>
                <a:off x="8659366" y="2492896"/>
                <a:ext cx="2187699" cy="179653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  <a:alpha val="45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defTabSz="914099"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 sz="230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 pitchFamily="34" charset="0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 bwMode="auto">
              <a:xfrm>
                <a:off x="9999726" y="3139885"/>
                <a:ext cx="2187699" cy="179653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  <a:alpha val="5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99"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 sz="2400" b="1" dirty="0" smtClean="0">
                  <a:solidFill>
                    <a:srgbClr val="000000"/>
                  </a:solidFill>
                </a:endParaRPr>
              </a:p>
              <a:p>
                <a:pPr algn="ctr" defTabSz="914099" fontAlgn="base">
                  <a:spcBef>
                    <a:spcPct val="0"/>
                  </a:spcBef>
                  <a:spcAft>
                    <a:spcPct val="0"/>
                  </a:spcAft>
                </a:pPr>
                <a:endParaRPr lang="tr-TR" sz="2400" b="1" dirty="0">
                  <a:solidFill>
                    <a:srgbClr val="000000"/>
                  </a:solidFill>
                </a:endParaRPr>
              </a:p>
              <a:p>
                <a:pPr algn="ctr" defTabSz="914099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2400" b="1" dirty="0" smtClean="0">
                    <a:solidFill>
                      <a:srgbClr val="000000"/>
                    </a:solidFill>
                  </a:rPr>
                  <a:t>ReA</a:t>
                </a:r>
              </a:p>
            </p:txBody>
          </p:sp>
          <p:sp>
            <p:nvSpPr>
              <p:cNvPr id="13" name="Oval 12"/>
              <p:cNvSpPr/>
              <p:nvPr/>
            </p:nvSpPr>
            <p:spPr bwMode="auto">
              <a:xfrm>
                <a:off x="9465183" y="2342116"/>
                <a:ext cx="2187699" cy="1796533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  <a:alpha val="56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99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26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Ankilozan</a:t>
                </a:r>
              </a:p>
              <a:p>
                <a:pPr algn="ctr" defTabSz="914099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26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</a:rPr>
                  <a:t>Spondilit</a:t>
                </a:r>
              </a:p>
            </p:txBody>
          </p:sp>
          <p:sp>
            <p:nvSpPr>
              <p:cNvPr id="7" name="Dikdörtgen 6"/>
              <p:cNvSpPr/>
              <p:nvPr/>
            </p:nvSpPr>
            <p:spPr>
              <a:xfrm>
                <a:off x="9144000" y="2088670"/>
                <a:ext cx="84510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20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cs typeface="Arial" charset="0"/>
                  </a:rPr>
                  <a:t>U-SpA</a:t>
                </a:r>
                <a:endParaRPr lang="tr-TR" sz="20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Arial" charset="0"/>
                </a:endParaRPr>
              </a:p>
            </p:txBody>
          </p:sp>
          <p:sp>
            <p:nvSpPr>
              <p:cNvPr id="15" name="Dikdörtgen 14"/>
              <p:cNvSpPr/>
              <p:nvPr/>
            </p:nvSpPr>
            <p:spPr>
              <a:xfrm>
                <a:off x="10875105" y="1902585"/>
                <a:ext cx="517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cs typeface="Arial" charset="0"/>
                  </a:rPr>
                  <a:t>EA</a:t>
                </a:r>
                <a:endParaRPr lang="tr-TR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Arial" charset="0"/>
                </a:endParaRPr>
              </a:p>
            </p:txBody>
          </p:sp>
          <p:sp>
            <p:nvSpPr>
              <p:cNvPr id="16" name="Dikdörtgen 15"/>
              <p:cNvSpPr/>
              <p:nvPr/>
            </p:nvSpPr>
            <p:spPr>
              <a:xfrm>
                <a:off x="8875785" y="3316341"/>
                <a:ext cx="6542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2400" b="1" dirty="0" smtClean="0">
                    <a:solidFill>
                      <a:srgbClr val="000000">
                        <a:lumMod val="75000"/>
                        <a:lumOff val="25000"/>
                      </a:srgbClr>
                    </a:solidFill>
                    <a:cs typeface="Arial" charset="0"/>
                  </a:rPr>
                  <a:t>PsA</a:t>
                </a:r>
                <a:endParaRPr lang="tr-TR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3430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381000" y="476672"/>
            <a:ext cx="8382000" cy="1318310"/>
          </a:xfrm>
        </p:spPr>
        <p:txBody>
          <a:bodyPr/>
          <a:lstStyle/>
          <a:p>
            <a:r>
              <a:rPr lang="tr-TR" altLang="tr-TR" dirty="0" smtClean="0"/>
              <a:t>Adölesan  ve genç erişkinlerin hastalığıdır, ortalama başlangıç yaşı 26’dır, 45 yaş üzeri görülmesi nadirdir</a:t>
            </a:r>
          </a:p>
          <a:p>
            <a:r>
              <a:rPr lang="tr-TR" dirty="0" smtClean="0"/>
              <a:t>E/K : 2-3/1</a:t>
            </a:r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0315" y="1916832"/>
            <a:ext cx="7920880" cy="4653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67660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dirty="0" smtClean="0"/>
              <a:t>SpA prevalans % 0,5-2</a:t>
            </a:r>
          </a:p>
          <a:p>
            <a:r>
              <a:rPr lang="tr-TR" dirty="0" smtClean="0"/>
              <a:t>HLA B-27 pozitifliği sıklığıyla ilişkili</a:t>
            </a:r>
          </a:p>
          <a:p>
            <a:r>
              <a:rPr lang="tr-TR" dirty="0" smtClean="0"/>
              <a:t>Beyaz ırk % 8 +</a:t>
            </a:r>
          </a:p>
          <a:p>
            <a:r>
              <a:rPr lang="tr-TR" dirty="0" smtClean="0"/>
              <a:t>AS’de HLA B27 &gt;&gt; % 92 +?</a:t>
            </a:r>
          </a:p>
          <a:p>
            <a:r>
              <a:rPr lang="tr-TR" dirty="0" smtClean="0"/>
              <a:t>Non radyografik </a:t>
            </a:r>
            <a:r>
              <a:rPr lang="tr-TR" dirty="0" err="1" smtClean="0"/>
              <a:t>ax</a:t>
            </a:r>
            <a:r>
              <a:rPr lang="tr-TR" dirty="0" smtClean="0"/>
              <a:t>. SpA &gt;&gt; % 80 +</a:t>
            </a:r>
          </a:p>
          <a:p>
            <a:r>
              <a:rPr lang="tr-TR" dirty="0" smtClean="0"/>
              <a:t>HLA B-27+ &gt;&gt; %1-5 AS</a:t>
            </a:r>
          </a:p>
          <a:p>
            <a:r>
              <a:rPr lang="tr-TR" dirty="0" smtClean="0"/>
              <a:t>HLA B-27+ ve 1. derece akraba hikayesi &gt;&gt; %15-20 AS</a:t>
            </a:r>
          </a:p>
          <a:p>
            <a:endParaRPr lang="tr-T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1124744"/>
            <a:ext cx="3974842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58458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Klinik Bulgular</a:t>
            </a:r>
            <a:endParaRPr lang="tr-TR" altLang="tr-TR" dirty="0" smtClean="0"/>
          </a:p>
        </p:txBody>
      </p:sp>
      <p:sp>
        <p:nvSpPr>
          <p:cNvPr id="2048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tr-TR" altLang="tr-TR" dirty="0" smtClean="0"/>
              <a:t>Kronik inflamatuvar bel ağrısı sıklıkla ilk bulgudur </a:t>
            </a:r>
          </a:p>
          <a:p>
            <a:pPr lvl="1"/>
            <a:r>
              <a:rPr lang="tr-TR" altLang="tr-TR" dirty="0" smtClean="0"/>
              <a:t>Kronik bel ağrısının % 5’ i SpA</a:t>
            </a:r>
          </a:p>
          <a:p>
            <a:pPr lvl="1"/>
            <a:r>
              <a:rPr lang="tr-TR" altLang="tr-TR" dirty="0" smtClean="0"/>
              <a:t>Önceleri derin gluteal bölgelerde künt karakterde hissedilir.</a:t>
            </a:r>
          </a:p>
          <a:p>
            <a:pPr lvl="1"/>
            <a:r>
              <a:rPr lang="tr-TR" altLang="tr-TR" dirty="0" smtClean="0"/>
              <a:t>Lokalize edilmesi güçtür ve sinsi başlangıçlıdır.</a:t>
            </a:r>
          </a:p>
          <a:p>
            <a:pPr lvl="1"/>
            <a:r>
              <a:rPr lang="tr-TR" altLang="tr-TR" dirty="0" smtClean="0"/>
              <a:t>Erken evrede ağrı sakroiliyak eklemlere lokalizedir ancak iliak </a:t>
            </a:r>
            <a:r>
              <a:rPr lang="tr-TR" altLang="tr-TR" dirty="0" err="1" smtClean="0"/>
              <a:t>kristaya</a:t>
            </a:r>
            <a:r>
              <a:rPr lang="tr-TR" altLang="tr-TR" dirty="0" smtClean="0"/>
              <a:t>, büyük trokanter bölgesine veya uyluk arkasına doğru yansıyabilir.</a:t>
            </a:r>
          </a:p>
          <a:p>
            <a:pPr lvl="1"/>
            <a:r>
              <a:rPr lang="tr-TR" altLang="tr-TR" dirty="0" smtClean="0"/>
              <a:t>Gluteal ağrı tipik olarak bir yandan diğer yana geçebilir.</a:t>
            </a:r>
          </a:p>
          <a:p>
            <a:pPr lvl="1"/>
            <a:r>
              <a:rPr lang="tr-TR" altLang="tr-TR" dirty="0" smtClean="0"/>
              <a:t>Başlangıçta ağrı aralıklı ve çoğu zaman tek taraflıyken zamanla kalıcı ve çift taraflı ağrı halini alır.</a:t>
            </a:r>
          </a:p>
          <a:p>
            <a:pPr lvl="1"/>
            <a:r>
              <a:rPr lang="tr-TR" altLang="tr-TR" dirty="0" smtClean="0"/>
              <a:t>NSAID yanıtı vardır</a:t>
            </a:r>
          </a:p>
        </p:txBody>
      </p:sp>
    </p:spTree>
    <p:extLst>
      <p:ext uri="{BB962C8B-B14F-4D97-AF65-F5344CB8AC3E}">
        <p14:creationId xmlns:p14="http://schemas.microsoft.com/office/powerpoint/2010/main" val="4693492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İnflamatuvar Bel Ağrısı</a:t>
            </a:r>
            <a:endParaRPr lang="tr-TR" altLang="tr-TR" dirty="0" smtClean="0"/>
          </a:p>
        </p:txBody>
      </p:sp>
      <p:sp>
        <p:nvSpPr>
          <p:cNvPr id="3" name="Metin Yer Tutucusu 2"/>
          <p:cNvSpPr>
            <a:spLocks noGrp="1"/>
          </p:cNvSpPr>
          <p:nvPr>
            <p:ph idx="1"/>
          </p:nvPr>
        </p:nvSpPr>
        <p:spPr>
          <a:xfrm>
            <a:off x="381000" y="1411552"/>
            <a:ext cx="8382000" cy="1785104"/>
          </a:xfrm>
        </p:spPr>
        <p:txBody>
          <a:bodyPr/>
          <a:lstStyle/>
          <a:p>
            <a:pPr lvl="1"/>
            <a:r>
              <a:rPr lang="tr-TR" dirty="0" err="1" smtClean="0"/>
              <a:t>Calin</a:t>
            </a:r>
            <a:r>
              <a:rPr lang="tr-TR" dirty="0" smtClean="0"/>
              <a:t> kriterleri %95 </a:t>
            </a:r>
            <a:r>
              <a:rPr lang="tr-TR" sz="2100" b="0" kern="1200" dirty="0" smtClean="0">
                <a:solidFill>
                  <a:schemeClr val="tx1"/>
                </a:solidFill>
                <a:effectLst/>
                <a:latin typeface="Segoe UI Semibold" pitchFamily="34" charset="0"/>
                <a:ea typeface="+mn-ea"/>
                <a:cs typeface="+mn-cs"/>
              </a:rPr>
              <a:t>sensitivite </a:t>
            </a:r>
            <a:r>
              <a:rPr lang="tr-TR" dirty="0" smtClean="0"/>
              <a:t>% 85 spesifite</a:t>
            </a:r>
          </a:p>
          <a:p>
            <a:pPr lvl="1"/>
            <a:r>
              <a:rPr lang="tr-TR" dirty="0" smtClean="0"/>
              <a:t>Berlin kriterleri %70 sensitivite %81 spesifite</a:t>
            </a:r>
          </a:p>
          <a:p>
            <a:pPr lvl="1"/>
            <a:r>
              <a:rPr lang="tr-TR" dirty="0" smtClean="0"/>
              <a:t>ASAS kriterleri daha üstün değil </a:t>
            </a:r>
          </a:p>
          <a:p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411" y="2684742"/>
            <a:ext cx="7344816" cy="418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843251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Metin Yer Tutucusu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5161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5993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Klinik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dirty="0" smtClean="0"/>
              <a:t>İlerleyen hastalıkta ilk olarak lomber lordozda düzleşme sonrasında torasik kifozda artış ve daha da ilerlerse servikal hareketlerde kısıtlılıkla  AS postürü gelişir</a:t>
            </a:r>
          </a:p>
          <a:p>
            <a:r>
              <a:rPr lang="tr-TR" dirty="0" smtClean="0"/>
              <a:t>Oluşan kalça ve diz eklem kontraktürü tipik postürde  önemli</a:t>
            </a:r>
          </a:p>
          <a:p>
            <a:r>
              <a:rPr lang="tr-TR" dirty="0" smtClean="0"/>
              <a:t>Sindezmofitler , faset eklemlerdeki ossifikasyonlar spinal mobiliteyi sınırlar</a:t>
            </a:r>
          </a:p>
          <a:p>
            <a:r>
              <a:rPr lang="tr-TR" dirty="0" smtClean="0"/>
              <a:t>Bu dönemde hastalarda ağrı çoğu kez azalmıştır</a:t>
            </a:r>
          </a:p>
        </p:txBody>
      </p:sp>
      <p:pic>
        <p:nvPicPr>
          <p:cNvPr id="3075" name="Picture 3" descr="C:\Users\sertaç\Desktop\AnkylosingSpondyliti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196752"/>
            <a:ext cx="4427984" cy="4896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86131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Kök Eklem Tutuluşu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Omuz ve kalça eklem tutuluşu %35- 50 ‘ ye yakın vakada gözlenmekte</a:t>
            </a:r>
          </a:p>
          <a:p>
            <a:r>
              <a:rPr lang="tr-TR" dirty="0" smtClean="0"/>
              <a:t>Genelde ilk on yıl içinde</a:t>
            </a:r>
          </a:p>
          <a:p>
            <a:r>
              <a:rPr lang="tr-TR" dirty="0" smtClean="0"/>
              <a:t>Kalça tutuluşu kötü prognozla ilişkili</a:t>
            </a:r>
          </a:p>
          <a:p>
            <a:r>
              <a:rPr lang="tr-TR" dirty="0" smtClean="0"/>
              <a:t>Jüvenil AS’ de kalça tutuluşu  daha sık , bilateral olma eğiliminde</a:t>
            </a:r>
          </a:p>
          <a:p>
            <a:r>
              <a:rPr lang="tr-TR" dirty="0" smtClean="0"/>
              <a:t>Kalçada eroziv artrit yapabilir&gt;&gt; % 5 eklem replasmanı</a:t>
            </a:r>
          </a:p>
          <a:p>
            <a:r>
              <a:rPr lang="tr-TR" dirty="0" smtClean="0"/>
              <a:t>Eklem aralığında daralmayla giden non eroziv tip daha sık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617781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Periferik Eklemler</a:t>
            </a:r>
            <a:endParaRPr lang="tr-TR" dirty="0"/>
          </a:p>
        </p:txBody>
      </p:sp>
      <p:sp>
        <p:nvSpPr>
          <p:cNvPr id="22530" name="2 İçerik Yer Tutucusu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altLang="tr-TR" dirty="0" smtClean="0"/>
              <a:t>Alt ekstremiteleri tutan asimetrik oligoartrit</a:t>
            </a:r>
          </a:p>
          <a:p>
            <a:r>
              <a:rPr lang="tr-TR" altLang="tr-TR" dirty="0" smtClean="0"/>
              <a:t>Ortalama 18 yıllık hastalığı olan bir kohortta % 58 periferik artrit</a:t>
            </a:r>
          </a:p>
          <a:p>
            <a:r>
              <a:rPr lang="tr-TR" altLang="tr-TR" dirty="0" smtClean="0"/>
              <a:t>10 yıllık hastalıkta % 37,4</a:t>
            </a:r>
          </a:p>
          <a:p>
            <a:r>
              <a:rPr lang="tr-TR" altLang="tr-TR" dirty="0" smtClean="0"/>
              <a:t>Hastalık başlangıç semptomu olarak artrit % 15</a:t>
            </a:r>
          </a:p>
          <a:p>
            <a:r>
              <a:rPr lang="tr-TR" altLang="tr-TR" dirty="0" smtClean="0"/>
              <a:t>Diz eklemi % 10 kadar hastada etkilenir</a:t>
            </a:r>
          </a:p>
          <a:p>
            <a:r>
              <a:rPr lang="tr-TR" altLang="tr-TR" dirty="0" smtClean="0"/>
              <a:t>Non eroziv karakterde</a:t>
            </a:r>
          </a:p>
        </p:txBody>
      </p:sp>
      <p:pic>
        <p:nvPicPr>
          <p:cNvPr id="1026" name="Picture 2" descr="C:\Users\M\Desktop\image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1" y="1628800"/>
            <a:ext cx="4267101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954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şlı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Periferik artritin olması hastalık şiddetinin daha fazla olacağına işaret eder.</a:t>
            </a:r>
          </a:p>
          <a:p>
            <a:r>
              <a:rPr lang="tr-TR" altLang="tr-TR" dirty="0" smtClean="0"/>
              <a:t>Temporomandibuler eklemlerde etkilenip ağız açıklığında azalmaya ve çiğneme fonksiyonlarında bozulmaya yol açabilirler.</a:t>
            </a:r>
          </a:p>
          <a:p>
            <a:r>
              <a:rPr lang="tr-TR" altLang="tr-TR" dirty="0" smtClean="0"/>
              <a:t>Nadir olarak krikoaritenoid eklem etkilenir ve ses kısıklığı gelişir.</a:t>
            </a:r>
          </a:p>
          <a:p>
            <a:r>
              <a:rPr lang="tr-TR" altLang="tr-TR" dirty="0" smtClean="0"/>
              <a:t>Birçok çalışma periferik eklem tutulumunun ve el eklemi tutulumunun kadın hastalarda daha sık olarak bulunduğunu belirtmiştir.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259138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Göğüs Ağrısı</a:t>
            </a:r>
            <a:endParaRPr lang="tr-TR" dirty="0"/>
          </a:p>
        </p:txBody>
      </p:sp>
      <p:sp>
        <p:nvSpPr>
          <p:cNvPr id="21506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Ön göğüs duvarı ağrısı % 15 hastada</a:t>
            </a:r>
          </a:p>
          <a:p>
            <a:r>
              <a:rPr lang="tr-TR" altLang="tr-TR" dirty="0" smtClean="0"/>
              <a:t>Torakal bölgede </a:t>
            </a:r>
            <a:r>
              <a:rPr lang="tr-TR" altLang="tr-TR" dirty="0" err="1" smtClean="0"/>
              <a:t>kosto</a:t>
            </a:r>
            <a:r>
              <a:rPr lang="tr-TR" altLang="tr-TR" dirty="0" smtClean="0"/>
              <a:t> vertebral </a:t>
            </a:r>
            <a:r>
              <a:rPr lang="tr-TR" altLang="tr-TR" dirty="0" err="1" smtClean="0"/>
              <a:t>kosto</a:t>
            </a:r>
            <a:r>
              <a:rPr lang="tr-TR" altLang="tr-TR" dirty="0" smtClean="0"/>
              <a:t> transvers eklemlerin tutulması, kostosternal ve manubriosternal eklemlerde artrit, entezopati oluşması ile birlikte hastalarda öksürme hapşırmayla beraber artan bazen plöritik karakterde göğüs ağrısı gelişebilir.</a:t>
            </a:r>
          </a:p>
          <a:p>
            <a:r>
              <a:rPr lang="tr-TR" altLang="tr-TR" dirty="0" smtClean="0"/>
              <a:t>Göğüs ekspansiyonunda bu tutulumlara bağlı  hafif orta derecede azalma meydana gelebilir</a:t>
            </a:r>
          </a:p>
        </p:txBody>
      </p:sp>
    </p:spTree>
    <p:extLst>
      <p:ext uri="{BB962C8B-B14F-4D97-AF65-F5344CB8AC3E}">
        <p14:creationId xmlns:p14="http://schemas.microsoft.com/office/powerpoint/2010/main" val="192851612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Tietze</a:t>
            </a:r>
            <a:endParaRPr lang="en-US" dirty="0"/>
          </a:p>
        </p:txBody>
      </p:sp>
      <p:sp>
        <p:nvSpPr>
          <p:cNvPr id="6" name="Metin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818" y="1052735"/>
            <a:ext cx="6760558" cy="3059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C:\Users\M\Desktop\image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249081"/>
            <a:ext cx="2892425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4890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Entezit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2"/>
          </p:nvPr>
        </p:nvSpPr>
        <p:spPr>
          <a:xfrm>
            <a:off x="323528" y="1556792"/>
            <a:ext cx="4968552" cy="2263697"/>
          </a:xfrm>
        </p:spPr>
        <p:txBody>
          <a:bodyPr/>
          <a:lstStyle/>
          <a:p>
            <a:r>
              <a:rPr lang="tr-TR" altLang="tr-TR" dirty="0" smtClean="0"/>
              <a:t>Spondiloartropatinin karakteristik lezyonu, yaklaşık hastaların yarısında</a:t>
            </a:r>
          </a:p>
          <a:p>
            <a:r>
              <a:rPr lang="tr-TR" altLang="tr-TR" dirty="0" smtClean="0"/>
              <a:t>Başlangıçta 1/5 hastada</a:t>
            </a:r>
          </a:p>
          <a:p>
            <a:r>
              <a:rPr lang="tr-TR" altLang="tr-TR" dirty="0" smtClean="0"/>
              <a:t>Yaygın olarak görülen duyarlı bölgeler kostosternal bileşkeler, spinöz çıkıntılar, iliak kristalar, büyük trokanterler, iskial tuberositalar, tibial tüberküller ve topuklardır (aşil tendinit veya plantar fasiit).</a:t>
            </a:r>
          </a:p>
          <a:p>
            <a:r>
              <a:rPr lang="tr-TR" altLang="tr-TR" dirty="0" smtClean="0"/>
              <a:t>Entezitlere yakın yerlerde bursitler sinovitler gözlenebilir</a:t>
            </a:r>
          </a:p>
          <a:p>
            <a:endParaRPr lang="tr-TR" dirty="0"/>
          </a:p>
        </p:txBody>
      </p:sp>
      <p:pic>
        <p:nvPicPr>
          <p:cNvPr id="2050" name="Picture 2" descr="C:\Users\M\Desktop\Yeni klasör\image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60648"/>
            <a:ext cx="3406039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6590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şlı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Metin Yer Tutucus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098" name="Picture 2" descr="C:\Users\M\Desktop\image1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985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3100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Daktilit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% 5-6</a:t>
            </a:r>
          </a:p>
          <a:p>
            <a:r>
              <a:rPr lang="tr-TR" dirty="0" smtClean="0"/>
              <a:t>SpA için tipik fakat AS’ de nadir</a:t>
            </a:r>
          </a:p>
          <a:p>
            <a:r>
              <a:rPr lang="tr-TR" dirty="0" smtClean="0"/>
              <a:t>PsA /ReA/</a:t>
            </a:r>
            <a:r>
              <a:rPr lang="tr-TR" dirty="0" err="1" smtClean="0"/>
              <a:t>uSpA</a:t>
            </a:r>
            <a:endParaRPr lang="tr-TR" dirty="0" smtClean="0"/>
          </a:p>
          <a:p>
            <a:endParaRPr lang="tr-TR" dirty="0" smtClean="0"/>
          </a:p>
          <a:p>
            <a:r>
              <a:rPr lang="tr-TR" dirty="0" smtClean="0"/>
              <a:t>Gut </a:t>
            </a:r>
          </a:p>
          <a:p>
            <a:r>
              <a:rPr lang="tr-TR" dirty="0" smtClean="0"/>
              <a:t>TBC</a:t>
            </a:r>
          </a:p>
          <a:p>
            <a:r>
              <a:rPr lang="tr-TR" dirty="0" smtClean="0"/>
              <a:t>Sarkoidoz</a:t>
            </a:r>
          </a:p>
          <a:p>
            <a:r>
              <a:rPr lang="tr-TR" dirty="0" smtClean="0"/>
              <a:t>Orak</a:t>
            </a:r>
            <a:r>
              <a:rPr lang="tr-TR" baseline="0" dirty="0" smtClean="0"/>
              <a:t> Hücreli </a:t>
            </a:r>
            <a:r>
              <a:rPr lang="tr-TR" dirty="0" smtClean="0"/>
              <a:t>Anemi</a:t>
            </a:r>
            <a:endParaRPr lang="tr-TR" dirty="0"/>
          </a:p>
        </p:txBody>
      </p:sp>
      <p:pic>
        <p:nvPicPr>
          <p:cNvPr id="6146" name="Picture 2" descr="C:\Users\sertaç\Desktop\indi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060848"/>
            <a:ext cx="4320480" cy="3960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71959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Ekstra Artiküler Tutulum</a:t>
            </a:r>
            <a:endParaRPr lang="tr-TR" dirty="0"/>
          </a:p>
        </p:txBody>
      </p:sp>
      <p:sp>
        <p:nvSpPr>
          <p:cNvPr id="23554" name="2 İçerik Yer Tutucusu"/>
          <p:cNvSpPr>
            <a:spLocks noGrp="1"/>
          </p:cNvSpPr>
          <p:nvPr>
            <p:ph idx="1"/>
          </p:nvPr>
        </p:nvSpPr>
        <p:spPr>
          <a:xfrm>
            <a:off x="251520" y="1411552"/>
            <a:ext cx="8382000" cy="1962589"/>
          </a:xfrm>
        </p:spPr>
        <p:txBody>
          <a:bodyPr/>
          <a:lstStyle/>
          <a:p>
            <a:r>
              <a:rPr lang="tr-TR" altLang="tr-TR" dirty="0" smtClean="0"/>
              <a:t>Oftalmolojik tutulum:</a:t>
            </a:r>
          </a:p>
          <a:p>
            <a:pPr lvl="1"/>
            <a:r>
              <a:rPr lang="tr-TR" altLang="tr-TR" dirty="0" smtClean="0"/>
              <a:t>Akut anterior üveit </a:t>
            </a:r>
            <a:r>
              <a:rPr lang="tr-TR" altLang="tr-TR" dirty="0" err="1" smtClean="0"/>
              <a:t>AS’nin</a:t>
            </a:r>
            <a:r>
              <a:rPr lang="tr-TR" altLang="tr-TR" dirty="0" smtClean="0"/>
              <a:t> en yaygın ekstraartiküler tutulumudur(%25-40)</a:t>
            </a:r>
          </a:p>
          <a:p>
            <a:pPr lvl="1"/>
            <a:r>
              <a:rPr lang="tr-TR" altLang="tr-TR" dirty="0" smtClean="0"/>
              <a:t>Çoğu hasta tek üveit atağı geçirir</a:t>
            </a:r>
          </a:p>
          <a:p>
            <a:pPr lvl="1"/>
            <a:r>
              <a:rPr lang="tr-TR" altLang="tr-TR" dirty="0" smtClean="0"/>
              <a:t>Genelde tek taraflı</a:t>
            </a:r>
          </a:p>
          <a:p>
            <a:pPr lvl="1"/>
            <a:r>
              <a:rPr lang="tr-TR" altLang="tr-TR" dirty="0" smtClean="0"/>
              <a:t>HLA B27 + hastalarda daha sık</a:t>
            </a:r>
          </a:p>
          <a:p>
            <a:pPr lvl="1"/>
            <a:r>
              <a:rPr lang="tr-TR" altLang="tr-TR" dirty="0" smtClean="0"/>
              <a:t>Periferik tutulumu olan hastalarda daha sıktır.</a:t>
            </a:r>
          </a:p>
          <a:p>
            <a:pPr lvl="1"/>
            <a:r>
              <a:rPr lang="tr-TR" altLang="tr-TR" dirty="0" smtClean="0"/>
              <a:t>%11 hastada ilk bulgu olabilir</a:t>
            </a:r>
          </a:p>
          <a:p>
            <a:pPr lvl="1"/>
            <a:r>
              <a:rPr lang="tr-TR" altLang="tr-TR" dirty="0" smtClean="0"/>
              <a:t>Gözde ağrı kızarıklık fotofobi  yaşarma</a:t>
            </a:r>
          </a:p>
          <a:p>
            <a:pPr lvl="1"/>
            <a:r>
              <a:rPr lang="tr-TR" altLang="tr-TR" dirty="0" smtClean="0"/>
              <a:t>Sineşilere sebep olabilir &gt;&gt; glokom katarakt maküler ödem</a:t>
            </a:r>
          </a:p>
          <a:p>
            <a:pPr lvl="1"/>
            <a:endParaRPr lang="tr-TR" altLang="tr-TR" dirty="0" smtClean="0"/>
          </a:p>
        </p:txBody>
      </p:sp>
      <p:pic>
        <p:nvPicPr>
          <p:cNvPr id="3074" name="Picture 2" descr="C:\Users\M\Desktop\Yeni klasör\image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258" y="2348879"/>
            <a:ext cx="2405063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3610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Üveit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dirty="0" smtClean="0"/>
              <a:t>Üveitler</a:t>
            </a:r>
          </a:p>
          <a:p>
            <a:pPr lvl="1"/>
            <a:r>
              <a:rPr lang="tr-TR" dirty="0" err="1" smtClean="0"/>
              <a:t>İdiopatik</a:t>
            </a:r>
            <a:endParaRPr lang="tr-TR" dirty="0" smtClean="0"/>
          </a:p>
          <a:p>
            <a:pPr lvl="1"/>
            <a:r>
              <a:rPr lang="tr-TR" dirty="0" smtClean="0"/>
              <a:t>Enfeksiyöz</a:t>
            </a:r>
            <a:r>
              <a:rPr lang="tr-TR" baseline="0" dirty="0" smtClean="0"/>
              <a:t> / </a:t>
            </a:r>
            <a:r>
              <a:rPr lang="tr-TR" dirty="0" smtClean="0"/>
              <a:t>Non Enfeksiyöz</a:t>
            </a:r>
          </a:p>
          <a:p>
            <a:pPr lvl="1"/>
            <a:endParaRPr lang="tr-TR" dirty="0" smtClean="0"/>
          </a:p>
          <a:p>
            <a:pPr lvl="1"/>
            <a:r>
              <a:rPr lang="en-US" dirty="0" smtClean="0"/>
              <a:t>granülomatöz </a:t>
            </a:r>
            <a:r>
              <a:rPr lang="tr-TR" dirty="0" smtClean="0"/>
              <a:t>/ N</a:t>
            </a:r>
            <a:r>
              <a:rPr lang="en-US" dirty="0" smtClean="0"/>
              <a:t>on-granülomatöz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168" y="1528241"/>
            <a:ext cx="4680519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984625"/>
            <a:ext cx="6972300" cy="187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31501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KVS Tutulumu</a:t>
            </a:r>
            <a:endParaRPr lang="tr-TR" dirty="0"/>
          </a:p>
        </p:txBody>
      </p:sp>
      <p:sp>
        <p:nvSpPr>
          <p:cNvPr id="24578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Kardiyak komplikasyonlar hastalığın başlangıcından yıllar sonra meydana gelir, kardiyak tutulumun en sık bulguları; valvüler disfonksiyonlar (aortik ve mitral regürjitasyon) çeşitli derecede ileti bozuklukları ve sol ventrikül disfonksiyonunu içerir.</a:t>
            </a:r>
          </a:p>
          <a:p>
            <a:r>
              <a:rPr lang="tr-TR" altLang="tr-TR" dirty="0" smtClean="0"/>
              <a:t>Aortit, aort yetmezliği, 1. derece av blok</a:t>
            </a:r>
          </a:p>
          <a:p>
            <a:r>
              <a:rPr lang="tr-TR" altLang="tr-TR" dirty="0" smtClean="0"/>
              <a:t>En sık KVS tutulumu ileti bozuklukları</a:t>
            </a:r>
          </a:p>
          <a:p>
            <a:r>
              <a:rPr lang="tr-TR" altLang="tr-TR" dirty="0" smtClean="0"/>
              <a:t>Aort yetmezliği %2-10</a:t>
            </a:r>
          </a:p>
          <a:p>
            <a:r>
              <a:rPr lang="tr-TR" altLang="tr-TR" dirty="0" smtClean="0"/>
              <a:t>Hastaların hemen tümü HLA B27 + , AS ReA</a:t>
            </a:r>
          </a:p>
          <a:p>
            <a:r>
              <a:rPr lang="tr-TR" altLang="tr-TR" dirty="0" smtClean="0"/>
              <a:t>Ateroskleroz</a:t>
            </a:r>
          </a:p>
        </p:txBody>
      </p:sp>
    </p:spTree>
    <p:extLst>
      <p:ext uri="{BB962C8B-B14F-4D97-AF65-F5344CB8AC3E}">
        <p14:creationId xmlns:p14="http://schemas.microsoft.com/office/powerpoint/2010/main" val="981092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Pulmoner Tutulum</a:t>
            </a:r>
            <a:endParaRPr lang="tr-TR" dirty="0"/>
          </a:p>
        </p:txBody>
      </p:sp>
      <p:sp>
        <p:nvSpPr>
          <p:cNvPr id="25602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Tipik olarak asemptomatiktir, direk grafide % 1-2</a:t>
            </a:r>
          </a:p>
          <a:p>
            <a:r>
              <a:rPr lang="tr-TR" altLang="tr-TR" dirty="0" smtClean="0"/>
              <a:t>Apikal lob fibrozisi &gt;&gt; Bilateral apikal fibrozis %1.3</a:t>
            </a:r>
          </a:p>
          <a:p>
            <a:r>
              <a:rPr lang="tr-TR" altLang="tr-TR" dirty="0" smtClean="0"/>
              <a:t>Restriktif akciğer hastalığı</a:t>
            </a:r>
            <a:r>
              <a:rPr lang="tr-TR" altLang="tr-TR" dirty="0" smtClean="0">
                <a:sym typeface="Wingdings"/>
              </a:rPr>
              <a:t>  </a:t>
            </a:r>
            <a:r>
              <a:rPr lang="tr-TR" altLang="tr-TR" dirty="0" smtClean="0"/>
              <a:t>Torasik genişlemedeki kısıtlılık, torasik omurganın ankilozu ile kostovertebral ve kostosternal eklemlerin inflamasyonu sonucu gelişir</a:t>
            </a:r>
          </a:p>
          <a:p>
            <a:r>
              <a:rPr lang="tr-TR" altLang="tr-TR" dirty="0" smtClean="0"/>
              <a:t>Sigara hastalığın seyrini kötüleştirir </a:t>
            </a:r>
            <a:r>
              <a:rPr lang="tr-TR" altLang="tr-TR" dirty="0" smtClean="0">
                <a:sym typeface="Wingdings"/>
              </a:rPr>
              <a:t> </a:t>
            </a:r>
            <a:r>
              <a:rPr lang="tr-TR" altLang="tr-TR" dirty="0" smtClean="0"/>
              <a:t>spontan pnömotoraks riski</a:t>
            </a:r>
          </a:p>
          <a:p>
            <a:r>
              <a:rPr lang="tr-TR" altLang="tr-TR" dirty="0" smtClean="0"/>
              <a:t>İAH varsa  ilaç , enteropatik artrit </a:t>
            </a:r>
          </a:p>
        </p:txBody>
      </p:sp>
    </p:spTree>
    <p:extLst>
      <p:ext uri="{BB962C8B-B14F-4D97-AF65-F5344CB8AC3E}">
        <p14:creationId xmlns:p14="http://schemas.microsoft.com/office/powerpoint/2010/main" val="5814389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Gastrointestinal Tutulum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altLang="tr-TR" dirty="0" smtClean="0"/>
              <a:t>Kolonoskopik mukozal biyopsilerde  asemptomatik </a:t>
            </a:r>
            <a:r>
              <a:rPr lang="tr-TR" altLang="tr-TR" dirty="0" err="1" smtClean="0"/>
              <a:t>AS’lilerin</a:t>
            </a:r>
            <a:r>
              <a:rPr lang="tr-TR" altLang="tr-TR" dirty="0" smtClean="0"/>
              <a:t> %20- 70 oranında subklinik inflamatuvar lezyonlar </a:t>
            </a:r>
          </a:p>
          <a:p>
            <a:r>
              <a:rPr lang="tr-TR" altLang="tr-TR" dirty="0" smtClean="0"/>
              <a:t>Takipte % 4-6 kadarı İBD geliştirmekte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08801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Renal - Genitoüriner Tutulum</a:t>
            </a:r>
            <a:endParaRPr lang="tr-TR" dirty="0"/>
          </a:p>
        </p:txBody>
      </p:sp>
      <p:sp>
        <p:nvSpPr>
          <p:cNvPr id="26626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AS deki en yaygın renal tutulum sekonder amiloidoz olup uzun süreli aktif hastalığı bulunanların %1 inde rapor edilmiştir</a:t>
            </a:r>
          </a:p>
          <a:p>
            <a:r>
              <a:rPr lang="tr-TR" altLang="tr-TR" dirty="0" err="1" smtClean="0"/>
              <a:t>Ig</a:t>
            </a:r>
            <a:r>
              <a:rPr lang="tr-TR" altLang="tr-TR" dirty="0" smtClean="0"/>
              <a:t> A nefropatisi de ankilozan spondilitin diğer bir renal bulgusu olup nadir görülür.</a:t>
            </a:r>
          </a:p>
          <a:p>
            <a:r>
              <a:rPr lang="tr-TR" altLang="tr-TR" dirty="0" err="1" smtClean="0"/>
              <a:t>Hematürisi</a:t>
            </a:r>
            <a:r>
              <a:rPr lang="tr-TR" altLang="tr-TR" dirty="0" smtClean="0"/>
              <a:t> ve proteinürisi bulunan hastalarda göz önünde bulunmalıdır.</a:t>
            </a:r>
          </a:p>
          <a:p>
            <a:r>
              <a:rPr lang="tr-TR" altLang="tr-TR" dirty="0" smtClean="0"/>
              <a:t>Bu hastalar yükselmiş bir serum </a:t>
            </a:r>
            <a:r>
              <a:rPr lang="tr-TR" altLang="tr-TR" dirty="0" err="1" smtClean="0"/>
              <a:t>Ig</a:t>
            </a:r>
            <a:r>
              <a:rPr lang="tr-TR" altLang="tr-TR" dirty="0" smtClean="0"/>
              <a:t> A seviyesine sahiptirler.</a:t>
            </a:r>
          </a:p>
        </p:txBody>
      </p:sp>
    </p:spTree>
    <p:extLst>
      <p:ext uri="{BB962C8B-B14F-4D97-AF65-F5344CB8AC3E}">
        <p14:creationId xmlns:p14="http://schemas.microsoft.com/office/powerpoint/2010/main" val="7489148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Osteoporoz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Uzun dönemde %50 hastada </a:t>
            </a:r>
          </a:p>
          <a:p>
            <a:r>
              <a:rPr lang="tr-TR" dirty="0" smtClean="0"/>
              <a:t>Hastalık aktivitesi ve süresi ile ilişkili</a:t>
            </a:r>
          </a:p>
          <a:p>
            <a:r>
              <a:rPr lang="tr-TR" dirty="0" smtClean="0"/>
              <a:t>Lateral DEXA istenmeli</a:t>
            </a:r>
          </a:p>
          <a:p>
            <a:endParaRPr lang="tr-TR" dirty="0" smtClean="0"/>
          </a:p>
          <a:p>
            <a:endParaRPr lang="tr-T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7784" y="722024"/>
            <a:ext cx="2909151" cy="6093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Yuvarlatılmış Dikdörtgen 3"/>
          <p:cNvSpPr/>
          <p:nvPr/>
        </p:nvSpPr>
        <p:spPr bwMode="auto">
          <a:xfrm>
            <a:off x="7524328" y="2492896"/>
            <a:ext cx="576064" cy="457200"/>
          </a:xfrm>
          <a:prstGeom prst="round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>
            <a:prstTxWarp prst="textNoShape">
              <a:avLst/>
            </a:prstTxWarp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z="230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5799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Fizik Muayene</a:t>
            </a:r>
            <a:endParaRPr lang="tr-TR" dirty="0"/>
          </a:p>
        </p:txBody>
      </p:sp>
      <p:sp>
        <p:nvSpPr>
          <p:cNvPr id="28675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Sakroiliyak eklem duyarlılığı</a:t>
            </a:r>
          </a:p>
          <a:p>
            <a:r>
              <a:rPr lang="tr-TR" altLang="tr-TR" dirty="0" smtClean="0"/>
              <a:t>Duyarlı entezeal noktalar</a:t>
            </a:r>
          </a:p>
          <a:p>
            <a:r>
              <a:rPr lang="tr-TR" altLang="tr-TR" dirty="0" smtClean="0"/>
              <a:t>Bel hareket kısıtlılığı</a:t>
            </a:r>
          </a:p>
          <a:p>
            <a:r>
              <a:rPr lang="tr-TR" altLang="tr-TR" dirty="0" smtClean="0"/>
              <a:t>Schober testi</a:t>
            </a:r>
          </a:p>
          <a:p>
            <a:r>
              <a:rPr lang="tr-TR" altLang="tr-TR" dirty="0" smtClean="0"/>
              <a:t>Göğüs ekspansiyonu</a:t>
            </a:r>
          </a:p>
          <a:p>
            <a:r>
              <a:rPr lang="tr-TR" altLang="tr-TR" dirty="0" smtClean="0"/>
              <a:t>Oksiput-duvar testi</a:t>
            </a:r>
          </a:p>
          <a:p>
            <a:r>
              <a:rPr lang="tr-TR" altLang="tr-TR" dirty="0" smtClean="0"/>
              <a:t>Kalça fleksiyon deformitesi</a:t>
            </a:r>
          </a:p>
          <a:p>
            <a:r>
              <a:rPr lang="tr-TR" altLang="tr-TR" dirty="0" smtClean="0"/>
              <a:t>Tipik postür</a:t>
            </a:r>
          </a:p>
          <a:p>
            <a:endParaRPr lang="tr-TR" altLang="tr-TR" dirty="0" smtClean="0"/>
          </a:p>
        </p:txBody>
      </p:sp>
    </p:spTree>
    <p:extLst>
      <p:ext uri="{BB962C8B-B14F-4D97-AF65-F5344CB8AC3E}">
        <p14:creationId xmlns:p14="http://schemas.microsoft.com/office/powerpoint/2010/main" val="25608182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\Desktop\Yeni klasör\image16.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65" y="1628800"/>
            <a:ext cx="280670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M\Desktop\Yeni klasör\image16.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628800"/>
            <a:ext cx="1917700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M\Desktop\Yeni klasör\image16.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24" y="1628800"/>
            <a:ext cx="1917700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3763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M\Desktop\Yeni klasör\image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408" y="1196752"/>
            <a:ext cx="6855871" cy="511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Sakroiliyak Ağrı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0803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M\Desktop\Yeni klasör\image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20688"/>
            <a:ext cx="8136904" cy="574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64101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M\Desktop\Yeni klasör\image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394077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8805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M\Desktop\Yeni klasör\image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12997"/>
            <a:ext cx="4536504" cy="625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38701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M\Desktop\Yeni klasör\image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4462"/>
            <a:ext cx="8064896" cy="6038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09432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M\Desktop\Yeni klasör\image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33278"/>
            <a:ext cx="4248472" cy="627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24434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ASAS Kriterleri</a:t>
            </a:r>
            <a:endParaRPr lang="tr-TR" dirty="0"/>
          </a:p>
        </p:txBody>
      </p:sp>
      <p:sp>
        <p:nvSpPr>
          <p:cNvPr id="6" name="Metin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9458" name="Picture 2" descr="C:\Users\M\Desktop\Yeni klasör\image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294" y="1196752"/>
            <a:ext cx="6408712" cy="529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345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Radyolojik Bulgular</a:t>
            </a:r>
            <a:endParaRPr lang="tr-TR" dirty="0"/>
          </a:p>
        </p:txBody>
      </p:sp>
      <p:sp>
        <p:nvSpPr>
          <p:cNvPr id="34819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/>
              <a:t>Kare vertebra (köşelerde küçük erozyonlar)</a:t>
            </a:r>
          </a:p>
          <a:p>
            <a:r>
              <a:rPr lang="tr-TR" altLang="tr-TR" dirty="0" err="1" smtClean="0"/>
              <a:t>Romanus</a:t>
            </a:r>
            <a:r>
              <a:rPr lang="tr-TR" altLang="tr-TR" dirty="0" smtClean="0"/>
              <a:t> bulgusu (</a:t>
            </a:r>
            <a:r>
              <a:rPr lang="tr-TR" altLang="tr-TR" dirty="0" err="1" smtClean="0"/>
              <a:t>shiny</a:t>
            </a:r>
            <a:r>
              <a:rPr lang="tr-TR" altLang="tr-TR" dirty="0" smtClean="0"/>
              <a:t> </a:t>
            </a:r>
            <a:r>
              <a:rPr lang="tr-TR" altLang="tr-TR" dirty="0" err="1" smtClean="0"/>
              <a:t>corner</a:t>
            </a:r>
            <a:r>
              <a:rPr lang="tr-TR" altLang="tr-TR" dirty="0" smtClean="0"/>
              <a:t>-reaktif skleroz) </a:t>
            </a:r>
          </a:p>
          <a:p>
            <a:r>
              <a:rPr lang="tr-TR" altLang="tr-TR" dirty="0" smtClean="0"/>
              <a:t>Sakroiliit </a:t>
            </a:r>
          </a:p>
          <a:p>
            <a:r>
              <a:rPr lang="tr-TR" altLang="tr-TR" dirty="0" smtClean="0"/>
              <a:t>Spondilodiskit (</a:t>
            </a:r>
            <a:r>
              <a:rPr lang="tr-TR" altLang="tr-TR" dirty="0" err="1" smtClean="0"/>
              <a:t>Anderson</a:t>
            </a:r>
            <a:r>
              <a:rPr lang="tr-TR" altLang="tr-TR" dirty="0" smtClean="0"/>
              <a:t> Lezyonları)</a:t>
            </a:r>
          </a:p>
          <a:p>
            <a:r>
              <a:rPr lang="tr-TR" altLang="tr-TR" dirty="0" err="1" smtClean="0"/>
              <a:t>Köprüleşen</a:t>
            </a:r>
            <a:r>
              <a:rPr lang="tr-TR" altLang="tr-TR" dirty="0" smtClean="0"/>
              <a:t> sindezmofitler </a:t>
            </a:r>
          </a:p>
          <a:p>
            <a:r>
              <a:rPr lang="tr-TR" altLang="tr-TR" dirty="0" smtClean="0"/>
              <a:t>Bambu kamışı (PA plan)</a:t>
            </a:r>
          </a:p>
          <a:p>
            <a:r>
              <a:rPr lang="tr-TR" altLang="tr-TR" dirty="0" smtClean="0"/>
              <a:t>Osteoporoz</a:t>
            </a:r>
          </a:p>
          <a:p>
            <a:endParaRPr lang="tr-TR" altLang="tr-TR" dirty="0" smtClean="0"/>
          </a:p>
        </p:txBody>
      </p:sp>
    </p:spTree>
    <p:extLst>
      <p:ext uri="{BB962C8B-B14F-4D97-AF65-F5344CB8AC3E}">
        <p14:creationId xmlns:p14="http://schemas.microsoft.com/office/powerpoint/2010/main" val="21008841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2" descr="C:\Users\sert\Desktop\e10f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60999"/>
            <a:ext cx="7921252" cy="659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30028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M\Desktop\Yeni klasör\image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48680"/>
            <a:ext cx="7488832" cy="539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1861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684213" y="1916113"/>
            <a:ext cx="489585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tr-TR" altLang="tr-TR" sz="2800">
              <a:solidFill>
                <a:srgbClr val="FFFFFF"/>
              </a:solidFill>
              <a:latin typeface="Perpetua" pitchFamily="18" charset="0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tr-TR" altLang="tr-TR" sz="2800">
              <a:solidFill>
                <a:srgbClr val="FFFFFF"/>
              </a:solidFill>
              <a:latin typeface="Perpetua" pitchFamily="18" charset="0"/>
            </a:endParaRPr>
          </a:p>
        </p:txBody>
      </p:sp>
      <p:pic>
        <p:nvPicPr>
          <p:cNvPr id="36871" name="Picture 4" descr="C:\Users\sert\Desktop\imag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348880"/>
            <a:ext cx="2458740" cy="340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 descr="C:\Users\M\Desktop\Yeni klasör\image2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93" y="4060987"/>
            <a:ext cx="3638551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C:\Users\M\Desktop\Yeni klasör\image2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0173"/>
            <a:ext cx="37338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27695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M\Desktop\Yeni klasör\image2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0648"/>
            <a:ext cx="7128792" cy="6193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4742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M\Desktop\Yeni klasör\image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5029"/>
            <a:ext cx="4680520" cy="625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8353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MRG</a:t>
            </a:r>
            <a:endParaRPr lang="tr-TR" dirty="0"/>
          </a:p>
        </p:txBody>
      </p:sp>
      <p:sp>
        <p:nvSpPr>
          <p:cNvPr id="6" name="Metin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6386" name="Picture 2" descr="C:\Users\M\Desktop\Yeni klasör\image3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1576928"/>
            <a:ext cx="6766560" cy="40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526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M\Desktop\Yeni klasör\image3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510" y="956465"/>
            <a:ext cx="5890980" cy="248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 descr="C:\Users\M\Desktop\Yeni klasör\image3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88" y="3601417"/>
            <a:ext cx="332422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15748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17" y="4518070"/>
            <a:ext cx="79248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Metin Yer Tutucusu 3"/>
          <p:cNvSpPr txBox="1">
            <a:spLocks/>
          </p:cNvSpPr>
          <p:nvPr/>
        </p:nvSpPr>
        <p:spPr>
          <a:xfrm>
            <a:off x="185781" y="6024880"/>
            <a:ext cx="8424936" cy="384721"/>
          </a:xfrm>
          <a:prstGeom prst="rect">
            <a:avLst/>
          </a:prstGeom>
        </p:spPr>
        <p:txBody>
          <a:bodyPr/>
          <a:lstStyle>
            <a:lvl1pPr marL="396875" indent="-396875" algn="l" defTabSz="914363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buFontTx/>
              <a:buBlip>
                <a:blip r:embed="rId3"/>
              </a:buBlip>
              <a:defRPr sz="2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914400" indent="-396875" algn="l" defTabSz="914363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buFontTx/>
              <a:buBlip>
                <a:blip r:embed="rId3"/>
              </a:buBlip>
              <a:defRPr sz="2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1258888" indent="-344488" algn="l" defTabSz="914363" rtl="0" eaLnBrk="1" latinLnBrk="0" hangingPunct="1">
              <a:lnSpc>
                <a:spcPct val="100000"/>
              </a:lnSpc>
              <a:spcBef>
                <a:spcPts val="800"/>
              </a:spcBef>
              <a:buFontTx/>
              <a:buBlip>
                <a:blip r:embed="rId3"/>
              </a:buBlip>
              <a:defRPr sz="23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604963" indent="-346075" algn="l" defTabSz="914363" rtl="0" eaLnBrk="1" latinLnBrk="0" hangingPunct="1">
              <a:lnSpc>
                <a:spcPct val="110000"/>
              </a:lnSpc>
              <a:spcBef>
                <a:spcPts val="700"/>
              </a:spcBef>
              <a:buFontTx/>
              <a:buBlip>
                <a:blip r:embed="rId3"/>
              </a:buBlip>
              <a:defRPr sz="21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941513" indent="-336550" algn="l" defTabSz="914363" rtl="0" eaLnBrk="1" latinLnBrk="0" hangingPunct="1">
              <a:lnSpc>
                <a:spcPct val="110000"/>
              </a:lnSpc>
              <a:spcBef>
                <a:spcPts val="700"/>
              </a:spcBef>
              <a:buFontTx/>
              <a:buBlip>
                <a:blip r:embed="rId3"/>
              </a:buBlip>
              <a:defRPr sz="2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 smtClean="0">
                <a:solidFill>
                  <a:srgbClr val="FF0000"/>
                </a:solidFill>
              </a:rPr>
              <a:t>   Sağlıklı Gönüllü&gt;%23    Koşucu &gt;%30-35   Buz Hokeyi &gt; %45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122" name="Picture 2" descr="C:\Users\M\Desktop\image4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44" y="5756"/>
            <a:ext cx="7597945" cy="439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9711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717032"/>
            <a:ext cx="889248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Metin Yer Tutucusu 3"/>
          <p:cNvSpPr txBox="1">
            <a:spLocks/>
          </p:cNvSpPr>
          <p:nvPr/>
        </p:nvSpPr>
        <p:spPr>
          <a:xfrm>
            <a:off x="341276" y="4936232"/>
            <a:ext cx="8424936" cy="1301080"/>
          </a:xfrm>
          <a:prstGeom prst="rect">
            <a:avLst/>
          </a:prstGeom>
        </p:spPr>
        <p:txBody>
          <a:bodyPr/>
          <a:lstStyle>
            <a:lvl1pPr marL="396875" indent="-396875" algn="l" defTabSz="914363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600"/>
              </a:spcAft>
              <a:buFontTx/>
              <a:buBlip>
                <a:blip r:embed="rId4"/>
              </a:buBlip>
              <a:defRPr sz="2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914400" indent="-396875" algn="l" defTabSz="914363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buFontTx/>
              <a:buBlip>
                <a:blip r:embed="rId4"/>
              </a:buBlip>
              <a:defRPr sz="24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1258888" indent="-344488" algn="l" defTabSz="914363" rtl="0" eaLnBrk="1" latinLnBrk="0" hangingPunct="1">
              <a:lnSpc>
                <a:spcPct val="100000"/>
              </a:lnSpc>
              <a:spcBef>
                <a:spcPts val="800"/>
              </a:spcBef>
              <a:buFontTx/>
              <a:buBlip>
                <a:blip r:embed="rId4"/>
              </a:buBlip>
              <a:defRPr sz="23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604963" indent="-346075" algn="l" defTabSz="914363" rtl="0" eaLnBrk="1" latinLnBrk="0" hangingPunct="1">
              <a:lnSpc>
                <a:spcPct val="110000"/>
              </a:lnSpc>
              <a:spcBef>
                <a:spcPts val="700"/>
              </a:spcBef>
              <a:buFontTx/>
              <a:buBlip>
                <a:blip r:embed="rId4"/>
              </a:buBlip>
              <a:defRPr sz="21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1941513" indent="-336550" algn="l" defTabSz="914363" rtl="0" eaLnBrk="1" latinLnBrk="0" hangingPunct="1">
              <a:lnSpc>
                <a:spcPct val="110000"/>
              </a:lnSpc>
              <a:spcBef>
                <a:spcPts val="700"/>
              </a:spcBef>
              <a:buFontTx/>
              <a:buBlip>
                <a:blip r:embed="rId4"/>
              </a:buBlip>
              <a:defRPr sz="2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tr-TR" dirty="0" smtClean="0">
                <a:solidFill>
                  <a:srgbClr val="FF0000"/>
                </a:solidFill>
              </a:rPr>
              <a:t>Post </a:t>
            </a:r>
            <a:r>
              <a:rPr lang="tr-TR" dirty="0" err="1" smtClean="0">
                <a:solidFill>
                  <a:srgbClr val="FF0000"/>
                </a:solidFill>
              </a:rPr>
              <a:t>partum</a:t>
            </a:r>
            <a:r>
              <a:rPr lang="tr-TR" dirty="0" smtClean="0">
                <a:solidFill>
                  <a:srgbClr val="FF0000"/>
                </a:solidFill>
              </a:rPr>
              <a:t> %64                6. ay    %17</a:t>
            </a:r>
          </a:p>
          <a:p>
            <a:pPr>
              <a:buFont typeface="Arial" pitchFamily="34" charset="0"/>
              <a:buChar char="•"/>
            </a:pPr>
            <a:r>
              <a:rPr lang="tr-TR" dirty="0" smtClean="0">
                <a:solidFill>
                  <a:srgbClr val="FF0000"/>
                </a:solidFill>
              </a:rPr>
              <a:t>12. ay             %12             16. ay    %5 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6146" name="Picture 2" descr="C:\Users\M\Desktop\image4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2" y="365125"/>
            <a:ext cx="973455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992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04664"/>
            <a:ext cx="4507992" cy="6171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Başlık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Yer Tutucusu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tr-TR" smtClean="0"/>
              <a:t>Dismorfik Sakroiliak Eklem   &gt;&gt;&gt;&gt;</a:t>
            </a:r>
            <a:endParaRPr lang="en-US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467373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9" y="4862564"/>
            <a:ext cx="8409757" cy="88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 descr="C:\Users\M\Desktop\image4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2" y="260648"/>
            <a:ext cx="8986204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1779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MRG</a:t>
            </a:r>
            <a:endParaRPr lang="en-US" dirty="0"/>
          </a:p>
        </p:txBody>
      </p:sp>
      <p:sp>
        <p:nvSpPr>
          <p:cNvPr id="3" name="Metin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Tipik subkondral alan</a:t>
            </a:r>
          </a:p>
          <a:p>
            <a:r>
              <a:rPr lang="tr-TR" dirty="0" err="1" smtClean="0"/>
              <a:t>Deep</a:t>
            </a:r>
            <a:r>
              <a:rPr lang="tr-TR" dirty="0" smtClean="0"/>
              <a:t> BME (&gt;1cm, kesintisiz, yoğun intensite)</a:t>
            </a:r>
          </a:p>
          <a:p>
            <a:r>
              <a:rPr lang="tr-TR" dirty="0" smtClean="0"/>
              <a:t>SPARCC BME</a:t>
            </a:r>
            <a:r>
              <a:rPr lang="en-US" dirty="0" smtClean="0"/>
              <a:t> ≥</a:t>
            </a:r>
            <a:r>
              <a:rPr lang="tr-TR" dirty="0" smtClean="0"/>
              <a:t>4 </a:t>
            </a:r>
          </a:p>
          <a:p>
            <a:r>
              <a:rPr lang="tr-TR" dirty="0" smtClean="0"/>
              <a:t>Erozyon </a:t>
            </a:r>
          </a:p>
          <a:p>
            <a:r>
              <a:rPr lang="tr-TR" dirty="0" err="1" smtClean="0"/>
              <a:t>Backfill</a:t>
            </a:r>
            <a:r>
              <a:rPr lang="tr-TR" dirty="0" smtClean="0"/>
              <a:t> lezyon</a:t>
            </a:r>
          </a:p>
          <a:p>
            <a:r>
              <a:rPr lang="tr-TR" dirty="0" smtClean="0"/>
              <a:t>Ankiloz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5263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M\Desktop\Yeni klasör\image3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548679"/>
            <a:ext cx="2160240" cy="516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5" name="Picture 3" descr="C:\Users\M\Desktop\Yeni klasör\image3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93539"/>
            <a:ext cx="4536504" cy="514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2459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şlık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SİE MR normal kişide Spinal MRI Görüntüleme</a:t>
            </a:r>
          </a:p>
          <a:p>
            <a:pPr lvl="1"/>
            <a:r>
              <a:rPr lang="tr-TR" dirty="0" smtClean="0"/>
              <a:t>%15 ek hasta yakalanır ve hak ettiği SpA tanısını alır</a:t>
            </a:r>
          </a:p>
          <a:p>
            <a:pPr lvl="1"/>
            <a:r>
              <a:rPr lang="tr-TR" dirty="0" smtClean="0"/>
              <a:t>%15 SpA olmayan hasta yanlış pozitiflik alır</a:t>
            </a:r>
          </a:p>
          <a:p>
            <a:pPr lvl="1"/>
            <a:endParaRPr lang="tr-TR" dirty="0" smtClean="0"/>
          </a:p>
          <a:p>
            <a:r>
              <a:rPr lang="tr-TR" dirty="0" smtClean="0"/>
              <a:t>Köşe lezyonları </a:t>
            </a:r>
          </a:p>
          <a:p>
            <a:r>
              <a:rPr lang="tr-TR" dirty="0" smtClean="0"/>
              <a:t>Spondilodiskit</a:t>
            </a:r>
          </a:p>
          <a:p>
            <a:r>
              <a:rPr lang="tr-TR" dirty="0" smtClean="0"/>
              <a:t>Faset tutuluşu</a:t>
            </a:r>
          </a:p>
          <a:p>
            <a:r>
              <a:rPr lang="tr-TR" dirty="0" smtClean="0"/>
              <a:t>Kostovertebral eklem tutuluşu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2918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Sonuç…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tr-TR" smtClean="0"/>
              <a:t>Tanıda </a:t>
            </a:r>
            <a:r>
              <a:rPr lang="en-US" smtClean="0"/>
              <a:t>hâlâ</a:t>
            </a:r>
            <a:r>
              <a:rPr lang="tr-TR" smtClean="0"/>
              <a:t> klinik çok önemli….</a:t>
            </a:r>
          </a:p>
          <a:p>
            <a:r>
              <a:rPr lang="tr-TR" smtClean="0"/>
              <a:t>Mr lezyonları dikkatli değerlendirilmeli….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9539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2068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ender.PD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labalı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Sunu1" id="{21D9A973-BCB5-4BE7-A816-8AC0614CD9F3}" vid="{CF8AFC7D-499D-4800-8E37-CCFA9EA2CBF4}"/>
    </a:ext>
  </a:extLst>
</a:theme>
</file>

<file path=ppt/theme/theme2.xml><?xml version="1.0" encoding="utf-8"?>
<a:theme xmlns:a="http://schemas.openxmlformats.org/drawingml/2006/main" name="ender.DL.2019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labalı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Sunu1" id="{3300C301-C087-4C82-B28B-91D19885AA8F}" vid="{6736B594-9EAA-44CA-80A9-6FBA578A9A30}"/>
    </a:ext>
  </a:extLst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</TotalTime>
  <Words>1217</Words>
  <Application>Microsoft Office PowerPoint</Application>
  <PresentationFormat>Ekran Gösterisi (4:3)</PresentationFormat>
  <Paragraphs>206</Paragraphs>
  <Slides>55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Slayt Başlıkları</vt:lpstr>
      </vt:variant>
      <vt:variant>
        <vt:i4>55</vt:i4>
      </vt:variant>
    </vt:vector>
  </HeadingPairs>
  <TitlesOfParts>
    <vt:vector size="57" baseType="lpstr">
      <vt:lpstr>ender.PDF</vt:lpstr>
      <vt:lpstr>ender.DL.2019</vt:lpstr>
      <vt:lpstr>AKSİYEL  SpA TANI</vt:lpstr>
      <vt:lpstr>Spondiloartropati Kavramı</vt:lpstr>
      <vt:lpstr>Spondiloartrit Kavramı</vt:lpstr>
      <vt:lpstr>Aksiyel SpA Spektrumu</vt:lpstr>
      <vt:lpstr>Non-Radyografik Aksiyel SpA</vt:lpstr>
      <vt:lpstr>Non-Radyografik Aksiyel SpA</vt:lpstr>
      <vt:lpstr>Ankilozan Spondilit</vt:lpstr>
      <vt:lpstr>Spondiloartrit Ailesi</vt:lpstr>
      <vt:lpstr>PowerPoint Sunusu</vt:lpstr>
      <vt:lpstr>PowerPoint Sunusu</vt:lpstr>
      <vt:lpstr>Klinik Bulgular</vt:lpstr>
      <vt:lpstr>İnflamatuvar Bel Ağrısı</vt:lpstr>
      <vt:lpstr>PowerPoint Sunusu</vt:lpstr>
      <vt:lpstr>Klinik</vt:lpstr>
      <vt:lpstr>Kök Eklem Tutuluşu</vt:lpstr>
      <vt:lpstr>Periferik Eklemler</vt:lpstr>
      <vt:lpstr>PowerPoint Sunusu</vt:lpstr>
      <vt:lpstr>Göğüs Ağrısı</vt:lpstr>
      <vt:lpstr>Tietze</vt:lpstr>
      <vt:lpstr>Entezit</vt:lpstr>
      <vt:lpstr>PowerPoint Sunusu</vt:lpstr>
      <vt:lpstr>Daktilit</vt:lpstr>
      <vt:lpstr>Ekstra Artiküler Tutulum</vt:lpstr>
      <vt:lpstr>Üveit</vt:lpstr>
      <vt:lpstr>KVS Tutulumu</vt:lpstr>
      <vt:lpstr>Pulmoner Tutulum</vt:lpstr>
      <vt:lpstr>Gastrointestinal Tutulum</vt:lpstr>
      <vt:lpstr> Renal - Genitoüriner Tutulum</vt:lpstr>
      <vt:lpstr>Osteoporoz</vt:lpstr>
      <vt:lpstr>Fizik Muayene</vt:lpstr>
      <vt:lpstr>PowerPoint Sunusu</vt:lpstr>
      <vt:lpstr>Sakroiliyak Ağrı</vt:lpstr>
      <vt:lpstr>PowerPoint Sunusu</vt:lpstr>
      <vt:lpstr>PowerPoint Sunusu</vt:lpstr>
      <vt:lpstr>PowerPoint Sunusu</vt:lpstr>
      <vt:lpstr>PowerPoint Sunusu</vt:lpstr>
      <vt:lpstr>PowerPoint Sunusu</vt:lpstr>
      <vt:lpstr>ASAS Kriterleri</vt:lpstr>
      <vt:lpstr>Radyolojik Bulgular</vt:lpstr>
      <vt:lpstr>PowerPoint Sunusu</vt:lpstr>
      <vt:lpstr>PowerPoint Sunusu</vt:lpstr>
      <vt:lpstr>PowerPoint Sunusu</vt:lpstr>
      <vt:lpstr>PowerPoint Sunusu</vt:lpstr>
      <vt:lpstr>PowerPoint Sunusu</vt:lpstr>
      <vt:lpstr>MRG</vt:lpstr>
      <vt:lpstr>PowerPoint Sunusu</vt:lpstr>
      <vt:lpstr>PowerPoint Sunusu</vt:lpstr>
      <vt:lpstr>PowerPoint Sunusu</vt:lpstr>
      <vt:lpstr>PowerPoint Sunusu</vt:lpstr>
      <vt:lpstr>PowerPoint Sunusu</vt:lpstr>
      <vt:lpstr>MRG</vt:lpstr>
      <vt:lpstr>PowerPoint Sunusu</vt:lpstr>
      <vt:lpstr>PowerPoint Sunusu</vt:lpstr>
      <vt:lpstr>Sonuç…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Aksiyel SpA Tanı</dc:title>
  <dc:creator>Dr. Sertaç Ketenci 2022</dc:creator>
  <cp:keywords>www.ftronline.com</cp:keywords>
  <cp:lastModifiedBy>Dr. Ender Salbaş</cp:lastModifiedBy>
  <cp:revision>69</cp:revision>
  <dcterms:created xsi:type="dcterms:W3CDTF">2022-02-08T12:46:09Z</dcterms:created>
  <dcterms:modified xsi:type="dcterms:W3CDTF">2022-05-10T19:06:25Z</dcterms:modified>
  <cp:category>2022 Nisan</cp:category>
</cp:coreProperties>
</file>