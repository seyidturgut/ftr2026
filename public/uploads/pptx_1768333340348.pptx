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sldIdLst>
    <p:sldId id="257" r:id="rId2"/>
    <p:sldId id="259" r:id="rId3"/>
    <p:sldId id="318" r:id="rId4"/>
    <p:sldId id="328" r:id="rId5"/>
    <p:sldId id="329" r:id="rId6"/>
    <p:sldId id="330" r:id="rId7"/>
    <p:sldId id="331" r:id="rId8"/>
    <p:sldId id="332" r:id="rId9"/>
    <p:sldId id="334" r:id="rId10"/>
    <p:sldId id="335" r:id="rId11"/>
    <p:sldId id="336" r:id="rId12"/>
    <p:sldId id="337" r:id="rId13"/>
    <p:sldId id="338" r:id="rId14"/>
    <p:sldId id="339"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16" r:id="rId28"/>
    <p:sldId id="317" r:id="rId29"/>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1734" y="-59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aşlık Slaydı">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827584" y="5157192"/>
            <a:ext cx="7681913" cy="461665"/>
          </a:xfrm>
        </p:spPr>
        <p:txBody>
          <a:bodyPr>
            <a:noAutofit/>
          </a:bodyPr>
          <a:lstStyle>
            <a:lvl1pPr marL="0" indent="0" algn="ctr">
              <a:lnSpc>
                <a:spcPct val="90000"/>
              </a:lnSpc>
              <a:spcBef>
                <a:spcPts val="300"/>
              </a:spcBef>
              <a:buNone/>
              <a:defRPr sz="2700" b="1" baseline="0">
                <a:solidFill>
                  <a:schemeClr val="bg1">
                    <a:lumMod val="65000"/>
                    <a:lumOff val="3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Yazınız</a:t>
            </a:r>
            <a:endParaRPr lang="en-US" dirty="0"/>
          </a:p>
        </p:txBody>
      </p:sp>
      <p:sp>
        <p:nvSpPr>
          <p:cNvPr id="4" name="Title 1"/>
          <p:cNvSpPr>
            <a:spLocks noGrp="1"/>
          </p:cNvSpPr>
          <p:nvPr>
            <p:ph type="ctrTitle" hasCustomPrompt="1"/>
          </p:nvPr>
        </p:nvSpPr>
        <p:spPr>
          <a:xfrm>
            <a:off x="323528" y="764704"/>
            <a:ext cx="8424936" cy="3600400"/>
          </a:xfrm>
          <a:prstGeom prst="rect">
            <a:avLst/>
          </a:prstGeom>
        </p:spPr>
        <p:txBody>
          <a:bodyPr anchor="ctr" anchorCtr="0">
            <a:noAutofit/>
          </a:bodyPr>
          <a:lstStyle>
            <a:lvl1pPr algn="ctr">
              <a:lnSpc>
                <a:spcPct val="110000"/>
              </a:lnSpc>
              <a:defRPr sz="6600" b="1" baseline="0">
                <a:latin typeface="+mj-lt"/>
              </a:defRPr>
            </a:lvl1pPr>
          </a:lstStyle>
          <a:p>
            <a:r>
              <a:rPr lang="tr-TR" dirty="0" smtClean="0"/>
              <a:t>SEMİNER BAŞLIĞINI YAZINIZ</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teratürKapa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539552" y="6021288"/>
            <a:ext cx="8136904" cy="461665"/>
          </a:xfrm>
        </p:spPr>
        <p:txBody>
          <a:bodyPr>
            <a:noAutofit/>
          </a:bodyPr>
          <a:lstStyle>
            <a:lvl1pPr marL="0" indent="0" algn="ctr">
              <a:lnSpc>
                <a:spcPct val="90000"/>
              </a:lnSpc>
              <a:spcBef>
                <a:spcPts val="0"/>
              </a:spcBef>
              <a:buNone/>
              <a:defRPr sz="2800" b="1" baseline="0">
                <a:solidFill>
                  <a:schemeClr val="bg1">
                    <a:lumMod val="75000"/>
                    <a:lumOff val="25000"/>
                  </a:schemeClr>
                </a:solidFill>
                <a:latin typeface="+mj-lt"/>
                <a:ea typeface="Segoe UI" pitchFamily="34" charset="0"/>
                <a:cs typeface="Segoe UI"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tr-TR" dirty="0" smtClean="0"/>
              <a:t>Yazar Adını Yazın</a:t>
            </a:r>
            <a:endParaRPr lang="en-US" dirty="0"/>
          </a:p>
        </p:txBody>
      </p:sp>
      <p:sp>
        <p:nvSpPr>
          <p:cNvPr id="4" name="Title 1"/>
          <p:cNvSpPr>
            <a:spLocks noGrp="1"/>
          </p:cNvSpPr>
          <p:nvPr>
            <p:ph type="ctrTitle" hasCustomPrompt="1"/>
          </p:nvPr>
        </p:nvSpPr>
        <p:spPr>
          <a:xfrm>
            <a:off x="539552" y="3789040"/>
            <a:ext cx="8136904" cy="1368152"/>
          </a:xfrm>
          <a:prstGeom prst="rect">
            <a:avLst/>
          </a:prstGeom>
        </p:spPr>
        <p:txBody>
          <a:bodyPr anchor="ctr" anchorCtr="0">
            <a:noAutofit/>
          </a:bodyPr>
          <a:lstStyle>
            <a:lvl1pPr algn="ctr">
              <a:lnSpc>
                <a:spcPct val="90000"/>
              </a:lnSpc>
              <a:defRPr sz="4500" b="1">
                <a:latin typeface="+mj-lt"/>
              </a:defRPr>
            </a:lvl1pPr>
          </a:lstStyle>
          <a:p>
            <a:r>
              <a:rPr lang="tr-TR" dirty="0" smtClean="0"/>
              <a:t>Literatürün Adını Yazın</a:t>
            </a:r>
            <a:endParaRPr lang="en-US" dirty="0"/>
          </a:p>
        </p:txBody>
      </p:sp>
      <p:sp>
        <p:nvSpPr>
          <p:cNvPr id="5" name="Title 1"/>
          <p:cNvSpPr txBox="1">
            <a:spLocks/>
          </p:cNvSpPr>
          <p:nvPr/>
        </p:nvSpPr>
        <p:spPr>
          <a:xfrm>
            <a:off x="985176" y="260647"/>
            <a:ext cx="7043208" cy="576065"/>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66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Futura XBlk BT" pitchFamily="34" charset="0"/>
                <a:ea typeface="+mn-ea"/>
                <a:cs typeface="Arial" charset="0"/>
              </a:defRPr>
            </a:lvl1pPr>
          </a:lstStyle>
          <a:p>
            <a:r>
              <a:rPr lang="tr-TR" sz="5400" b="0" dirty="0" smtClean="0"/>
              <a:t>Literatür</a:t>
            </a:r>
            <a:endParaRPr lang="tr-TR" sz="5400" b="0" dirty="0"/>
          </a:p>
        </p:txBody>
      </p:sp>
    </p:spTree>
    <p:extLst>
      <p:ext uri="{BB962C8B-B14F-4D97-AF65-F5344CB8AC3E}">
        <p14:creationId xmlns:p14="http://schemas.microsoft.com/office/powerpoint/2010/main" val="1678443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8" y="-99392"/>
            <a:ext cx="10099675" cy="7560840"/>
          </a:xfrm>
          <a:prstGeom prst="rect">
            <a:avLst/>
          </a:prstGeom>
        </p:spPr>
      </p:pic>
      <p:sp>
        <p:nvSpPr>
          <p:cNvPr id="2" name="Title 1"/>
          <p:cNvSpPr>
            <a:spLocks noGrp="1"/>
          </p:cNvSpPr>
          <p:nvPr>
            <p:ph type="ctrTitle"/>
          </p:nvPr>
        </p:nvSpPr>
        <p:spPr>
          <a:xfrm>
            <a:off x="323528" y="2420888"/>
            <a:ext cx="8175906" cy="1523494"/>
          </a:xfrm>
          <a:prstGeom prst="rect">
            <a:avLst/>
          </a:prstGeom>
        </p:spPr>
        <p:txBody>
          <a:bodyPr anchor="ctr" anchorCtr="0">
            <a:noAutofit/>
          </a:bodyPr>
          <a:lstStyle>
            <a:lvl1pPr algn="ctr">
              <a:lnSpc>
                <a:spcPct val="90000"/>
              </a:lnSpc>
              <a:defRPr sz="6600"/>
            </a:lvl1pPr>
          </a:lstStyle>
          <a:p>
            <a:r>
              <a:rPr lang="tr-TR" smtClean="0"/>
              <a:t>Asıl başlık stili için tıklatın</a:t>
            </a:r>
            <a:endParaRPr lang="en-US" dirty="0"/>
          </a:p>
        </p:txBody>
      </p:sp>
      <p:sp>
        <p:nvSpPr>
          <p:cNvPr id="7" name="Text Placeholder 6"/>
          <p:cNvSpPr>
            <a:spLocks noGrp="1"/>
          </p:cNvSpPr>
          <p:nvPr>
            <p:ph type="body" sz="quarter" idx="10" hasCustomPrompt="1"/>
          </p:nvPr>
        </p:nvSpPr>
        <p:spPr>
          <a:xfrm>
            <a:off x="15843" y="5373216"/>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pPr marL="0" lvl="0" indent="0" algn="r" defTabSz="1095376" rtl="0" eaLnBrk="1" fontAlgn="base" hangingPunct="1">
              <a:lnSpc>
                <a:spcPct val="90000"/>
              </a:lnSpc>
              <a:spcBef>
                <a:spcPct val="0"/>
              </a:spcBef>
              <a:spcAft>
                <a:spcPct val="0"/>
              </a:spcAft>
              <a:buClr>
                <a:schemeClr val="tx2"/>
              </a:buClr>
              <a:buSzPct val="80000"/>
              <a:buFont typeface="Arial" pitchFamily="34" charset="0"/>
              <a:buNone/>
            </a:pPr>
            <a:r>
              <a:rPr lang="tr-TR" dirty="0" err="1" smtClean="0"/>
              <a:t>ftronline</a:t>
            </a:r>
            <a:r>
              <a:rPr lang="en-US" dirty="0" smtClean="0"/>
              <a:t>…</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şlık ve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p:txBody>
          <a:bodyPr/>
          <a:lstStyle>
            <a:lvl1pPr>
              <a:defRPr b="1"/>
            </a:lvl1pPr>
          </a:lstStyle>
          <a:p>
            <a:r>
              <a:rPr lang="tr-TR" dirty="0" smtClean="0"/>
              <a:t>Asıl Başlık Stili İçin Tıklatın</a:t>
            </a:r>
            <a:endParaRPr lang="tr-TR" dirty="0"/>
          </a:p>
        </p:txBody>
      </p:sp>
      <p:sp>
        <p:nvSpPr>
          <p:cNvPr id="3" name="Text Placeholder 2"/>
          <p:cNvSpPr>
            <a:spLocks noGrp="1"/>
          </p:cNvSpPr>
          <p:nvPr>
            <p:ph idx="1"/>
          </p:nvPr>
        </p:nvSpPr>
        <p:spPr>
          <a:xfrm>
            <a:off x="395536" y="1196752"/>
            <a:ext cx="8424936" cy="2238049"/>
          </a:xfrm>
          <a:prstGeom prst="rect">
            <a:avLst/>
          </a:prstGeom>
        </p:spPr>
        <p:txBody>
          <a:bodyPr vert="horz" wrap="square" lIns="0" tIns="0" rIns="0" bIns="0" rtlCol="0">
            <a:spAutoFit/>
          </a:bodyPr>
          <a:lstStyle>
            <a:lvl1pPr>
              <a:spcBef>
                <a:spcPts val="1200"/>
              </a:spcBef>
              <a:defRPr/>
            </a:lvl1pPr>
            <a:lvl2pPr>
              <a:spcBef>
                <a:spcPts val="600"/>
              </a:spcBef>
              <a:defRPr/>
            </a:lvl2pPr>
            <a:lvl3pPr>
              <a:spcBef>
                <a:spcPts val="600"/>
              </a:spcBef>
              <a:defRPr sz="2200"/>
            </a:lvl3pPr>
            <a:lvl4pPr>
              <a:defRPr sz="1900"/>
            </a:lvl4pPr>
            <a:lvl5pPr>
              <a:defRPr sz="1800"/>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2351283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lasikdüzen">
    <p:spTree>
      <p:nvGrpSpPr>
        <p:cNvPr id="1" name=""/>
        <p:cNvGrpSpPr/>
        <p:nvPr/>
      </p:nvGrpSpPr>
      <p:grpSpPr>
        <a:xfrm>
          <a:off x="0" y="0"/>
          <a:ext cx="0" cy="0"/>
          <a:chOff x="0" y="0"/>
          <a:chExt cx="0" cy="0"/>
        </a:xfrm>
      </p:grpSpPr>
      <p:sp>
        <p:nvSpPr>
          <p:cNvPr id="4" name="Text Placeholder 5"/>
          <p:cNvSpPr>
            <a:spLocks noGrp="1"/>
          </p:cNvSpPr>
          <p:nvPr>
            <p:ph type="body" sz="quarter" idx="10"/>
          </p:nvPr>
        </p:nvSpPr>
        <p:spPr>
          <a:xfrm>
            <a:off x="381000" y="2114483"/>
            <a:ext cx="8382000" cy="2158027"/>
          </a:xfrm>
        </p:spPr>
        <p:txBody>
          <a:bodyPr/>
          <a:lstStyle>
            <a:lvl1pPr marL="360000" indent="-360000">
              <a:lnSpc>
                <a:spcPct val="100000"/>
              </a:lnSpc>
              <a:spcBef>
                <a:spcPts val="1200"/>
              </a:spcBef>
              <a:spcAft>
                <a:spcPts val="400"/>
              </a:spcAft>
              <a:defRPr sz="2600">
                <a:solidFill>
                  <a:schemeClr val="bg1"/>
                </a:solidFill>
                <a:latin typeface="+mj-lt"/>
              </a:defRPr>
            </a:lvl1pPr>
            <a:lvl2pPr marL="936000">
              <a:lnSpc>
                <a:spcPct val="100000"/>
              </a:lnSpc>
              <a:spcBef>
                <a:spcPts val="6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1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nkl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76672"/>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1411552"/>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0300287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enkli 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79322955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nkli Yari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41474"/>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6" name="Text Placeholder 5"/>
          <p:cNvSpPr>
            <a:spLocks noGrp="1"/>
          </p:cNvSpPr>
          <p:nvPr>
            <p:ph type="body" sz="quarter" idx="10"/>
          </p:nvPr>
        </p:nvSpPr>
        <p:spPr>
          <a:xfrm>
            <a:off x="381000" y="2376354"/>
            <a:ext cx="8382000" cy="2159566"/>
          </a:xfrm>
        </p:spPr>
        <p:txBody>
          <a:bodyPr/>
          <a:lstStyle>
            <a:lvl1pPr marL="360000" indent="-360000">
              <a:lnSpc>
                <a:spcPct val="100000"/>
              </a:lnSpc>
              <a:spcBef>
                <a:spcPts val="1400"/>
              </a:spcBef>
              <a:spcAft>
                <a:spcPts val="600"/>
              </a:spcAft>
              <a:defRPr sz="2700" b="1" i="1">
                <a:solidFill>
                  <a:schemeClr val="accent5">
                    <a:lumMod val="75000"/>
                  </a:schemeClr>
                </a:solidFill>
                <a:latin typeface="+mj-lt"/>
              </a:defRPr>
            </a:lvl1pPr>
            <a:lvl2pPr marL="936000">
              <a:lnSpc>
                <a:spcPct val="100000"/>
              </a:lnSpc>
              <a:spcBef>
                <a:spcPts val="800"/>
              </a:spcBef>
              <a:spcAft>
                <a:spcPts val="200"/>
              </a:spcAft>
              <a:defRPr sz="2400" b="0">
                <a:solidFill>
                  <a:schemeClr val="bg1"/>
                </a:solidFill>
                <a:latin typeface="+mj-lt"/>
              </a:defRPr>
            </a:lvl2pPr>
            <a:lvl3pPr marL="1332000">
              <a:lnSpc>
                <a:spcPct val="90000"/>
              </a:lnSpc>
              <a:spcBef>
                <a:spcPts val="700"/>
              </a:spcBef>
              <a:defRPr sz="2300" b="0">
                <a:solidFill>
                  <a:schemeClr val="bg1"/>
                </a:solidFill>
                <a:latin typeface="+mj-lt"/>
              </a:defRPr>
            </a:lvl3pPr>
            <a:lvl4pPr>
              <a:lnSpc>
                <a:spcPct val="90000"/>
              </a:lnSpc>
              <a:spcBef>
                <a:spcPts val="700"/>
              </a:spcBef>
              <a:defRPr sz="2200" b="0">
                <a:solidFill>
                  <a:schemeClr val="bg1"/>
                </a:solidFill>
                <a:latin typeface="+mj-lt"/>
              </a:defRPr>
            </a:lvl4pPr>
            <a:lvl5pPr>
              <a:lnSpc>
                <a:spcPct val="90000"/>
              </a:lnSpc>
              <a:spcBef>
                <a:spcPts val="700"/>
              </a:spcBef>
              <a:defRPr sz="20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41392775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YarıDol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488477"/>
            <a:ext cx="8382000" cy="553998"/>
          </a:xfrm>
          <a:prstGeom prst="rect">
            <a:avLst/>
          </a:prstGeom>
        </p:spPr>
        <p:txBody>
          <a:bodyPr>
            <a:noAutofit/>
          </a:bodyPr>
          <a:lstStyle>
            <a:lvl1pPr>
              <a:defRPr sz="3500" b="1">
                <a:latin typeface="+mj-lt"/>
                <a:ea typeface="Segoe UI" pitchFamily="34" charset="0"/>
                <a:cs typeface="Segoe UI" pitchFamily="34" charset="0"/>
              </a:defRPr>
            </a:lvl1pPr>
          </a:lstStyle>
          <a:p>
            <a:r>
              <a:rPr lang="tr-TR" dirty="0" smtClean="0"/>
              <a:t>Asıl Başlık Stili İçin Tıklatın</a:t>
            </a:r>
            <a:endParaRPr lang="en-US" dirty="0"/>
          </a:p>
        </p:txBody>
      </p:sp>
      <p:sp>
        <p:nvSpPr>
          <p:cNvPr id="5" name="Text Placeholder 5"/>
          <p:cNvSpPr>
            <a:spLocks noGrp="1"/>
          </p:cNvSpPr>
          <p:nvPr>
            <p:ph type="body" sz="quarter" idx="10"/>
          </p:nvPr>
        </p:nvSpPr>
        <p:spPr>
          <a:xfrm>
            <a:off x="395536" y="2258499"/>
            <a:ext cx="8382000" cy="2044149"/>
          </a:xfrm>
        </p:spPr>
        <p:txBody>
          <a:bodyPr/>
          <a:lstStyle>
            <a:lvl1pPr marL="360000" indent="-360000">
              <a:lnSpc>
                <a:spcPct val="100000"/>
              </a:lnSpc>
              <a:spcBef>
                <a:spcPts val="1400"/>
              </a:spcBef>
              <a:spcAft>
                <a:spcPts val="600"/>
              </a:spcAft>
              <a:defRPr sz="2500">
                <a:solidFill>
                  <a:schemeClr val="bg1"/>
                </a:solidFill>
                <a:latin typeface="+mj-lt"/>
              </a:defRPr>
            </a:lvl1pPr>
            <a:lvl2pPr marL="936000">
              <a:lnSpc>
                <a:spcPct val="100000"/>
              </a:lnSpc>
              <a:spcBef>
                <a:spcPts val="800"/>
              </a:spcBef>
              <a:spcAft>
                <a:spcPts val="200"/>
              </a:spcAft>
              <a:defRPr sz="2300" b="0">
                <a:solidFill>
                  <a:schemeClr val="bg1"/>
                </a:solidFill>
                <a:latin typeface="+mj-lt"/>
              </a:defRPr>
            </a:lvl2pPr>
            <a:lvl3pPr marL="1332000">
              <a:lnSpc>
                <a:spcPct val="90000"/>
              </a:lnSpc>
              <a:spcBef>
                <a:spcPts val="700"/>
              </a:spcBef>
              <a:defRPr sz="2200" b="0">
                <a:solidFill>
                  <a:schemeClr val="bg1"/>
                </a:solidFill>
                <a:latin typeface="+mj-lt"/>
              </a:defRPr>
            </a:lvl3pPr>
            <a:lvl4pPr>
              <a:lnSpc>
                <a:spcPct val="90000"/>
              </a:lnSpc>
              <a:spcBef>
                <a:spcPts val="700"/>
              </a:spcBef>
              <a:defRPr sz="2000" b="0">
                <a:solidFill>
                  <a:schemeClr val="bg1"/>
                </a:solidFill>
                <a:latin typeface="+mj-lt"/>
              </a:defRPr>
            </a:lvl4pPr>
            <a:lvl5pPr>
              <a:lnSpc>
                <a:spcPct val="90000"/>
              </a:lnSpc>
              <a:spcBef>
                <a:spcPts val="700"/>
              </a:spcBef>
              <a:defRPr sz="1900" b="0">
                <a:solidFill>
                  <a:schemeClr val="bg1"/>
                </a:solidFill>
                <a:latin typeface="+mj-lt"/>
              </a:defRPr>
            </a:lvl5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340250396"/>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3" name="Content Placeholder 2"/>
          <p:cNvSpPr>
            <a:spLocks noGrp="1"/>
          </p:cNvSpPr>
          <p:nvPr>
            <p:ph sz="half" idx="1"/>
          </p:nvPr>
        </p:nvSpPr>
        <p:spPr>
          <a:xfrm>
            <a:off x="381000" y="1411553"/>
            <a:ext cx="4114800" cy="2262158"/>
          </a:xfrm>
        </p:spPr>
        <p:txBody>
          <a:bodyPr/>
          <a:lstStyle>
            <a:lvl1pPr marL="339976" indent="-339976">
              <a:lnSpc>
                <a:spcPct val="100000"/>
              </a:lnSpc>
              <a:spcBef>
                <a:spcPts val="1500"/>
              </a:spcBef>
              <a:defRPr sz="2200">
                <a:latin typeface="+mj-lt"/>
              </a:defRPr>
            </a:lvl1pPr>
            <a:lvl2pPr marL="673338" indent="-325424">
              <a:lnSpc>
                <a:spcPct val="90000"/>
              </a:lnSpc>
              <a:spcBef>
                <a:spcPts val="1200"/>
              </a:spcBef>
              <a:defRPr sz="2000">
                <a:latin typeface="+mj-lt"/>
              </a:defRPr>
            </a:lvl2pPr>
            <a:lvl3pPr marL="953785" indent="-288384">
              <a:lnSpc>
                <a:spcPct val="90000"/>
              </a:lnSpc>
              <a:spcBef>
                <a:spcPts val="1200"/>
              </a:spcBef>
              <a:defRPr sz="1800">
                <a:latin typeface="+mj-lt"/>
              </a:defRPr>
            </a:lvl3pPr>
            <a:lvl4pPr marL="1227618" indent="-273833">
              <a:lnSpc>
                <a:spcPct val="90000"/>
              </a:lnSpc>
              <a:spcBef>
                <a:spcPts val="1200"/>
              </a:spcBef>
              <a:defRPr sz="1600" b="0">
                <a:latin typeface="+mj-lt"/>
              </a:defRPr>
            </a:lvl4pPr>
            <a:lvl5pPr marL="1516002" indent="-280447">
              <a:lnSpc>
                <a:spcPct val="90000"/>
              </a:lnSpc>
              <a:spcBef>
                <a:spcPts val="1200"/>
              </a:spcBef>
              <a:defRPr sz="1600" b="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1411553"/>
            <a:ext cx="4114800" cy="2262158"/>
          </a:xfrm>
        </p:spPr>
        <p:txBody>
          <a:bodyPr/>
          <a:lstStyle>
            <a:lvl1pPr marL="347914" indent="-347914">
              <a:lnSpc>
                <a:spcPct val="100000"/>
              </a:lnSpc>
              <a:spcBef>
                <a:spcPts val="1500"/>
              </a:spcBef>
              <a:defRPr sz="2200">
                <a:latin typeface="+mj-lt"/>
              </a:defRPr>
            </a:lvl1pPr>
            <a:lvl2pPr marL="673338" indent="-339976">
              <a:lnSpc>
                <a:spcPct val="90000"/>
              </a:lnSpc>
              <a:spcBef>
                <a:spcPts val="1200"/>
              </a:spcBef>
              <a:defRPr sz="2000">
                <a:latin typeface="+mj-lt"/>
              </a:defRPr>
            </a:lvl2pPr>
            <a:lvl3pPr marL="961722" indent="-302936">
              <a:lnSpc>
                <a:spcPct val="90000"/>
              </a:lnSpc>
              <a:spcBef>
                <a:spcPts val="1200"/>
              </a:spcBef>
              <a:defRPr sz="1800">
                <a:latin typeface="+mj-lt"/>
              </a:defRPr>
            </a:lvl3pPr>
            <a:lvl4pPr marL="1227618" indent="-265896">
              <a:lnSpc>
                <a:spcPct val="90000"/>
              </a:lnSpc>
              <a:spcBef>
                <a:spcPts val="1200"/>
              </a:spcBef>
              <a:defRPr sz="1600">
                <a:latin typeface="+mj-lt"/>
              </a:defRPr>
            </a:lvl4pPr>
            <a:lvl5pPr marL="1516002" indent="-273833">
              <a:lnSpc>
                <a:spcPct val="90000"/>
              </a:lnSpc>
              <a:spcBef>
                <a:spcPts val="1200"/>
              </a:spcBef>
              <a:defRPr sz="16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YazıSol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282714"/>
            <a:ext cx="8382000" cy="553998"/>
          </a:xfrm>
          <a:prstGeom prst="rect">
            <a:avLst/>
          </a:prstGeom>
        </p:spPr>
        <p:txBody>
          <a:bodyPr>
            <a:noAutofit/>
          </a:bodyPr>
          <a:lstStyle>
            <a:lvl1pPr>
              <a:defRPr sz="3500">
                <a:latin typeface="+mj-lt"/>
              </a:defRPr>
            </a:lvl1pPr>
          </a:lstStyle>
          <a:p>
            <a:r>
              <a:rPr lang="tr-TR" dirty="0" smtClean="0"/>
              <a:t>Asıl Başlık Stili İçin Tıklatın</a:t>
            </a:r>
            <a:endParaRPr lang="en-US" dirty="0"/>
          </a:p>
        </p:txBody>
      </p:sp>
      <p:sp>
        <p:nvSpPr>
          <p:cNvPr id="4" name="Content Placeholder 3"/>
          <p:cNvSpPr>
            <a:spLocks noGrp="1"/>
          </p:cNvSpPr>
          <p:nvPr>
            <p:ph sz="half" idx="2"/>
          </p:nvPr>
        </p:nvSpPr>
        <p:spPr>
          <a:xfrm>
            <a:off x="323528" y="1340768"/>
            <a:ext cx="4191000" cy="2416046"/>
          </a:xfrm>
        </p:spPr>
        <p:txBody>
          <a:bodyPr/>
          <a:lstStyle>
            <a:lvl1pPr marL="347914" indent="-347914">
              <a:lnSpc>
                <a:spcPct val="90000"/>
              </a:lnSpc>
              <a:spcBef>
                <a:spcPts val="1200"/>
              </a:spcBef>
              <a:defRPr sz="2400">
                <a:latin typeface="+mj-lt"/>
              </a:defRPr>
            </a:lvl1pPr>
            <a:lvl2pPr marL="673338" indent="-339976">
              <a:lnSpc>
                <a:spcPct val="90000"/>
              </a:lnSpc>
              <a:spcBef>
                <a:spcPts val="1200"/>
              </a:spcBef>
              <a:defRPr sz="2300">
                <a:latin typeface="+mj-lt"/>
              </a:defRPr>
            </a:lvl2pPr>
            <a:lvl3pPr marL="961722" indent="-302936">
              <a:lnSpc>
                <a:spcPct val="90000"/>
              </a:lnSpc>
              <a:spcBef>
                <a:spcPts val="1200"/>
              </a:spcBef>
              <a:defRPr sz="2200">
                <a:latin typeface="+mj-lt"/>
              </a:defRPr>
            </a:lvl3pPr>
            <a:lvl4pPr marL="1227618" indent="-265896">
              <a:lnSpc>
                <a:spcPct val="90000"/>
              </a:lnSpc>
              <a:spcBef>
                <a:spcPts val="1200"/>
              </a:spcBef>
              <a:defRPr sz="2000">
                <a:latin typeface="+mj-lt"/>
              </a:defRPr>
            </a:lvl4pPr>
            <a:lvl5pPr marL="1516002" indent="-273833">
              <a:lnSpc>
                <a:spcPct val="90000"/>
              </a:lnSpc>
              <a:spcBef>
                <a:spcPts val="1200"/>
              </a:spcBef>
              <a:defRPr sz="1800">
                <a:latin typeface="+mj-lt"/>
              </a:defRPr>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extLst>
      <p:ext uri="{BB962C8B-B14F-4D97-AF65-F5344CB8AC3E}">
        <p14:creationId xmlns:p14="http://schemas.microsoft.com/office/powerpoint/2010/main" val="255811424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188640"/>
            <a:ext cx="8382000" cy="553998"/>
          </a:xfrm>
          <a:prstGeom prst="rect">
            <a:avLst/>
          </a:prstGeom>
        </p:spPr>
        <p:txBody>
          <a:bodyPr/>
          <a:lstStyle>
            <a:lvl1pPr>
              <a:defRPr b="1">
                <a:latin typeface="+mj-lt"/>
              </a:defRPr>
            </a:lvl1pPr>
          </a:lstStyle>
          <a:p>
            <a:r>
              <a:rPr lang="tr-TR" dirty="0" smtClean="0"/>
              <a:t>Asıl Başlık Stili İçin Tıklatın</a:t>
            </a:r>
            <a:endParaRPr lang="en-US" dirty="0"/>
          </a:p>
        </p:txBody>
      </p:sp>
      <p:sp>
        <p:nvSpPr>
          <p:cNvPr id="3" name="Text Placeholder 2"/>
          <p:cNvSpPr>
            <a:spLocks noGrp="1"/>
          </p:cNvSpPr>
          <p:nvPr>
            <p:ph type="body" idx="1"/>
          </p:nvPr>
        </p:nvSpPr>
        <p:spPr>
          <a:xfrm>
            <a:off x="381000" y="1268760"/>
            <a:ext cx="4114800" cy="581698"/>
          </a:xfrm>
        </p:spPr>
        <p:txBody>
          <a:bodyPr anchor="b"/>
          <a:lstStyle>
            <a:lvl1pPr marL="0" indent="0">
              <a:lnSpc>
                <a:spcPct val="90000"/>
              </a:lnSpc>
              <a:spcBef>
                <a:spcPts val="0"/>
              </a:spcBef>
              <a:spcAft>
                <a:spcPts val="12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380999" y="2174875"/>
            <a:ext cx="4114800" cy="2579168"/>
          </a:xfrm>
        </p:spPr>
        <p:txBody>
          <a:bodyPr/>
          <a:lstStyle>
            <a:lvl1pPr marL="281770" indent="-281770">
              <a:spcBef>
                <a:spcPts val="1600"/>
              </a:spcBef>
              <a:defRPr sz="2100">
                <a:latin typeface="+mj-lt"/>
              </a:defRPr>
            </a:lvl1pPr>
            <a:lvl2pPr marL="562218" indent="-265896">
              <a:spcBef>
                <a:spcPts val="1200"/>
              </a:spcBef>
              <a:defRPr sz="2000">
                <a:latin typeface="+mj-lt"/>
              </a:defRPr>
            </a:lvl2pPr>
            <a:lvl3pPr marL="813562" indent="-243407">
              <a:spcBef>
                <a:spcPts val="1200"/>
              </a:spcBef>
              <a:defRPr sz="1800">
                <a:latin typeface="+mj-lt"/>
              </a:defRPr>
            </a:lvl3pPr>
            <a:lvl4pPr marL="1050354" indent="-228856">
              <a:spcBef>
                <a:spcPts val="1200"/>
              </a:spcBef>
              <a:defRPr sz="1800">
                <a:latin typeface="+mj-lt"/>
              </a:defRPr>
            </a:lvl4pPr>
            <a:lvl5pPr marL="1279210" indent="-206367">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981" y="1268760"/>
            <a:ext cx="4117019" cy="581698"/>
          </a:xfrm>
        </p:spPr>
        <p:txBody>
          <a:bodyPr anchor="b"/>
          <a:lstStyle>
            <a:lvl1pPr marL="0" indent="0">
              <a:lnSpc>
                <a:spcPct val="90000"/>
              </a:lnSpc>
              <a:spcBef>
                <a:spcPts val="0"/>
              </a:spcBef>
              <a:spcAft>
                <a:spcPts val="600"/>
              </a:spcAft>
              <a:buNone/>
              <a:defRPr sz="2100" b="0">
                <a:latin typeface="+mj-lt"/>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026" y="2174875"/>
            <a:ext cx="4117974" cy="2579168"/>
          </a:xfrm>
        </p:spPr>
        <p:txBody>
          <a:bodyPr/>
          <a:lstStyle>
            <a:lvl1pPr marL="296321" indent="-296321">
              <a:spcBef>
                <a:spcPts val="1600"/>
              </a:spcBef>
              <a:defRPr sz="2100">
                <a:latin typeface="+mj-lt"/>
              </a:defRPr>
            </a:lvl1pPr>
            <a:lvl2pPr marL="570155" indent="-273833">
              <a:spcBef>
                <a:spcPts val="1200"/>
              </a:spcBef>
              <a:defRPr sz="2000">
                <a:latin typeface="+mj-lt"/>
              </a:defRPr>
            </a:lvl2pPr>
            <a:lvl3pPr marL="821499" indent="-244730">
              <a:spcBef>
                <a:spcPts val="1200"/>
              </a:spcBef>
              <a:defRPr sz="1800">
                <a:latin typeface="+mj-lt"/>
              </a:defRPr>
            </a:lvl3pPr>
            <a:lvl4pPr marL="1050354" indent="-236793">
              <a:spcBef>
                <a:spcPts val="1200"/>
              </a:spcBef>
              <a:defRPr sz="1800">
                <a:latin typeface="+mj-lt"/>
              </a:defRPr>
            </a:lvl4pPr>
            <a:lvl5pPr marL="1279210" indent="-220919">
              <a:spcBef>
                <a:spcPts val="1200"/>
              </a:spcBef>
              <a:defRPr sz="1800">
                <a:latin typeface="+mj-lt"/>
              </a:defRPr>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sim">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onSlayt">
    <p:spTree>
      <p:nvGrpSpPr>
        <p:cNvPr id="1" name=""/>
        <p:cNvGrpSpPr/>
        <p:nvPr/>
      </p:nvGrpSpPr>
      <p:grpSpPr>
        <a:xfrm>
          <a:off x="0" y="0"/>
          <a:ext cx="0" cy="0"/>
          <a:chOff x="0" y="0"/>
          <a:chExt cx="0" cy="0"/>
        </a:xfrm>
      </p:grpSpPr>
      <p:pic>
        <p:nvPicPr>
          <p:cNvPr id="3" name="Resi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260648"/>
            <a:ext cx="9144000" cy="6552728"/>
          </a:xfrm>
          <a:prstGeom prst="rect">
            <a:avLst/>
          </a:prstGeom>
        </p:spPr>
      </p:pic>
      <p:sp>
        <p:nvSpPr>
          <p:cNvPr id="4" name="Dikdörtgen 3"/>
          <p:cNvSpPr/>
          <p:nvPr/>
        </p:nvSpPr>
        <p:spPr>
          <a:xfrm>
            <a:off x="2843808" y="5085184"/>
            <a:ext cx="3384376" cy="1569660"/>
          </a:xfrm>
          <a:prstGeom prst="rect">
            <a:avLst/>
          </a:prstGeom>
          <a:noFill/>
          <a:effectLst>
            <a:outerShdw blurRad="330200" dist="38100" dir="1920000" algn="tl" rotWithShape="0">
              <a:prstClr val="black">
                <a:alpha val="40000"/>
              </a:prstClr>
            </a:outerShdw>
          </a:effectLst>
        </p:spPr>
        <p:txBody>
          <a:bodyPr wrap="square" lIns="91440" tIns="45720" rIns="91440" bIns="45720">
            <a:spAutoFit/>
          </a:bodyPr>
          <a:lstStyle/>
          <a:p>
            <a:pPr algn="ctr"/>
            <a:r>
              <a:rPr lang="tr-TR" sz="96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rPr>
              <a:t>2020</a:t>
            </a:r>
            <a:endParaRPr lang="tr-TR" sz="9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Exo 2 Extra Bold" pitchFamily="2" charset="-94"/>
            </a:endParaRPr>
          </a:p>
        </p:txBody>
      </p:sp>
    </p:spTree>
    <p:extLst>
      <p:ext uri="{BB962C8B-B14F-4D97-AF65-F5344CB8AC3E}">
        <p14:creationId xmlns:p14="http://schemas.microsoft.com/office/powerpoint/2010/main" val="88460040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şekkürSlaytı">
    <p:spTree>
      <p:nvGrpSpPr>
        <p:cNvPr id="1" name=""/>
        <p:cNvGrpSpPr/>
        <p:nvPr/>
      </p:nvGrpSpPr>
      <p:grpSpPr>
        <a:xfrm>
          <a:off x="0" y="0"/>
          <a:ext cx="0" cy="0"/>
          <a:chOff x="0" y="0"/>
          <a:chExt cx="0" cy="0"/>
        </a:xfrm>
      </p:grpSpPr>
      <p:pic>
        <p:nvPicPr>
          <p:cNvPr id="5" name="Picture 4" descr="1-01055_Template_Bar.png"/>
          <p:cNvPicPr>
            <a:picLocks noChangeAspect="1"/>
          </p:cNvPicPr>
          <p:nvPr/>
        </p:nvPicPr>
        <p:blipFill>
          <a:blip r:embed="rId2"/>
          <a:stretch>
            <a:fillRect/>
          </a:stretch>
        </p:blipFill>
        <p:spPr>
          <a:xfrm flipH="1">
            <a:off x="-955675" y="1905000"/>
            <a:ext cx="10099675" cy="2281652"/>
          </a:xfrm>
          <a:prstGeom prst="rect">
            <a:avLst/>
          </a:prstGeom>
        </p:spPr>
      </p:pic>
      <p:sp>
        <p:nvSpPr>
          <p:cNvPr id="2" name="Title 1"/>
          <p:cNvSpPr>
            <a:spLocks noGrp="1"/>
          </p:cNvSpPr>
          <p:nvPr>
            <p:ph type="ctrTitle" hasCustomPrompt="1"/>
          </p:nvPr>
        </p:nvSpPr>
        <p:spPr>
          <a:xfrm>
            <a:off x="755576" y="4365104"/>
            <a:ext cx="7992888" cy="1523494"/>
          </a:xfrm>
          <a:prstGeom prst="rect">
            <a:avLst/>
          </a:prstGeom>
        </p:spPr>
        <p:txBody>
          <a:bodyPr anchor="ctr" anchorCtr="0">
            <a:noAutofit/>
          </a:bodyPr>
          <a:lstStyle>
            <a:lvl1pPr algn="ctr">
              <a:lnSpc>
                <a:spcPct val="90000"/>
              </a:lnSpc>
              <a:defRPr sz="6000" b="1" i="1">
                <a:solidFill>
                  <a:schemeClr val="bg1">
                    <a:lumMod val="75000"/>
                    <a:lumOff val="2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r>
              <a:rPr lang="tr-TR" dirty="0" smtClean="0"/>
              <a:t>Sabrınız için teşekkürler</a:t>
            </a:r>
            <a:endParaRPr lang="en-US" dirty="0"/>
          </a:p>
        </p:txBody>
      </p:sp>
      <p:sp>
        <p:nvSpPr>
          <p:cNvPr id="7" name="Text Placeholder 6"/>
          <p:cNvSpPr>
            <a:spLocks noGrp="1"/>
          </p:cNvSpPr>
          <p:nvPr>
            <p:ph type="body" sz="quarter" idx="10" hasCustomPrompt="1"/>
          </p:nvPr>
        </p:nvSpPr>
        <p:spPr>
          <a:xfrm>
            <a:off x="755576" y="2072174"/>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ctr">
              <a:lnSpc>
                <a:spcPct val="100000"/>
              </a:lnSpc>
              <a:spcBef>
                <a:spcPts val="0"/>
              </a:spcBef>
              <a:buFont typeface="Arial" pitchFamily="34" charset="0"/>
              <a:buNone/>
              <a:defRPr lang="en-US" sz="12000" b="1" kern="1200" spc="-770" dirty="0" smtClean="0">
                <a:ln w="11430">
                  <a:solidFill>
                    <a:schemeClr val="bg2">
                      <a:lumMod val="50000"/>
                      <a:lumOff val="50000"/>
                    </a:schemeClr>
                  </a:solidFill>
                </a:ln>
                <a:gradFill>
                  <a:gsLst>
                    <a:gs pos="0">
                      <a:schemeClr val="accent2">
                        <a:lumMod val="20000"/>
                        <a:lumOff val="80000"/>
                      </a:schemeClr>
                    </a:gs>
                    <a:gs pos="37000">
                      <a:schemeClr val="tx1"/>
                    </a:gs>
                    <a:gs pos="85000">
                      <a:srgbClr val="2D8499"/>
                    </a:gs>
                  </a:gsLst>
                  <a:lin ang="5400000"/>
                </a:gradFill>
                <a:effectLst>
                  <a:outerShdw blurRad="50800" dist="39000" dir="5460000" algn="tl">
                    <a:srgbClr val="000000">
                      <a:alpha val="38000"/>
                    </a:srgbClr>
                  </a:outerShdw>
                </a:effectLst>
                <a:latin typeface="+mn-lt"/>
                <a:ea typeface="+mn-ea"/>
                <a:cs typeface="+mn-cs"/>
              </a:defRPr>
            </a:lvl1pPr>
          </a:lstStyle>
          <a:p>
            <a:r>
              <a:rPr lang="tr-TR" dirty="0" smtClean="0"/>
              <a:t>ftronline.com</a:t>
            </a:r>
            <a:endParaRPr lang="tr-TR" dirty="0"/>
          </a:p>
        </p:txBody>
      </p:sp>
      <p:sp>
        <p:nvSpPr>
          <p:cNvPr id="6" name="Title 1"/>
          <p:cNvSpPr txBox="1">
            <a:spLocks/>
          </p:cNvSpPr>
          <p:nvPr/>
        </p:nvSpPr>
        <p:spPr>
          <a:xfrm>
            <a:off x="971600" y="548680"/>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outerShdw blurRad="114300" dir="2700000" algn="tl" rotWithShape="0">
                    <a:prstClr val="black">
                      <a:alpha val="51000"/>
                    </a:prstClr>
                  </a:outerShdw>
                </a:effectLst>
                <a:latin typeface="+mj-lt"/>
                <a:ea typeface="+mn-ea"/>
                <a:cs typeface="Arial" charset="0"/>
              </a:defRPr>
            </a:lvl1pPr>
          </a:lstStyle>
          <a:p>
            <a:endParaRPr lang="tr-TR" dirty="0"/>
          </a:p>
        </p:txBody>
      </p:sp>
      <p:sp>
        <p:nvSpPr>
          <p:cNvPr id="8" name="Title 1"/>
          <p:cNvSpPr txBox="1">
            <a:spLocks/>
          </p:cNvSpPr>
          <p:nvPr/>
        </p:nvSpPr>
        <p:spPr>
          <a:xfrm>
            <a:off x="1187624" y="381506"/>
            <a:ext cx="7043208" cy="1523494"/>
          </a:xfrm>
          <a:prstGeom prst="rect">
            <a:avLst/>
          </a:prstGeom>
        </p:spPr>
        <p:txBody>
          <a:bodyPr vert="horz" wrap="square" lIns="0" tIns="0" rIns="0" bIns="0" rtlCol="0" anchor="ctr" anchorCtr="0">
            <a:noAutofit/>
          </a:bodyPr>
          <a:lstStyle>
            <a:lvl1pPr algn="ctr" defTabSz="914363" rtl="0" eaLnBrk="1" latinLnBrk="0" hangingPunct="1">
              <a:lnSpc>
                <a:spcPct val="90000"/>
              </a:lnSpc>
              <a:spcBef>
                <a:spcPct val="0"/>
              </a:spcBef>
              <a:buNone/>
              <a:defRPr lang="en-US" sz="5400" b="1" kern="1200" cap="none" spc="-150">
                <a:ln w="3175">
                  <a:solidFill>
                    <a:schemeClr val="bg2">
                      <a:lumMod val="75000"/>
                      <a:lumOff val="25000"/>
                      <a:alpha val="75000"/>
                    </a:schemeClr>
                  </a:solidFill>
                </a:ln>
                <a:gradFill flip="none" rotWithShape="1">
                  <a:gsLst>
                    <a:gs pos="0">
                      <a:schemeClr val="tx1"/>
                    </a:gs>
                    <a:gs pos="61000">
                      <a:schemeClr val="accent2">
                        <a:lumMod val="20000"/>
                        <a:lumOff val="80000"/>
                      </a:schemeClr>
                    </a:gs>
                    <a:gs pos="86000">
                      <a:schemeClr val="tx1"/>
                    </a:gs>
                  </a:gsLst>
                  <a:lin ang="5400000" scaled="0"/>
                  <a:tileRect/>
                </a:gradFill>
                <a:effectLst/>
                <a:latin typeface="+mj-lt"/>
                <a:ea typeface="+mn-ea"/>
                <a:cs typeface="Arial" charset="0"/>
              </a:defRPr>
            </a:lvl1pPr>
          </a:lstStyle>
          <a:p>
            <a:r>
              <a:rPr lang="tr-TR" sz="7200" b="0" dirty="0" smtClean="0">
                <a:latin typeface="Futura XBlk BT" panose="020B0903020204020204" pitchFamily="34" charset="0"/>
              </a:rPr>
              <a:t>Teşekkürler</a:t>
            </a:r>
            <a:endParaRPr lang="tr-TR" sz="7200" b="0" dirty="0">
              <a:latin typeface="Futura XBlk BT" panose="020B0903020204020204" pitchFamily="34" charset="0"/>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5536" y="1224168"/>
            <a:ext cx="8424936" cy="2348848"/>
          </a:xfrm>
          <a:prstGeom prst="rect">
            <a:avLst/>
          </a:prstGeom>
        </p:spPr>
        <p:txBody>
          <a:bodyPr vert="horz" wrap="square" lIns="0" tIns="0" rIns="0" bIns="0" rtlCol="0">
            <a:spAutoFit/>
          </a:bodyPr>
          <a:lstStyle/>
          <a:p>
            <a:pPr lvl="0"/>
            <a:r>
              <a:rPr lang="tr-TR" dirty="0" smtClean="0"/>
              <a:t>Asıl metin stillerini düzenlemek için tıklatın</a:t>
            </a:r>
          </a:p>
          <a:p>
            <a:pPr lvl="1"/>
            <a:r>
              <a:rPr lang="tr-TR" dirty="0" smtClean="0"/>
              <a:t>İkinci düzey</a:t>
            </a:r>
          </a:p>
          <a:p>
            <a:pPr lvl="2"/>
            <a:r>
              <a:rPr lang="tr-TR" dirty="0" smtClean="0"/>
              <a:t>Üçüncü düzey</a:t>
            </a:r>
          </a:p>
          <a:p>
            <a:pPr lvl="3"/>
            <a:r>
              <a:rPr lang="tr-TR" dirty="0" smtClean="0"/>
              <a:t>Dördüncü düzey</a:t>
            </a:r>
          </a:p>
          <a:p>
            <a:pPr lvl="4"/>
            <a:r>
              <a:rPr lang="tr-TR" dirty="0" smtClean="0"/>
              <a:t>Beşinci düzey</a:t>
            </a:r>
            <a:endParaRPr lang="en-US" dirty="0"/>
          </a:p>
        </p:txBody>
      </p:sp>
      <p:sp>
        <p:nvSpPr>
          <p:cNvPr id="2" name="Başlık Yer Tutucusu 1"/>
          <p:cNvSpPr>
            <a:spLocks noGrp="1"/>
          </p:cNvSpPr>
          <p:nvPr>
            <p:ph type="title"/>
          </p:nvPr>
        </p:nvSpPr>
        <p:spPr>
          <a:xfrm>
            <a:off x="467544" y="404664"/>
            <a:ext cx="8229600" cy="576064"/>
          </a:xfrm>
          <a:prstGeom prst="rect">
            <a:avLst/>
          </a:prstGeom>
        </p:spPr>
        <p:txBody>
          <a:bodyPr vert="horz" lIns="91440" tIns="45720" rIns="91440" bIns="45720" rtlCol="0" anchor="ctr">
            <a:noAutofit/>
          </a:bodyPr>
          <a:lstStyle/>
          <a:p>
            <a:r>
              <a:rPr lang="tr-TR" dirty="0" smtClean="0"/>
              <a:t>Asıl Başlık Stili İçin Tıklatın</a:t>
            </a:r>
            <a:endParaRPr lang="tr-TR" dirty="0"/>
          </a:p>
        </p:txBody>
      </p:sp>
      <p:sp>
        <p:nvSpPr>
          <p:cNvPr id="4" name="Dikdörtgen 3"/>
          <p:cNvSpPr/>
          <p:nvPr/>
        </p:nvSpPr>
        <p:spPr bwMode="auto">
          <a:xfrm>
            <a:off x="179512" y="6552728"/>
            <a:ext cx="8784976" cy="332656"/>
          </a:xfrm>
          <a:prstGeom prst="rect">
            <a:avLst/>
          </a:prstGeom>
          <a:solidFill>
            <a:srgbClr val="FF7F00"/>
          </a:solidFill>
          <a:ln>
            <a:noFill/>
            <a:headEnd type="none" w="med" len="med"/>
            <a:tailEnd type="none" w="med" len="med"/>
          </a:ln>
          <a:effectLst>
            <a:glow>
              <a:schemeClr val="accent1">
                <a:alpha val="48000"/>
              </a:schemeClr>
            </a:glow>
            <a:outerShdw blurRad="50800" dist="38100" dir="16200000" rotWithShape="0">
              <a:prstClr val="black">
                <a:alpha val="40000"/>
              </a:prstClr>
            </a:outerShdw>
            <a:softEdge rad="12700"/>
          </a:effectLst>
        </p:spPr>
        <p:style>
          <a:lnRef idx="3">
            <a:schemeClr val="lt1"/>
          </a:lnRef>
          <a:fillRef idx="1">
            <a:schemeClr val="accent1"/>
          </a:fillRef>
          <a:effectRef idx="1">
            <a:schemeClr val="accent1"/>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tr-TR" sz="1800" spc="1000" baseline="0" dirty="0" smtClean="0">
                <a:solidFill>
                  <a:srgbClr val="FF962D"/>
                </a:solidFill>
                <a:effectLst/>
                <a:latin typeface="Times New Roman" panose="02020603050405020304" pitchFamily="18" charset="0"/>
                <a:cs typeface="Times New Roman" panose="02020603050405020304" pitchFamily="18" charset="0"/>
              </a:rPr>
              <a:t>www.ftronline.com</a:t>
            </a:r>
          </a:p>
        </p:txBody>
      </p:sp>
    </p:spTree>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transition>
    <p:fade/>
  </p:transition>
  <p:txStyles>
    <p:titleStyle>
      <a:lvl1pPr algn="ctr" defTabSz="914363" rtl="0" eaLnBrk="1" latinLnBrk="0" hangingPunct="1">
        <a:lnSpc>
          <a:spcPct val="90000"/>
        </a:lnSpc>
        <a:spcBef>
          <a:spcPct val="0"/>
        </a:spcBef>
        <a:buNone/>
        <a:defRPr lang="en-US" sz="3500" b="0" kern="1200" cap="none" spc="0" dirty="0">
          <a:ln>
            <a:noFill/>
          </a:ln>
          <a:solidFill>
            <a:schemeClr val="bg1">
              <a:lumMod val="85000"/>
              <a:lumOff val="15000"/>
            </a:schemeClr>
          </a:solidFill>
          <a:effectLst/>
          <a:latin typeface="+mj-lt"/>
          <a:ea typeface="Segoe UI" pitchFamily="34" charset="0"/>
          <a:cs typeface="Segoe UI" pitchFamily="34" charset="0"/>
        </a:defRPr>
      </a:lvl1pPr>
    </p:titleStyle>
    <p:bodyStyle>
      <a:lvl1pPr marL="396875" indent="-396875" algn="l" defTabSz="914363" rtl="0" eaLnBrk="1" latinLnBrk="0" hangingPunct="1">
        <a:lnSpc>
          <a:spcPct val="100000"/>
        </a:lnSpc>
        <a:spcBef>
          <a:spcPts val="1400"/>
        </a:spcBef>
        <a:spcAft>
          <a:spcPts val="600"/>
        </a:spcAft>
        <a:buFontTx/>
        <a:buBlip>
          <a:blip r:embed="rId17"/>
        </a:buBlip>
        <a:defRPr sz="2500" kern="1200">
          <a:solidFill>
            <a:schemeClr val="bg1"/>
          </a:solidFill>
          <a:latin typeface="+mj-lt"/>
          <a:ea typeface="+mn-ea"/>
          <a:cs typeface="+mn-cs"/>
        </a:defRPr>
      </a:lvl1pPr>
      <a:lvl2pPr marL="914400" indent="-396875" algn="l" defTabSz="914363" rtl="0" eaLnBrk="1" latinLnBrk="0" hangingPunct="1">
        <a:lnSpc>
          <a:spcPct val="100000"/>
        </a:lnSpc>
        <a:spcBef>
          <a:spcPts val="800"/>
        </a:spcBef>
        <a:spcAft>
          <a:spcPts val="200"/>
        </a:spcAft>
        <a:buFontTx/>
        <a:buBlip>
          <a:blip r:embed="rId17"/>
        </a:buBlip>
        <a:defRPr sz="2400" kern="1200">
          <a:solidFill>
            <a:schemeClr val="bg1"/>
          </a:solidFill>
          <a:latin typeface="+mj-lt"/>
          <a:ea typeface="+mn-ea"/>
          <a:cs typeface="+mn-cs"/>
        </a:defRPr>
      </a:lvl2pPr>
      <a:lvl3pPr marL="1258888" indent="-344488" algn="l" defTabSz="914363" rtl="0" eaLnBrk="1" latinLnBrk="0" hangingPunct="1">
        <a:lnSpc>
          <a:spcPct val="100000"/>
        </a:lnSpc>
        <a:spcBef>
          <a:spcPts val="800"/>
        </a:spcBef>
        <a:buFontTx/>
        <a:buBlip>
          <a:blip r:embed="rId17"/>
        </a:buBlip>
        <a:defRPr sz="2300" kern="1200">
          <a:solidFill>
            <a:schemeClr val="bg1"/>
          </a:solidFill>
          <a:latin typeface="+mj-lt"/>
          <a:ea typeface="+mn-ea"/>
          <a:cs typeface="+mn-cs"/>
        </a:defRPr>
      </a:lvl3pPr>
      <a:lvl4pPr marL="1604963" indent="-346075" algn="l" defTabSz="914363" rtl="0" eaLnBrk="1" latinLnBrk="0" hangingPunct="1">
        <a:lnSpc>
          <a:spcPct val="110000"/>
        </a:lnSpc>
        <a:spcBef>
          <a:spcPts val="700"/>
        </a:spcBef>
        <a:buFontTx/>
        <a:buBlip>
          <a:blip r:embed="rId17"/>
        </a:buBlip>
        <a:defRPr sz="2100" kern="1200">
          <a:solidFill>
            <a:schemeClr val="bg1"/>
          </a:solidFill>
          <a:latin typeface="+mj-lt"/>
          <a:ea typeface="+mn-ea"/>
          <a:cs typeface="+mn-cs"/>
        </a:defRPr>
      </a:lvl4pPr>
      <a:lvl5pPr marL="1941513" indent="-336550" algn="l" defTabSz="914363" rtl="0" eaLnBrk="1" latinLnBrk="0" hangingPunct="1">
        <a:lnSpc>
          <a:spcPct val="110000"/>
        </a:lnSpc>
        <a:spcBef>
          <a:spcPts val="700"/>
        </a:spcBef>
        <a:buFontTx/>
        <a:buBlip>
          <a:blip r:embed="rId17"/>
        </a:buBlip>
        <a:defRPr sz="2000" kern="1200">
          <a:solidFill>
            <a:schemeClr val="bg1"/>
          </a:solidFill>
          <a:latin typeface="+mj-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smtClean="0"/>
              <a:t>Hazırlayan: </a:t>
            </a:r>
            <a:r>
              <a:rPr lang="tr-TR" dirty="0" smtClean="0"/>
              <a:t>Dr. Sertaç Ketenci </a:t>
            </a:r>
            <a:r>
              <a:rPr lang="tr-TR" sz="2400" dirty="0" smtClean="0"/>
              <a:t>2020 Nisan</a:t>
            </a:r>
            <a:endParaRPr lang="tr-TR" sz="2400" dirty="0"/>
          </a:p>
        </p:txBody>
      </p:sp>
      <p:sp>
        <p:nvSpPr>
          <p:cNvPr id="3" name="Başlık 2"/>
          <p:cNvSpPr>
            <a:spLocks noGrp="1"/>
          </p:cNvSpPr>
          <p:nvPr>
            <p:ph type="ctrTitle"/>
          </p:nvPr>
        </p:nvSpPr>
        <p:spPr>
          <a:xfrm>
            <a:off x="611560" y="2636912"/>
            <a:ext cx="8136904" cy="1368152"/>
          </a:xfrm>
        </p:spPr>
        <p:txBody>
          <a:bodyPr/>
          <a:lstStyle/>
          <a:p>
            <a:pPr>
              <a:lnSpc>
                <a:spcPct val="130000"/>
              </a:lnSpc>
              <a:spcAft>
                <a:spcPts val="1200"/>
              </a:spcAft>
            </a:pPr>
            <a:r>
              <a:rPr lang="tr-TR" dirty="0" smtClean="0"/>
              <a:t>2019 </a:t>
            </a:r>
            <a:r>
              <a:rPr lang="tr-TR" dirty="0"/>
              <a:t>EULAR </a:t>
            </a:r>
            <a:r>
              <a:rPr lang="tr-TR" dirty="0" smtClean="0"/>
              <a:t/>
            </a:r>
            <a:br>
              <a:rPr lang="tr-TR" dirty="0" smtClean="0"/>
            </a:br>
            <a:r>
              <a:rPr lang="tr-TR" dirty="0"/>
              <a:t>Romatolojik Hastalıklarda Aşılama </a:t>
            </a:r>
            <a:r>
              <a:rPr lang="tr-TR" dirty="0" smtClean="0"/>
              <a:t>Önerileri</a:t>
            </a:r>
            <a:endParaRPr lang="tr-TR" dirty="0"/>
          </a:p>
        </p:txBody>
      </p:sp>
    </p:spTree>
    <p:extLst>
      <p:ext uri="{BB962C8B-B14F-4D97-AF65-F5344CB8AC3E}">
        <p14:creationId xmlns:p14="http://schemas.microsoft.com/office/powerpoint/2010/main" val="238787619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p:cNvSpPr>
            <a:spLocks noGrp="1"/>
          </p:cNvSpPr>
          <p:nvPr>
            <p:ph type="subTitle" idx="1"/>
          </p:nvPr>
        </p:nvSpPr>
        <p:spPr/>
        <p:txBody>
          <a:bodyPr/>
          <a:lstStyle/>
          <a:p>
            <a:r>
              <a:rPr lang="tr-TR" sz="2400" dirty="0"/>
              <a:t>Hazırlayan: Dr. Sertaç Ketenci 2020 Nisan</a:t>
            </a:r>
          </a:p>
        </p:txBody>
      </p:sp>
      <p:sp>
        <p:nvSpPr>
          <p:cNvPr id="4" name="Başlık 3"/>
          <p:cNvSpPr>
            <a:spLocks noGrp="1"/>
          </p:cNvSpPr>
          <p:nvPr>
            <p:ph type="ctrTitle"/>
          </p:nvPr>
        </p:nvSpPr>
        <p:spPr/>
        <p:txBody>
          <a:bodyPr/>
          <a:lstStyle/>
          <a:p>
            <a:endParaRPr lang="tr-TR"/>
          </a:p>
        </p:txBody>
      </p:sp>
      <p:pic>
        <p:nvPicPr>
          <p:cNvPr id="5" name="Resi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88" y="1484784"/>
            <a:ext cx="9128332" cy="3960440"/>
          </a:xfrm>
          <a:prstGeom prst="rect">
            <a:avLst/>
          </a:prstGeom>
        </p:spPr>
      </p:pic>
    </p:spTree>
    <p:extLst>
      <p:ext uri="{BB962C8B-B14F-4D97-AF65-F5344CB8AC3E}">
        <p14:creationId xmlns:p14="http://schemas.microsoft.com/office/powerpoint/2010/main" val="120729118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a:t>
            </a:r>
            <a:r>
              <a:rPr lang="tr-TR" dirty="0" smtClean="0"/>
              <a:t>Prensipler</a:t>
            </a:r>
            <a:endParaRPr lang="tr-TR" dirty="0"/>
          </a:p>
        </p:txBody>
      </p:sp>
      <p:sp>
        <p:nvSpPr>
          <p:cNvPr id="5" name="Metin Yer Tutucusu 4"/>
          <p:cNvSpPr>
            <a:spLocks noGrp="1"/>
          </p:cNvSpPr>
          <p:nvPr>
            <p:ph idx="1"/>
          </p:nvPr>
        </p:nvSpPr>
        <p:spPr>
          <a:xfrm>
            <a:off x="381000" y="1411552"/>
            <a:ext cx="8382000" cy="4462760"/>
          </a:xfrm>
        </p:spPr>
        <p:txBody>
          <a:bodyPr/>
          <a:lstStyle/>
          <a:p>
            <a:pPr lvl="0"/>
            <a:r>
              <a:rPr lang="tr-TR" dirty="0"/>
              <a:t>1</a:t>
            </a:r>
            <a:r>
              <a:rPr lang="tr-TR" dirty="0" smtClean="0"/>
              <a:t>) Hastanın </a:t>
            </a:r>
            <a:r>
              <a:rPr lang="tr-TR" dirty="0"/>
              <a:t>aşılanma durumu ve ek aşılama gerekliliği yıllık olarak romatoloji ekibince değerlendirilmelidir.</a:t>
            </a:r>
          </a:p>
          <a:p>
            <a:pPr lvl="0"/>
            <a:r>
              <a:rPr lang="tr-TR" dirty="0" smtClean="0"/>
              <a:t>2) Hastaya </a:t>
            </a:r>
            <a:r>
              <a:rPr lang="tr-TR" dirty="0"/>
              <a:t>kişiye özel aşılama programı ile ilgili gerekli açıklamalar yapılıp, birlikte karar alınmasına zemin sağlanmalıdır. </a:t>
            </a:r>
          </a:p>
          <a:p>
            <a:pPr lvl="0"/>
            <a:r>
              <a:rPr lang="tr-TR" dirty="0" smtClean="0"/>
              <a:t>3) Aşılama </a:t>
            </a:r>
            <a:r>
              <a:rPr lang="tr-TR" dirty="0"/>
              <a:t>mümkünse hastalık aktivitesi düşükken yapılmaya çalışılmalıdır</a:t>
            </a:r>
          </a:p>
          <a:p>
            <a:pPr lvl="1"/>
            <a:r>
              <a:rPr lang="tr-TR" dirty="0" smtClean="0"/>
              <a:t>Aşılama </a:t>
            </a:r>
            <a:r>
              <a:rPr lang="tr-TR" dirty="0"/>
              <a:t>ile ilgili çoğu çalışma, stabil hastalık sırasında yapılmış olup aktif hastalıkta yeterli veri durum için yoktur, fakat bu aktif hastalık durumundakilerin gerekli aşıları olmasına engel </a:t>
            </a:r>
            <a:r>
              <a:rPr lang="tr-TR" dirty="0" smtClean="0"/>
              <a:t>olmamalıdır</a:t>
            </a:r>
            <a:endParaRPr lang="tr-TR" dirty="0"/>
          </a:p>
        </p:txBody>
      </p:sp>
    </p:spTree>
    <p:extLst>
      <p:ext uri="{BB962C8B-B14F-4D97-AF65-F5344CB8AC3E}">
        <p14:creationId xmlns:p14="http://schemas.microsoft.com/office/powerpoint/2010/main" val="124577982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a:t>
            </a:r>
            <a:r>
              <a:rPr lang="tr-TR" dirty="0" smtClean="0"/>
              <a:t>Prensipler</a:t>
            </a:r>
            <a:endParaRPr lang="tr-TR" dirty="0"/>
          </a:p>
        </p:txBody>
      </p:sp>
      <p:sp>
        <p:nvSpPr>
          <p:cNvPr id="5" name="Metin Yer Tutucusu 4"/>
          <p:cNvSpPr>
            <a:spLocks noGrp="1"/>
          </p:cNvSpPr>
          <p:nvPr>
            <p:ph idx="1"/>
          </p:nvPr>
        </p:nvSpPr>
        <p:spPr>
          <a:xfrm>
            <a:off x="381000" y="1411552"/>
            <a:ext cx="8382000" cy="3760004"/>
          </a:xfrm>
        </p:spPr>
        <p:txBody>
          <a:bodyPr/>
          <a:lstStyle/>
          <a:p>
            <a:pPr lvl="0"/>
            <a:r>
              <a:rPr lang="tr-TR" dirty="0" smtClean="0"/>
              <a:t>4) İmmünosüpresyon </a:t>
            </a:r>
            <a:r>
              <a:rPr lang="tr-TR" dirty="0"/>
              <a:t>tedavisi planlanmışsa aşılama mümkünse önce yapılmalıdır (özellikle B hücre tedavileri için) </a:t>
            </a:r>
          </a:p>
          <a:p>
            <a:pPr lvl="1"/>
            <a:r>
              <a:rPr lang="tr-TR" dirty="0" smtClean="0"/>
              <a:t>Bu </a:t>
            </a:r>
            <a:r>
              <a:rPr lang="tr-TR" dirty="0"/>
              <a:t>durum gerekli immünosüpresif tedavinin ertelenmesine yol açmamalıdır. </a:t>
            </a:r>
            <a:endParaRPr lang="tr-TR" dirty="0" smtClean="0"/>
          </a:p>
          <a:p>
            <a:pPr lvl="1"/>
            <a:r>
              <a:rPr lang="tr-TR" dirty="0" smtClean="0"/>
              <a:t>Rituksimab </a:t>
            </a:r>
            <a:r>
              <a:rPr lang="tr-TR" dirty="0"/>
              <a:t>tedavisinden önceki 4 hafta veya uygulamayı takip eden 6 aydan sonraki dönem aşılamaya ideal dönemdir. </a:t>
            </a:r>
            <a:endParaRPr lang="tr-TR" dirty="0" smtClean="0"/>
          </a:p>
          <a:p>
            <a:pPr lvl="1"/>
            <a:r>
              <a:rPr lang="tr-TR" dirty="0" smtClean="0"/>
              <a:t>Gerekli </a:t>
            </a:r>
            <a:r>
              <a:rPr lang="tr-TR" dirty="0"/>
              <a:t>durumlarda Rituksimab tedavisi altında da aşılama yapılmalı fakat yetersiz yanıt alınabileceği göz önünde </a:t>
            </a:r>
            <a:r>
              <a:rPr lang="tr-TR" dirty="0" smtClean="0"/>
              <a:t>bulundurulmalıdır</a:t>
            </a:r>
            <a:endParaRPr lang="tr-TR" dirty="0"/>
          </a:p>
        </p:txBody>
      </p:sp>
    </p:spTree>
    <p:extLst>
      <p:ext uri="{BB962C8B-B14F-4D97-AF65-F5344CB8AC3E}">
        <p14:creationId xmlns:p14="http://schemas.microsoft.com/office/powerpoint/2010/main" val="370386392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a:t>
            </a:r>
            <a:r>
              <a:rPr lang="tr-TR" dirty="0" smtClean="0"/>
              <a:t>Prensipler</a:t>
            </a:r>
            <a:endParaRPr lang="tr-TR" dirty="0"/>
          </a:p>
        </p:txBody>
      </p:sp>
      <p:sp>
        <p:nvSpPr>
          <p:cNvPr id="5" name="Metin Yer Tutucusu 4"/>
          <p:cNvSpPr>
            <a:spLocks noGrp="1"/>
          </p:cNvSpPr>
          <p:nvPr>
            <p:ph idx="1"/>
          </p:nvPr>
        </p:nvSpPr>
        <p:spPr>
          <a:xfrm>
            <a:off x="381000" y="1411552"/>
            <a:ext cx="8382000" cy="3919022"/>
          </a:xfrm>
        </p:spPr>
        <p:txBody>
          <a:bodyPr/>
          <a:lstStyle/>
          <a:p>
            <a:pPr lvl="0"/>
            <a:r>
              <a:rPr lang="tr-TR" dirty="0" smtClean="0"/>
              <a:t>5) Hastalara </a:t>
            </a:r>
            <a:r>
              <a:rPr lang="tr-TR" dirty="0"/>
              <a:t>Steroid ve DMARD (biyolojik ve hedefe yönelik dâhil) kullanımları sırasında cansız aşılar uygulanabilir</a:t>
            </a:r>
          </a:p>
          <a:p>
            <a:pPr lvl="0"/>
            <a:r>
              <a:rPr lang="tr-TR" dirty="0" smtClean="0"/>
              <a:t>6) Romatoloji </a:t>
            </a:r>
            <a:r>
              <a:rPr lang="tr-TR" dirty="0"/>
              <a:t>hastalarında canlı aşılar uygulanmadan dikkatli değerlendirme yapılmalıdır </a:t>
            </a:r>
          </a:p>
          <a:p>
            <a:pPr lvl="1"/>
            <a:r>
              <a:rPr lang="tr-TR" dirty="0" smtClean="0"/>
              <a:t>Zayıflatılmış </a:t>
            </a:r>
            <a:r>
              <a:rPr lang="tr-TR" dirty="0"/>
              <a:t>canlı aşılardan immünosüpresif alan hastalarda teorik olarak enfeksiyonlara yol açabileceğinden uzak durulmalıdır. </a:t>
            </a:r>
            <a:endParaRPr lang="tr-TR" dirty="0" smtClean="0"/>
          </a:p>
          <a:p>
            <a:pPr lvl="1"/>
            <a:r>
              <a:rPr lang="tr-TR" dirty="0" smtClean="0"/>
              <a:t>Uzman </a:t>
            </a:r>
            <a:r>
              <a:rPr lang="tr-TR" dirty="0"/>
              <a:t>görüşüne dayalı olarak immünosüpresif tedaviden 4 hafta ve daha önceki dönemde canlı aşıların uygulanabileceği düşünülür. </a:t>
            </a:r>
          </a:p>
        </p:txBody>
      </p:sp>
    </p:spTree>
    <p:extLst>
      <p:ext uri="{BB962C8B-B14F-4D97-AF65-F5344CB8AC3E}">
        <p14:creationId xmlns:p14="http://schemas.microsoft.com/office/powerpoint/2010/main" val="7936653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a:t>
            </a:r>
            <a:r>
              <a:rPr lang="tr-TR" dirty="0" smtClean="0"/>
              <a:t>Prensipler</a:t>
            </a:r>
            <a:endParaRPr lang="tr-TR" dirty="0"/>
          </a:p>
        </p:txBody>
      </p:sp>
      <p:sp>
        <p:nvSpPr>
          <p:cNvPr id="5" name="Metin Yer Tutucusu 4"/>
          <p:cNvSpPr>
            <a:spLocks noGrp="1"/>
          </p:cNvSpPr>
          <p:nvPr>
            <p:ph idx="1"/>
          </p:nvPr>
        </p:nvSpPr>
        <p:spPr>
          <a:xfrm>
            <a:off x="381000" y="1411552"/>
            <a:ext cx="8382000" cy="4052391"/>
          </a:xfrm>
        </p:spPr>
        <p:txBody>
          <a:bodyPr/>
          <a:lstStyle/>
          <a:p>
            <a:pPr lvl="0"/>
            <a:r>
              <a:rPr lang="tr-TR" dirty="0" smtClean="0"/>
              <a:t>6) Romatoloji </a:t>
            </a:r>
            <a:r>
              <a:rPr lang="tr-TR" dirty="0"/>
              <a:t>hastalarında canlı aşılar uygulanmadan dikkatli değerlendirme yapılmalıdır </a:t>
            </a:r>
          </a:p>
          <a:p>
            <a:pPr lvl="1"/>
            <a:r>
              <a:rPr lang="tr-TR" dirty="0" smtClean="0"/>
              <a:t>Bununla </a:t>
            </a:r>
            <a:r>
              <a:rPr lang="tr-TR" dirty="0"/>
              <a:t>beraber MMR ve Herpes Zoster için bir istisna olabilir. </a:t>
            </a:r>
            <a:endParaRPr lang="tr-TR" dirty="0" smtClean="0"/>
          </a:p>
          <a:p>
            <a:pPr lvl="1"/>
            <a:r>
              <a:rPr lang="tr-TR" dirty="0" smtClean="0"/>
              <a:t>Daha </a:t>
            </a:r>
            <a:r>
              <a:rPr lang="tr-TR" dirty="0"/>
              <a:t>çok çocukluk döneminde uygulanan MMR aşısı için küçük serilerde Steroid, MTX ve hatta MTX + </a:t>
            </a:r>
            <a:r>
              <a:rPr lang="tr-TR" dirty="0" smtClean="0"/>
              <a:t>Etanersept </a:t>
            </a:r>
            <a:r>
              <a:rPr lang="tr-TR" dirty="0"/>
              <a:t>alan çocuklarda yeterli yanıt alındığı ve komplikasyona yol açmadığı şeklinde bildirimler yapılmıştır. </a:t>
            </a:r>
            <a:endParaRPr lang="tr-TR" dirty="0" smtClean="0"/>
          </a:p>
          <a:p>
            <a:pPr lvl="1"/>
            <a:r>
              <a:rPr lang="tr-TR" dirty="0" smtClean="0"/>
              <a:t>Bu </a:t>
            </a:r>
            <a:r>
              <a:rPr lang="tr-TR" dirty="0"/>
              <a:t>verilere dayanarak düşük immünosüpresif tedavi altında riskli durumda olan hastalarda ( örneğin riskli bölgeye seyahat ) kızamık </a:t>
            </a:r>
            <a:r>
              <a:rPr lang="tr-TR" dirty="0" err="1"/>
              <a:t>booster</a:t>
            </a:r>
            <a:r>
              <a:rPr lang="tr-TR" dirty="0"/>
              <a:t> aşı yapılması düşünülebilir. </a:t>
            </a:r>
          </a:p>
        </p:txBody>
      </p:sp>
    </p:spTree>
    <p:extLst>
      <p:ext uri="{BB962C8B-B14F-4D97-AF65-F5344CB8AC3E}">
        <p14:creationId xmlns:p14="http://schemas.microsoft.com/office/powerpoint/2010/main" val="32987101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Genel </a:t>
            </a:r>
            <a:r>
              <a:rPr lang="tr-TR" dirty="0" smtClean="0"/>
              <a:t>Prensipler</a:t>
            </a:r>
            <a:endParaRPr lang="tr-TR" dirty="0"/>
          </a:p>
        </p:txBody>
      </p:sp>
      <p:sp>
        <p:nvSpPr>
          <p:cNvPr id="5" name="Metin Yer Tutucusu 4"/>
          <p:cNvSpPr>
            <a:spLocks noGrp="1"/>
          </p:cNvSpPr>
          <p:nvPr>
            <p:ph idx="1"/>
          </p:nvPr>
        </p:nvSpPr>
        <p:spPr>
          <a:xfrm>
            <a:off x="381000" y="1411552"/>
            <a:ext cx="8382000" cy="3149580"/>
          </a:xfrm>
        </p:spPr>
        <p:txBody>
          <a:bodyPr/>
          <a:lstStyle/>
          <a:p>
            <a:pPr lvl="0"/>
            <a:r>
              <a:rPr lang="tr-TR" dirty="0" smtClean="0"/>
              <a:t>6) Romatoloji </a:t>
            </a:r>
            <a:r>
              <a:rPr lang="tr-TR" dirty="0"/>
              <a:t>hastalarında canlı aşılar uygulanmadan dikkatli değerlendirme yapılmalıdır </a:t>
            </a:r>
          </a:p>
          <a:p>
            <a:pPr lvl="1"/>
            <a:r>
              <a:rPr lang="tr-TR" dirty="0" smtClean="0"/>
              <a:t>Yine </a:t>
            </a:r>
            <a:r>
              <a:rPr lang="tr-TR" dirty="0"/>
              <a:t>Herpes Zoster aşısının; bDMARD da içeren immünosüpresif tedavi altındaki 60 yaş üstü romatolojik hastalığı bulunan geniş bir kohortta, 6 haftalık takipte bir olumsuzluğa yol açmadığını gösteren çalışma ve SLE hastalarında 12 haftalık takipte aktivasyon olmadığını gösteren veriler vardır. Buna dayanarak riskli grupta HZ aşısı </a:t>
            </a:r>
            <a:r>
              <a:rPr lang="tr-TR" dirty="0" smtClean="0"/>
              <a:t>düşünülebilir</a:t>
            </a:r>
            <a:endParaRPr lang="tr-TR" dirty="0"/>
          </a:p>
        </p:txBody>
      </p:sp>
    </p:spTree>
    <p:extLst>
      <p:ext uri="{BB962C8B-B14F-4D97-AF65-F5344CB8AC3E}">
        <p14:creationId xmlns:p14="http://schemas.microsoft.com/office/powerpoint/2010/main" val="33053301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160113"/>
          </a:xfrm>
        </p:spPr>
        <p:txBody>
          <a:bodyPr/>
          <a:lstStyle/>
          <a:p>
            <a:r>
              <a:rPr lang="tr-TR" dirty="0"/>
              <a:t>1</a:t>
            </a:r>
            <a:r>
              <a:rPr lang="tr-TR" dirty="0" smtClean="0"/>
              <a:t>) Enflüanza </a:t>
            </a:r>
            <a:r>
              <a:rPr lang="tr-TR" dirty="0"/>
              <a:t>aşısı uygulanması romatolojik hastalığı olanların büyük çoğunluğunda şiddetle düşünülmelidir </a:t>
            </a:r>
          </a:p>
          <a:p>
            <a:pPr lvl="1"/>
            <a:r>
              <a:rPr lang="tr-TR" dirty="0" smtClean="0"/>
              <a:t>Romatolojik </a:t>
            </a:r>
            <a:r>
              <a:rPr lang="tr-TR" dirty="0"/>
              <a:t>hastalığı olanlarda topluma nazaran artmış enflüanza riski vardır.</a:t>
            </a:r>
          </a:p>
          <a:p>
            <a:pPr lvl="1"/>
            <a:r>
              <a:rPr lang="tr-TR" dirty="0" smtClean="0"/>
              <a:t>Fakat </a:t>
            </a:r>
            <a:r>
              <a:rPr lang="tr-TR" dirty="0"/>
              <a:t>sadece NSAID alan </a:t>
            </a:r>
            <a:r>
              <a:rPr lang="tr-TR" dirty="0" err="1"/>
              <a:t>AS’li</a:t>
            </a:r>
            <a:r>
              <a:rPr lang="tr-TR" dirty="0"/>
              <a:t> genç bir hastanın artmış bir enflüanza ilişkili morbidite riski altında olduğu söylenemez.</a:t>
            </a:r>
          </a:p>
          <a:p>
            <a:pPr lvl="1"/>
            <a:r>
              <a:rPr lang="tr-TR" dirty="0" smtClean="0"/>
              <a:t>Bununla </a:t>
            </a:r>
            <a:r>
              <a:rPr lang="tr-TR" dirty="0"/>
              <a:t>beraber romatolojik hastalıkları olanların büyük çoğunluğu aşılamadan fayda görecektir</a:t>
            </a:r>
            <a:r>
              <a:rPr lang="tr-TR" dirty="0" smtClean="0"/>
              <a:t>.</a:t>
            </a:r>
            <a:endParaRPr lang="tr-TR" dirty="0"/>
          </a:p>
        </p:txBody>
      </p:sp>
    </p:spTree>
    <p:extLst>
      <p:ext uri="{BB962C8B-B14F-4D97-AF65-F5344CB8AC3E}">
        <p14:creationId xmlns:p14="http://schemas.microsoft.com/office/powerpoint/2010/main" val="27272600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1411552"/>
            <a:ext cx="8382000" cy="4385816"/>
          </a:xfrm>
        </p:spPr>
        <p:txBody>
          <a:bodyPr/>
          <a:lstStyle/>
          <a:p>
            <a:r>
              <a:rPr lang="tr-TR" dirty="0"/>
              <a:t>1</a:t>
            </a:r>
            <a:r>
              <a:rPr lang="tr-TR" dirty="0" smtClean="0"/>
              <a:t>) Enflüanza </a:t>
            </a:r>
            <a:r>
              <a:rPr lang="tr-TR" dirty="0"/>
              <a:t>aşısı uygulanması romatolojik hastalığı olanların büyük çoğunluğunda şiddetle düşünülmelidir </a:t>
            </a:r>
          </a:p>
          <a:p>
            <a:pPr lvl="1"/>
            <a:r>
              <a:rPr lang="tr-TR" dirty="0" smtClean="0"/>
              <a:t>Trivalan </a:t>
            </a:r>
            <a:r>
              <a:rPr lang="tr-TR" dirty="0"/>
              <a:t>sezonluk grip aşısının romatolojik hastalarda enflüanza insidansı ve buna bağlı bakteriyel komplikasyonlar mortalite ve morbiditeyi azalttığı gösterilmiştir. </a:t>
            </a:r>
            <a:endParaRPr lang="tr-TR" dirty="0" smtClean="0"/>
          </a:p>
          <a:p>
            <a:pPr lvl="1"/>
            <a:r>
              <a:rPr lang="tr-TR" dirty="0" smtClean="0"/>
              <a:t>Enflüanza </a:t>
            </a:r>
            <a:r>
              <a:rPr lang="tr-TR" dirty="0"/>
              <a:t>aşısının RA, SLE, ANCA ilişkili vaskülitler, Skleroderma ve PsA hastalarında Rituksimab hariç tüm DMARD gruplarında uygulandıktan sonra yeterli </a:t>
            </a:r>
            <a:r>
              <a:rPr lang="tr-TR" dirty="0" err="1"/>
              <a:t>immünojeniteyi</a:t>
            </a:r>
            <a:r>
              <a:rPr lang="tr-TR" dirty="0"/>
              <a:t> sağladığını gösterir çalışmalar vardır</a:t>
            </a:r>
            <a:r>
              <a:rPr lang="tr-TR" dirty="0" smtClean="0"/>
              <a:t>.</a:t>
            </a:r>
            <a:endParaRPr lang="tr-TR" dirty="0"/>
          </a:p>
        </p:txBody>
      </p:sp>
    </p:spTree>
    <p:extLst>
      <p:ext uri="{BB962C8B-B14F-4D97-AF65-F5344CB8AC3E}">
        <p14:creationId xmlns:p14="http://schemas.microsoft.com/office/powerpoint/2010/main" val="188912737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260648"/>
            <a:ext cx="8382000" cy="553998"/>
          </a:xfrm>
        </p:spPr>
        <p:txBody>
          <a:bodyPr/>
          <a:lstStyle/>
          <a:p>
            <a:r>
              <a:rPr lang="tr-TR" dirty="0" smtClean="0"/>
              <a:t>Öneriler</a:t>
            </a:r>
            <a:endParaRPr lang="tr-TR" dirty="0"/>
          </a:p>
        </p:txBody>
      </p:sp>
      <p:sp>
        <p:nvSpPr>
          <p:cNvPr id="3" name="Metin Yer Tutucusu 2"/>
          <p:cNvSpPr>
            <a:spLocks noGrp="1"/>
          </p:cNvSpPr>
          <p:nvPr>
            <p:ph type="body" sz="quarter" idx="10"/>
          </p:nvPr>
        </p:nvSpPr>
        <p:spPr>
          <a:xfrm>
            <a:off x="381000" y="836712"/>
            <a:ext cx="8382000" cy="5929828"/>
          </a:xfrm>
        </p:spPr>
        <p:txBody>
          <a:bodyPr/>
          <a:lstStyle/>
          <a:p>
            <a:r>
              <a:rPr lang="tr-TR" dirty="0"/>
              <a:t>1</a:t>
            </a:r>
            <a:r>
              <a:rPr lang="tr-TR" dirty="0" smtClean="0"/>
              <a:t>) Enflüanza </a:t>
            </a:r>
            <a:r>
              <a:rPr lang="tr-TR" dirty="0"/>
              <a:t>aşısı uygulanması romatolojik hastalığı olanların büyük çoğunluğunda şiddetle düşünülmelidir </a:t>
            </a:r>
          </a:p>
          <a:p>
            <a:pPr lvl="1"/>
            <a:r>
              <a:rPr lang="tr-TR" dirty="0" smtClean="0"/>
              <a:t>MTX </a:t>
            </a:r>
            <a:r>
              <a:rPr lang="tr-TR" dirty="0"/>
              <a:t>aşılamadan 2 hafta önce ve sonrasında kesildiğinde daha iyi yanıtlar alındığını gösteren çalışmalar mevcut olsa da şu an için hastalarda MTX kesilmesi önerilmez.</a:t>
            </a:r>
          </a:p>
          <a:p>
            <a:pPr lvl="1"/>
            <a:r>
              <a:rPr lang="tr-TR" dirty="0" err="1" smtClean="0"/>
              <a:t>Monovolan</a:t>
            </a:r>
            <a:r>
              <a:rPr lang="tr-TR" dirty="0" smtClean="0"/>
              <a:t> </a:t>
            </a:r>
            <a:r>
              <a:rPr lang="tr-TR" dirty="0"/>
              <a:t>– </a:t>
            </a:r>
            <a:r>
              <a:rPr lang="tr-TR" dirty="0" err="1"/>
              <a:t>pandemik</a:t>
            </a:r>
            <a:r>
              <a:rPr lang="tr-TR" dirty="0"/>
              <a:t> aşı için çoğunluğu SLE ve RA hastası olan romatizmal hastalığı olan kişilerdeki çalışmalarda aşıya azalmış immün yanıt olduğunun; fakat Rituksimab ve Abatasept kullananlar dışında hastaların çoğunun koruyucu antikor seviyelerine ulaştığının gözlemlendiği bildirilmiştir. </a:t>
            </a:r>
            <a:endParaRPr lang="tr-TR" dirty="0" smtClean="0"/>
          </a:p>
          <a:p>
            <a:pPr lvl="1"/>
            <a:r>
              <a:rPr lang="tr-TR" dirty="0" smtClean="0"/>
              <a:t>Her </a:t>
            </a:r>
            <a:r>
              <a:rPr lang="tr-TR" dirty="0"/>
              <a:t>iki aşının da romatizmal hastalık aktivitelerini arttırmadığı </a:t>
            </a:r>
            <a:r>
              <a:rPr lang="tr-TR" dirty="0" smtClean="0"/>
              <a:t>gösterilmiştir.</a:t>
            </a:r>
            <a:endParaRPr lang="tr-TR" dirty="0"/>
          </a:p>
        </p:txBody>
      </p:sp>
    </p:spTree>
    <p:extLst>
      <p:ext uri="{BB962C8B-B14F-4D97-AF65-F5344CB8AC3E}">
        <p14:creationId xmlns:p14="http://schemas.microsoft.com/office/powerpoint/2010/main" val="5748526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Öneriler</a:t>
            </a:r>
          </a:p>
        </p:txBody>
      </p:sp>
      <p:sp>
        <p:nvSpPr>
          <p:cNvPr id="3" name="Metin Yer Tutucusu 2"/>
          <p:cNvSpPr>
            <a:spLocks noGrp="1"/>
          </p:cNvSpPr>
          <p:nvPr>
            <p:ph type="body" sz="quarter" idx="10"/>
          </p:nvPr>
        </p:nvSpPr>
        <p:spPr>
          <a:xfrm>
            <a:off x="381000" y="1411552"/>
            <a:ext cx="8382000" cy="5124480"/>
          </a:xfrm>
        </p:spPr>
        <p:txBody>
          <a:bodyPr/>
          <a:lstStyle/>
          <a:p>
            <a:r>
              <a:rPr lang="tr-TR" dirty="0"/>
              <a:t>2)	Pnömokok aşısı uygulanması romatolojik hastalığı olanların büyük çoğunluğunda şiddetle düşünülmelidir</a:t>
            </a:r>
          </a:p>
          <a:p>
            <a:pPr lvl="1"/>
            <a:r>
              <a:rPr lang="tr-TR" dirty="0" smtClean="0"/>
              <a:t>RA </a:t>
            </a:r>
            <a:r>
              <a:rPr lang="tr-TR" dirty="0"/>
              <a:t>hastalarında hastaneye yatışın en önemli sebebi pnömonidir (%37) </a:t>
            </a:r>
          </a:p>
          <a:p>
            <a:pPr lvl="1"/>
            <a:r>
              <a:rPr lang="tr-TR" dirty="0" smtClean="0"/>
              <a:t>RA </a:t>
            </a:r>
            <a:r>
              <a:rPr lang="tr-TR" dirty="0"/>
              <a:t>ve SLE hastalığı bizatihi pnömokokal hastalık için ek bir risk faktörüdür</a:t>
            </a:r>
          </a:p>
          <a:p>
            <a:pPr lvl="1"/>
            <a:r>
              <a:rPr lang="tr-TR" dirty="0" smtClean="0"/>
              <a:t>İnvaziv </a:t>
            </a:r>
            <a:r>
              <a:rPr lang="tr-TR" dirty="0"/>
              <a:t>pnömokokal hastalık insidansı topluma nazaran SLE hastalarında 13 kata kadar artmıştır.</a:t>
            </a:r>
          </a:p>
          <a:p>
            <a:pPr lvl="1"/>
            <a:r>
              <a:rPr lang="tr-TR" dirty="0" smtClean="0"/>
              <a:t>2 </a:t>
            </a:r>
            <a:r>
              <a:rPr lang="tr-TR" dirty="0"/>
              <a:t>çeşit pnömokok aşısı bulunmaktadır. </a:t>
            </a:r>
            <a:endParaRPr lang="tr-TR" dirty="0" smtClean="0"/>
          </a:p>
          <a:p>
            <a:pPr lvl="1"/>
            <a:r>
              <a:rPr lang="tr-TR" dirty="0" smtClean="0"/>
              <a:t>23 </a:t>
            </a:r>
            <a:r>
              <a:rPr lang="tr-TR" dirty="0" err="1"/>
              <a:t>valanlı</a:t>
            </a:r>
            <a:r>
              <a:rPr lang="tr-TR" dirty="0"/>
              <a:t> polisakkarit (PPSV23) ve 13 </a:t>
            </a:r>
            <a:r>
              <a:rPr lang="tr-TR" dirty="0" err="1"/>
              <a:t>valanlı</a:t>
            </a:r>
            <a:r>
              <a:rPr lang="tr-TR" dirty="0"/>
              <a:t> konjüge aşı</a:t>
            </a:r>
            <a:r>
              <a:rPr lang="tr-TR" dirty="0" smtClean="0"/>
              <a:t>.</a:t>
            </a:r>
            <a:endParaRPr lang="tr-TR" dirty="0"/>
          </a:p>
        </p:txBody>
      </p:sp>
    </p:spTree>
    <p:extLst>
      <p:ext uri="{BB962C8B-B14F-4D97-AF65-F5344CB8AC3E}">
        <p14:creationId xmlns:p14="http://schemas.microsoft.com/office/powerpoint/2010/main" val="135116819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Öneriler</a:t>
            </a:r>
          </a:p>
        </p:txBody>
      </p:sp>
      <p:sp>
        <p:nvSpPr>
          <p:cNvPr id="3" name="Metin Yer Tutucusu 2"/>
          <p:cNvSpPr>
            <a:spLocks noGrp="1"/>
          </p:cNvSpPr>
          <p:nvPr>
            <p:ph type="body" sz="quarter" idx="10"/>
          </p:nvPr>
        </p:nvSpPr>
        <p:spPr>
          <a:xfrm>
            <a:off x="381000" y="1411552"/>
            <a:ext cx="8382000" cy="4867999"/>
          </a:xfrm>
        </p:spPr>
        <p:txBody>
          <a:bodyPr/>
          <a:lstStyle/>
          <a:p>
            <a:r>
              <a:rPr lang="tr-TR" dirty="0"/>
              <a:t>2)	Pnömokok aşısı uygulanması romatolojik hastalığı olanların büyük çoğunluğunda şiddetle düşünülmelidir</a:t>
            </a:r>
          </a:p>
          <a:p>
            <a:pPr lvl="1"/>
            <a:r>
              <a:rPr lang="tr-TR" dirty="0" smtClean="0"/>
              <a:t>Bir </a:t>
            </a:r>
            <a:r>
              <a:rPr lang="tr-TR" dirty="0"/>
              <a:t>retrospektif çalışmada </a:t>
            </a:r>
            <a:r>
              <a:rPr lang="tr-TR" dirty="0" err="1"/>
              <a:t>RA‘lılarda</a:t>
            </a:r>
            <a:r>
              <a:rPr lang="tr-TR" dirty="0"/>
              <a:t> aşılanmamış hastalarda PPSV23 aşılanmışlara göre pnömoni için rölatif risk 9.7 olarak bulunmuştur. </a:t>
            </a:r>
            <a:endParaRPr lang="tr-TR" dirty="0" smtClean="0"/>
          </a:p>
          <a:p>
            <a:pPr lvl="1"/>
            <a:r>
              <a:rPr lang="tr-TR" dirty="0" smtClean="0"/>
              <a:t>Uzun </a:t>
            </a:r>
            <a:r>
              <a:rPr lang="tr-TR" dirty="0"/>
              <a:t>dönem etkisi RA hastalarında MTX ve biyolojik tedaviler alan grupta ayrı ayrı 7 yıla kadar gösterilmiştir </a:t>
            </a:r>
          </a:p>
          <a:p>
            <a:pPr lvl="1"/>
            <a:r>
              <a:rPr lang="tr-TR" dirty="0" smtClean="0"/>
              <a:t>Her </a:t>
            </a:r>
            <a:r>
              <a:rPr lang="tr-TR" dirty="0"/>
              <a:t>iki aşıya karşı romatizmal hastalıkları olanlarda yapılmış çalışmalarda artmış bir yan etki gözlenmemiş olup; CAPS hastalarında gözlenmiş PPSV23 e karşı ciddi lokal reaksiyonlar bu genellemenin </a:t>
            </a:r>
            <a:r>
              <a:rPr lang="tr-TR" dirty="0" smtClean="0"/>
              <a:t>dışındadır.</a:t>
            </a:r>
            <a:endParaRPr lang="tr-TR" dirty="0"/>
          </a:p>
        </p:txBody>
      </p:sp>
    </p:spTree>
    <p:extLst>
      <p:ext uri="{BB962C8B-B14F-4D97-AF65-F5344CB8AC3E}">
        <p14:creationId xmlns:p14="http://schemas.microsoft.com/office/powerpoint/2010/main" val="73454365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Öneriler</a:t>
            </a:r>
          </a:p>
        </p:txBody>
      </p:sp>
      <p:sp>
        <p:nvSpPr>
          <p:cNvPr id="3" name="Metin Yer Tutucusu 2"/>
          <p:cNvSpPr>
            <a:spLocks noGrp="1"/>
          </p:cNvSpPr>
          <p:nvPr>
            <p:ph type="body" sz="quarter" idx="10"/>
          </p:nvPr>
        </p:nvSpPr>
        <p:spPr>
          <a:xfrm>
            <a:off x="381000" y="1411552"/>
            <a:ext cx="8382000" cy="5093702"/>
          </a:xfrm>
        </p:spPr>
        <p:txBody>
          <a:bodyPr/>
          <a:lstStyle/>
          <a:p>
            <a:r>
              <a:rPr lang="tr-TR" dirty="0"/>
              <a:t>2)	Pnömokok aşısı uygulanması romatolojik hastalığı olanların büyük çoğunluğunda şiddetle düşünülmelidir</a:t>
            </a:r>
          </a:p>
          <a:p>
            <a:pPr lvl="1"/>
            <a:r>
              <a:rPr lang="tr-TR" dirty="0" smtClean="0"/>
              <a:t>Başlangıçta </a:t>
            </a:r>
            <a:r>
              <a:rPr lang="tr-TR" dirty="0"/>
              <a:t>13 </a:t>
            </a:r>
            <a:r>
              <a:rPr lang="tr-TR" dirty="0" err="1"/>
              <a:t>valanlı</a:t>
            </a:r>
            <a:r>
              <a:rPr lang="tr-TR" dirty="0"/>
              <a:t> aşı en az 8 hafta sonra ise 23 </a:t>
            </a:r>
            <a:r>
              <a:rPr lang="tr-TR" dirty="0" err="1"/>
              <a:t>valanlı</a:t>
            </a:r>
            <a:r>
              <a:rPr lang="tr-TR" dirty="0"/>
              <a:t> aşı ile aşılama genel toplum için önerilen aşı rejimdir. Romatolojik hastalarda bu rejimle ilgili yeterli kanıt yoktur. RA </a:t>
            </a:r>
            <a:r>
              <a:rPr lang="tr-TR" dirty="0" err="1"/>
              <a:t>hastlarında</a:t>
            </a:r>
            <a:r>
              <a:rPr lang="tr-TR" dirty="0"/>
              <a:t> 13 </a:t>
            </a:r>
            <a:r>
              <a:rPr lang="tr-TR" dirty="0" err="1"/>
              <a:t>valanlı</a:t>
            </a:r>
            <a:r>
              <a:rPr lang="tr-TR" dirty="0"/>
              <a:t> aşılamayı takiben 16-24 hafta sonrası 23 </a:t>
            </a:r>
            <a:r>
              <a:rPr lang="tr-TR" dirty="0" err="1"/>
              <a:t>valanlı</a:t>
            </a:r>
            <a:r>
              <a:rPr lang="tr-TR" dirty="0"/>
              <a:t> aşının uygulandığı bir çalışmada Rituksimab alanlarda belirgin yanıt azalması gözlenmekle beraber sırasıyla biyolojik DMARD alan grupta %87, konvansiyonel </a:t>
            </a:r>
            <a:r>
              <a:rPr lang="tr-TR" dirty="0" err="1"/>
              <a:t>dmarda</a:t>
            </a:r>
            <a:r>
              <a:rPr lang="tr-TR" dirty="0"/>
              <a:t> alan grupta %94 oranda yeterli yanıta ulaşılmıştır.</a:t>
            </a:r>
          </a:p>
          <a:p>
            <a:pPr lvl="1"/>
            <a:endParaRPr lang="tr-TR" dirty="0"/>
          </a:p>
        </p:txBody>
      </p:sp>
    </p:spTree>
    <p:extLst>
      <p:ext uri="{BB962C8B-B14F-4D97-AF65-F5344CB8AC3E}">
        <p14:creationId xmlns:p14="http://schemas.microsoft.com/office/powerpoint/2010/main" val="262146192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Öneriler</a:t>
            </a:r>
          </a:p>
        </p:txBody>
      </p:sp>
      <p:sp>
        <p:nvSpPr>
          <p:cNvPr id="3" name="Metin Yer Tutucusu 2"/>
          <p:cNvSpPr>
            <a:spLocks noGrp="1"/>
          </p:cNvSpPr>
          <p:nvPr>
            <p:ph type="body" sz="quarter" idx="10"/>
          </p:nvPr>
        </p:nvSpPr>
        <p:spPr>
          <a:xfrm>
            <a:off x="381000" y="1411552"/>
            <a:ext cx="8382000" cy="4801314"/>
          </a:xfrm>
        </p:spPr>
        <p:txBody>
          <a:bodyPr/>
          <a:lstStyle/>
          <a:p>
            <a:r>
              <a:rPr lang="tr-TR" dirty="0"/>
              <a:t>3)	Romatizmal hastalığı olanlar tetanos aşısını sağlıklı toplum önerilere uygun olarak vurulmalıdırlar. B hücre tedavisi alanlarda pasif immünizasyon düşünülmelidir</a:t>
            </a:r>
          </a:p>
          <a:p>
            <a:pPr lvl="1"/>
            <a:r>
              <a:rPr lang="tr-TR" dirty="0" smtClean="0"/>
              <a:t>B </a:t>
            </a:r>
            <a:r>
              <a:rPr lang="tr-TR" dirty="0"/>
              <a:t>hücre tedavisi altında </a:t>
            </a:r>
            <a:r>
              <a:rPr lang="tr-TR" dirty="0" smtClean="0"/>
              <a:t>tetanos </a:t>
            </a:r>
            <a:r>
              <a:rPr lang="tr-TR" dirty="0"/>
              <a:t>aşısı olmuş kişilerde koruyuculukla ilgili herhangi bir veri bulunmamakla beraber diğer aşılardan olan tecrübeye dayanarak bunun azaldığı düşünülebilir. </a:t>
            </a:r>
          </a:p>
          <a:p>
            <a:pPr lvl="1"/>
            <a:r>
              <a:rPr lang="tr-TR" dirty="0" smtClean="0"/>
              <a:t>Uzman </a:t>
            </a:r>
            <a:r>
              <a:rPr lang="tr-TR" dirty="0"/>
              <a:t>görüşü kanıt seviyesinde; B hücre tedavisi altındayken tetanosla ilgili yüksek risk içeren yaralanmalarda hastalara tetanos </a:t>
            </a:r>
            <a:r>
              <a:rPr lang="tr-TR" dirty="0" err="1" smtClean="0"/>
              <a:t>immünglobülini</a:t>
            </a:r>
            <a:r>
              <a:rPr lang="tr-TR" dirty="0" smtClean="0"/>
              <a:t> </a:t>
            </a:r>
            <a:r>
              <a:rPr lang="tr-TR" dirty="0"/>
              <a:t>ile pasif immünizasyon önerilir</a:t>
            </a:r>
          </a:p>
        </p:txBody>
      </p:sp>
    </p:spTree>
    <p:extLst>
      <p:ext uri="{BB962C8B-B14F-4D97-AF65-F5344CB8AC3E}">
        <p14:creationId xmlns:p14="http://schemas.microsoft.com/office/powerpoint/2010/main" val="25375553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4093428"/>
          </a:xfrm>
        </p:spPr>
        <p:txBody>
          <a:bodyPr/>
          <a:lstStyle/>
          <a:p>
            <a:pPr lvl="0"/>
            <a:r>
              <a:rPr lang="tr-TR" dirty="0" smtClean="0"/>
              <a:t>4) Romatizmal hastalığı olan risk grubundaki kişilere Hepatit A ve B aşıları yapılmalıdır - özel durumlarda </a:t>
            </a:r>
            <a:r>
              <a:rPr lang="tr-TR" dirty="0" err="1" smtClean="0"/>
              <a:t>rapel</a:t>
            </a:r>
            <a:r>
              <a:rPr lang="tr-TR" dirty="0" smtClean="0"/>
              <a:t> ve pasif immünizasyon endikedir </a:t>
            </a:r>
          </a:p>
          <a:p>
            <a:pPr lvl="1"/>
            <a:r>
              <a:rPr lang="tr-TR" dirty="0" smtClean="0"/>
              <a:t>Hepatit A aşlaması yapılan RA vb. sebeplerle immünosüpresif alan kişilerde 6 ay sonra </a:t>
            </a:r>
            <a:r>
              <a:rPr lang="tr-TR" dirty="0" err="1" smtClean="0"/>
              <a:t>rapel</a:t>
            </a:r>
            <a:r>
              <a:rPr lang="tr-TR" dirty="0" smtClean="0"/>
              <a:t> yapılıp antikor titreleri muhakkak kontrol edilmelidir.</a:t>
            </a:r>
          </a:p>
          <a:p>
            <a:pPr lvl="1"/>
            <a:r>
              <a:rPr lang="tr-TR" dirty="0" smtClean="0"/>
              <a:t>Endemik bölgeye ani seyahat gerekliliği olan ve aşı takvimine uyamayacak hastalarda HAV pasif immünizasyon düşünülmelidir.</a:t>
            </a:r>
            <a:endParaRPr lang="tr-TR" dirty="0"/>
          </a:p>
        </p:txBody>
      </p:sp>
    </p:spTree>
    <p:extLst>
      <p:ext uri="{BB962C8B-B14F-4D97-AF65-F5344CB8AC3E}">
        <p14:creationId xmlns:p14="http://schemas.microsoft.com/office/powerpoint/2010/main" val="196601730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4929555"/>
          </a:xfrm>
        </p:spPr>
        <p:txBody>
          <a:bodyPr/>
          <a:lstStyle/>
          <a:p>
            <a:pPr lvl="0"/>
            <a:r>
              <a:rPr lang="tr-TR" dirty="0" smtClean="0"/>
              <a:t>4) Romatizmal hastalığı olan risk grubundaki kişilere Hepatit A ve B aşıları yapılmalıdır - özel durumlarda </a:t>
            </a:r>
            <a:r>
              <a:rPr lang="tr-TR" dirty="0" err="1" smtClean="0"/>
              <a:t>rapel</a:t>
            </a:r>
            <a:r>
              <a:rPr lang="tr-TR" dirty="0" smtClean="0"/>
              <a:t> ve pasif immünizasyon endikedir </a:t>
            </a:r>
          </a:p>
          <a:p>
            <a:pPr lvl="1"/>
            <a:r>
              <a:rPr lang="tr-TR" dirty="0" smtClean="0"/>
              <a:t>Hepatit B aşılaması çoğu romatolojik hastada yeterli koruyuculuğu sağlamakla beraber biyolojik DMARD kullanan hastalarda yapılmış 2 çalışmada yeterli antikor titreleri elde edilememiştir. </a:t>
            </a:r>
          </a:p>
          <a:p>
            <a:pPr lvl="1"/>
            <a:r>
              <a:rPr lang="tr-TR" dirty="0" smtClean="0"/>
              <a:t>Endemik bölgelerde yaşayanlar ve diğer risk grubundaki tüm hastalara rutin Hepatit-B aşılaması önerilir.</a:t>
            </a:r>
          </a:p>
          <a:p>
            <a:pPr lvl="1"/>
            <a:r>
              <a:rPr lang="tr-TR" dirty="0" smtClean="0"/>
              <a:t>Daha önceden aşısız olduğu bilinen kişilerde HBV temasında pasif immünizasyon düşünülmelidir</a:t>
            </a:r>
            <a:endParaRPr lang="tr-TR" dirty="0"/>
          </a:p>
        </p:txBody>
      </p:sp>
    </p:spTree>
    <p:extLst>
      <p:ext uri="{BB962C8B-B14F-4D97-AF65-F5344CB8AC3E}">
        <p14:creationId xmlns:p14="http://schemas.microsoft.com/office/powerpoint/2010/main" val="2675706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4031873"/>
          </a:xfrm>
        </p:spPr>
        <p:txBody>
          <a:bodyPr/>
          <a:lstStyle/>
          <a:p>
            <a:pPr lvl="0"/>
            <a:r>
              <a:rPr lang="tr-TR" dirty="0" smtClean="0"/>
              <a:t>5) Herpes Zoster aşısının romatolojik hastalığı olup ek olarak yüksek riskli grupta yer alan kişilere uygulanması düşünülmelidir</a:t>
            </a:r>
          </a:p>
          <a:p>
            <a:pPr lvl="1"/>
            <a:r>
              <a:rPr lang="tr-TR" dirty="0" smtClean="0"/>
              <a:t>Romatolojik hastalığı olanlar HZ enfeksiyonu açısından topluma nazaran daha riskli grupta olup özellikle Miyozit ve SLE hastalarında bu belirgindir.</a:t>
            </a:r>
          </a:p>
          <a:p>
            <a:pPr lvl="1"/>
            <a:r>
              <a:rPr lang="tr-TR" dirty="0" smtClean="0"/>
              <a:t>Romatizmal hastalığı olanlarda kullanılan ilaca bakılmaksızın (biyolojik </a:t>
            </a:r>
            <a:r>
              <a:rPr lang="tr-TR" dirty="0" err="1" smtClean="0"/>
              <a:t>DMARDlar</a:t>
            </a:r>
            <a:r>
              <a:rPr lang="tr-TR" dirty="0" smtClean="0"/>
              <a:t> dahil), uygulanan aşılama 2 yıla kadarki dönemde HZ insidansını belirgin azaltmış bulunmuştur.</a:t>
            </a:r>
            <a:endParaRPr lang="tr-TR" dirty="0"/>
          </a:p>
        </p:txBody>
      </p:sp>
    </p:spTree>
    <p:extLst>
      <p:ext uri="{BB962C8B-B14F-4D97-AF65-F5344CB8AC3E}">
        <p14:creationId xmlns:p14="http://schemas.microsoft.com/office/powerpoint/2010/main" val="296127427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4739759"/>
          </a:xfrm>
        </p:spPr>
        <p:txBody>
          <a:bodyPr/>
          <a:lstStyle/>
          <a:p>
            <a:pPr lvl="0"/>
            <a:r>
              <a:rPr lang="tr-TR" dirty="0" smtClean="0"/>
              <a:t>5) Herpes Zoster aşısının romatolojik hastalığı olup ek olarak yüksek riskli grupta yer alan kişilere uygulanması düşünülmelidir</a:t>
            </a:r>
          </a:p>
          <a:p>
            <a:pPr lvl="1"/>
            <a:r>
              <a:rPr lang="tr-TR" dirty="0" smtClean="0"/>
              <a:t>MTX kullanan RA hastalarında Tofasitinib başlanmadan önceki 2-3 haftalık dönemde yapılan zayıflatılmış aşının 14 haftalık takipte güvenli ve koruyucu olduğu gösterilmiştir.</a:t>
            </a:r>
          </a:p>
          <a:p>
            <a:pPr lvl="1"/>
            <a:r>
              <a:rPr lang="tr-TR" dirty="0" smtClean="0"/>
              <a:t>Artmış enfeksiyon oranları ve (633’ü biyolojik DMARD alan) 463541 romatizma hastasında etkinlik ve güvenilirliğini gösteren çalışmaya dayanılarak zayıflatılmış HZ aşısı uygulanması bu romatolojik hasta grubunda düşünülmelidir..</a:t>
            </a:r>
            <a:endParaRPr lang="tr-TR" dirty="0"/>
          </a:p>
        </p:txBody>
      </p:sp>
    </p:spTree>
    <p:extLst>
      <p:ext uri="{BB962C8B-B14F-4D97-AF65-F5344CB8AC3E}">
        <p14:creationId xmlns:p14="http://schemas.microsoft.com/office/powerpoint/2010/main" val="93118358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3677930"/>
          </a:xfrm>
        </p:spPr>
        <p:txBody>
          <a:bodyPr/>
          <a:lstStyle/>
          <a:p>
            <a:pPr lvl="0"/>
            <a:r>
              <a:rPr lang="tr-TR" dirty="0" smtClean="0"/>
              <a:t>5) Herpes Zoster aşısının romatolojik hastalığı olup ek olarak yüksek riskli grupta yer alan kişilere uygulanması düşünülmelidir</a:t>
            </a:r>
          </a:p>
          <a:p>
            <a:pPr lvl="1"/>
            <a:r>
              <a:rPr lang="tr-TR" dirty="0" smtClean="0"/>
              <a:t>Aşının mümkünse biyolojik DMARD ve </a:t>
            </a:r>
            <a:r>
              <a:rPr lang="tr-TR" dirty="0" err="1" smtClean="0"/>
              <a:t>ts</a:t>
            </a:r>
            <a:r>
              <a:rPr lang="tr-TR" dirty="0" smtClean="0"/>
              <a:t>-DMARD tedavisi sırasında uygulanmayıp tedaviden önceki 4 hafta ve öncesi dönemde uygulanması yeğlenmelidir.</a:t>
            </a:r>
          </a:p>
          <a:p>
            <a:pPr lvl="1"/>
            <a:r>
              <a:rPr lang="tr-TR" dirty="0" smtClean="0"/>
              <a:t>Mart 2018’den itibaren bazı Avrupa ülkelerinde kullanıma sunulan cansız rekombinant HZ aşısının iyi, güvenilir ve etkili bir alternatif olacağı düşünülmektedir.</a:t>
            </a:r>
            <a:endParaRPr lang="tr-TR" dirty="0"/>
          </a:p>
        </p:txBody>
      </p:sp>
    </p:spTree>
    <p:extLst>
      <p:ext uri="{BB962C8B-B14F-4D97-AF65-F5344CB8AC3E}">
        <p14:creationId xmlns:p14="http://schemas.microsoft.com/office/powerpoint/2010/main" val="322462289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3134191"/>
          </a:xfrm>
        </p:spPr>
        <p:txBody>
          <a:bodyPr/>
          <a:lstStyle/>
          <a:p>
            <a:pPr lvl="0"/>
            <a:r>
              <a:rPr lang="tr-TR" dirty="0" smtClean="0"/>
              <a:t>6) Sarı Humma aşılamasından mümkün olduğunca uzak durulmalıdır</a:t>
            </a:r>
          </a:p>
          <a:p>
            <a:pPr lvl="1"/>
            <a:r>
              <a:rPr lang="tr-TR" dirty="0" smtClean="0"/>
              <a:t>Sarıhumma konusunda yeterli veri olmadığı için immünosüpresif alan hastalar aldıkları immünosüpresif ilacın farmakolojik özelliğine göre yeterli sürede ilacı kesip aşılanma yapılmalı ve endemik bölgelere gidilmeden önce yeterli antikor yanıtının oluştuğuna emin olunmalıdır.</a:t>
            </a:r>
            <a:endParaRPr lang="tr-TR" dirty="0"/>
          </a:p>
        </p:txBody>
      </p:sp>
    </p:spTree>
    <p:extLst>
      <p:ext uri="{BB962C8B-B14F-4D97-AF65-F5344CB8AC3E}">
        <p14:creationId xmlns:p14="http://schemas.microsoft.com/office/powerpoint/2010/main" val="154232014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p:txBody>
          <a:bodyPr/>
          <a:lstStyle/>
          <a:p>
            <a:pPr lvl="0"/>
            <a:r>
              <a:rPr lang="tr-TR" smtClean="0"/>
              <a:t>7) Romatizmal hastalığı olanlar; özellikle SLE hastalarına genel popülasyona önerilen şekilde HPV aşısı uygulanmalıdır</a:t>
            </a:r>
          </a:p>
          <a:p>
            <a:pPr lvl="1"/>
            <a:r>
              <a:rPr lang="tr-TR" smtClean="0"/>
              <a:t>SLE hastalarındaki çalışmalar bu gruptaki hastaların yüksek servikal displazi riski içeren HPV serotipleri ile temas açısından yüksek riskli olduğunu göstermektedir.</a:t>
            </a:r>
            <a:endParaRPr lang="tr-TR" dirty="0"/>
          </a:p>
        </p:txBody>
      </p:sp>
    </p:spTree>
    <p:extLst>
      <p:ext uri="{BB962C8B-B14F-4D97-AF65-F5344CB8AC3E}">
        <p14:creationId xmlns:p14="http://schemas.microsoft.com/office/powerpoint/2010/main" val="317438738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p:txBody>
          <a:bodyPr/>
          <a:lstStyle/>
          <a:p>
            <a:pPr lvl="0"/>
            <a:r>
              <a:rPr lang="tr-TR" smtClean="0"/>
              <a:t>7) Romatizmal hastalığı olanlar; özellikle SLE hastalarına genel popülasyona önerilen şekilde HPV aşısı uygulanmalıdır</a:t>
            </a:r>
          </a:p>
          <a:p>
            <a:pPr lvl="1"/>
            <a:r>
              <a:rPr lang="tr-TR" smtClean="0"/>
              <a:t>SLE hastalarında HPV aşısının güvenlik ve etkinlik açısından sağlıklı toplumla benzer sonuçları olduğunu gösteren çalışmalar vardır. </a:t>
            </a:r>
          </a:p>
          <a:p>
            <a:pPr lvl="1"/>
            <a:r>
              <a:rPr lang="tr-TR" smtClean="0"/>
              <a:t>Kuadrivalan HPV aşısının otoimmün hastalık gelişimini tetiklemediği ve mevcut otoimmün hastalıkta alevlenmeye sebep olmadığını gösteren toplum kökenli çalışmalar mevcuttur.</a:t>
            </a:r>
            <a:endParaRPr lang="tr-TR" dirty="0"/>
          </a:p>
        </p:txBody>
      </p:sp>
    </p:spTree>
    <p:extLst>
      <p:ext uri="{BB962C8B-B14F-4D97-AF65-F5344CB8AC3E}">
        <p14:creationId xmlns:p14="http://schemas.microsoft.com/office/powerpoint/2010/main" val="1061176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3867725"/>
          </a:xfrm>
        </p:spPr>
        <p:txBody>
          <a:bodyPr/>
          <a:lstStyle/>
          <a:p>
            <a:pPr lvl="0"/>
            <a:r>
              <a:rPr lang="tr-TR" dirty="0" smtClean="0"/>
              <a:t>8) Romatizmal hastalığı olan kişilerin hane halkına Oral Polio aşısı dışındaki aşıların kılavuzlara uygun şekilde yapılması teşvik edilmelidir</a:t>
            </a:r>
          </a:p>
          <a:p>
            <a:pPr lvl="1"/>
            <a:r>
              <a:rPr lang="tr-TR" dirty="0" smtClean="0"/>
              <a:t>Bu öneriler uzman görüşüne kanıt düzeyindedir.</a:t>
            </a:r>
          </a:p>
          <a:p>
            <a:pPr lvl="1"/>
            <a:r>
              <a:rPr lang="tr-TR" dirty="0" smtClean="0"/>
              <a:t>Aynı evde kalan kişiler polio dışı canlı aşıları olabilirler.</a:t>
            </a:r>
          </a:p>
          <a:p>
            <a:pPr lvl="1"/>
            <a:r>
              <a:rPr lang="tr-TR" dirty="0" smtClean="0"/>
              <a:t>Oral polio aşısı düşük olasılıkla da olsa ev halkından immünsüprese kişilerde aşı ilişkili paralitik poliomiyelit riskini doğurur.</a:t>
            </a:r>
            <a:endParaRPr lang="tr-TR" dirty="0"/>
          </a:p>
        </p:txBody>
      </p:sp>
    </p:spTree>
    <p:extLst>
      <p:ext uri="{BB962C8B-B14F-4D97-AF65-F5344CB8AC3E}">
        <p14:creationId xmlns:p14="http://schemas.microsoft.com/office/powerpoint/2010/main" val="113336765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3739485"/>
          </a:xfrm>
        </p:spPr>
        <p:txBody>
          <a:bodyPr/>
          <a:lstStyle/>
          <a:p>
            <a:pPr lvl="0"/>
            <a:r>
              <a:rPr lang="tr-TR" dirty="0" smtClean="0"/>
              <a:t>8) Romatizmal hastalığı olan kişilerin hane halkına Oral Polio aşısı dışındaki aşıların kılavuzlara uygun şekilde yapılması teşvik edilmelidir</a:t>
            </a:r>
          </a:p>
          <a:p>
            <a:pPr lvl="1"/>
            <a:r>
              <a:rPr lang="tr-TR" dirty="0" smtClean="0"/>
              <a:t>Yoğun immünosüpresyon altındaki kişiler; </a:t>
            </a:r>
            <a:r>
              <a:rPr lang="tr-TR" dirty="0" err="1" smtClean="0"/>
              <a:t>rotavirüse</a:t>
            </a:r>
            <a:r>
              <a:rPr lang="tr-TR" dirty="0" smtClean="0"/>
              <a:t> karşı aşılanmış </a:t>
            </a:r>
            <a:r>
              <a:rPr lang="tr-TR" dirty="0" err="1" smtClean="0"/>
              <a:t>infantların</a:t>
            </a:r>
            <a:r>
              <a:rPr lang="tr-TR" dirty="0" smtClean="0"/>
              <a:t> aşı sonrasındaki 4 haftalık süreçte </a:t>
            </a:r>
            <a:r>
              <a:rPr lang="tr-TR" dirty="0" err="1" smtClean="0"/>
              <a:t>diaper</a:t>
            </a:r>
            <a:r>
              <a:rPr lang="tr-TR" dirty="0" smtClean="0"/>
              <a:t> bölgesine temasından sakınmalıdır. </a:t>
            </a:r>
          </a:p>
          <a:p>
            <a:pPr lvl="1"/>
            <a:r>
              <a:rPr lang="tr-TR" dirty="0" err="1" smtClean="0"/>
              <a:t>Varisella</a:t>
            </a:r>
            <a:r>
              <a:rPr lang="tr-TR" dirty="0" smtClean="0"/>
              <a:t> zoster aşılarından sonraki cilt lezyonlarına temastan kaçınılmalıdır.</a:t>
            </a:r>
            <a:endParaRPr lang="tr-TR" dirty="0"/>
          </a:p>
        </p:txBody>
      </p:sp>
    </p:spTree>
    <p:extLst>
      <p:ext uri="{BB962C8B-B14F-4D97-AF65-F5344CB8AC3E}">
        <p14:creationId xmlns:p14="http://schemas.microsoft.com/office/powerpoint/2010/main" val="70063855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411552"/>
            <a:ext cx="8382000" cy="4031873"/>
          </a:xfrm>
        </p:spPr>
        <p:txBody>
          <a:bodyPr/>
          <a:lstStyle/>
          <a:p>
            <a:pPr lvl="0"/>
            <a:r>
              <a:rPr lang="tr-TR" dirty="0" smtClean="0"/>
              <a:t>9) Canlı aşılar gebeliğin ikinci yarısında biyolojik tedavi kullanmış annelerin yeni doğmuş çocuklarında 6 aya kadar ertelenmelidir.</a:t>
            </a:r>
          </a:p>
          <a:p>
            <a:pPr lvl="1"/>
            <a:r>
              <a:rPr lang="tr-TR" dirty="0" smtClean="0"/>
              <a:t> IgG yapısındaki antikorlar son trimesterde bebeğe geçebildiğinden </a:t>
            </a:r>
            <a:r>
              <a:rPr lang="tr-TR" dirty="0" err="1" smtClean="0"/>
              <a:t>Sertolizumab</a:t>
            </a:r>
            <a:r>
              <a:rPr lang="tr-TR" dirty="0" smtClean="0"/>
              <a:t> </a:t>
            </a:r>
            <a:r>
              <a:rPr lang="tr-TR" dirty="0" err="1" smtClean="0"/>
              <a:t>Pegol</a:t>
            </a:r>
            <a:r>
              <a:rPr lang="tr-TR" dirty="0" smtClean="0"/>
              <a:t> dışı anti-</a:t>
            </a:r>
            <a:r>
              <a:rPr lang="tr-TR" dirty="0" err="1" smtClean="0"/>
              <a:t>TNF’ler</a:t>
            </a:r>
            <a:r>
              <a:rPr lang="tr-TR" dirty="0" smtClean="0"/>
              <a:t> doğum sonrası 6. aya dek bebeklerde tespit edilebilmektedir. </a:t>
            </a:r>
          </a:p>
          <a:p>
            <a:pPr lvl="1"/>
            <a:r>
              <a:rPr lang="tr-TR" dirty="0" err="1" smtClean="0"/>
              <a:t>Sertolizumab</a:t>
            </a:r>
            <a:r>
              <a:rPr lang="tr-TR" dirty="0" smtClean="0"/>
              <a:t> geçişinin olmadığına dair veriler olsa da, aşılamanın güvenli olduğuna dair veriler de mevcut değildir. </a:t>
            </a:r>
            <a:endParaRPr lang="tr-TR" dirty="0"/>
          </a:p>
        </p:txBody>
      </p:sp>
    </p:spTree>
    <p:extLst>
      <p:ext uri="{BB962C8B-B14F-4D97-AF65-F5344CB8AC3E}">
        <p14:creationId xmlns:p14="http://schemas.microsoft.com/office/powerpoint/2010/main" val="415702337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395536" y="332656"/>
            <a:ext cx="8382000" cy="553998"/>
          </a:xfrm>
        </p:spPr>
        <p:txBody>
          <a:bodyPr/>
          <a:lstStyle/>
          <a:p>
            <a:r>
              <a:rPr lang="tr-TR" smtClean="0"/>
              <a:t>Öneriler</a:t>
            </a:r>
            <a:endParaRPr lang="tr-TR" dirty="0"/>
          </a:p>
        </p:txBody>
      </p:sp>
      <p:sp>
        <p:nvSpPr>
          <p:cNvPr id="3" name="Metin Yer Tutucusu 2"/>
          <p:cNvSpPr>
            <a:spLocks noGrp="1"/>
          </p:cNvSpPr>
          <p:nvPr>
            <p:ph type="body" sz="quarter" idx="10"/>
          </p:nvPr>
        </p:nvSpPr>
        <p:spPr>
          <a:xfrm>
            <a:off x="381000" y="1124744"/>
            <a:ext cx="8382000" cy="5221942"/>
          </a:xfrm>
        </p:spPr>
        <p:txBody>
          <a:bodyPr/>
          <a:lstStyle/>
          <a:p>
            <a:pPr lvl="0"/>
            <a:r>
              <a:rPr lang="tr-TR" dirty="0" smtClean="0"/>
              <a:t>9) Canlı aşılar gebeliğin ikinci yarısında biyolojik tedavi kullanmış annelerin yeni doğmuş çocuklarında 6 aya kadar ertelenmelidir.</a:t>
            </a:r>
          </a:p>
          <a:p>
            <a:pPr lvl="1"/>
            <a:r>
              <a:rPr lang="tr-TR" dirty="0" smtClean="0"/>
              <a:t>İnfliksimab kullanmış bir annenin yenidoğan bebeğine yapılmış BCG aşısı sonrası dissemine TBC’ ye bağlı bilinen bir ölüm vakası canlı aşıları 6 ay kadar ertelemenin önemini göstermektedir.</a:t>
            </a:r>
          </a:p>
          <a:p>
            <a:pPr lvl="1"/>
            <a:r>
              <a:rPr lang="tr-TR" dirty="0" smtClean="0"/>
              <a:t>EULAR önerilerine göre sadece 22. hafta ve öncesi biyolojik kullanmış annelerin çocukları rutin aşı protokolüne göre aşılanabilirler.</a:t>
            </a:r>
          </a:p>
          <a:p>
            <a:pPr lvl="1"/>
            <a:r>
              <a:rPr lang="tr-TR" dirty="0" smtClean="0"/>
              <a:t>İkinci trimester geç dönemi ve 3. Trimesterde biyolojik tedavi maruziyeti olmuşsa canlı aşılar doğum sonrası 6. aya kadar ertelenmelidir.</a:t>
            </a:r>
            <a:endParaRPr lang="tr-TR" dirty="0"/>
          </a:p>
        </p:txBody>
      </p:sp>
    </p:spTree>
    <p:extLst>
      <p:ext uri="{BB962C8B-B14F-4D97-AF65-F5344CB8AC3E}">
        <p14:creationId xmlns:p14="http://schemas.microsoft.com/office/powerpoint/2010/main" val="314771884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ctrTitle"/>
          </p:nvPr>
        </p:nvSpPr>
        <p:spPr/>
        <p:txBody>
          <a:bodyPr/>
          <a:lstStyle/>
          <a:p>
            <a:endParaRPr lang="tr-TR"/>
          </a:p>
        </p:txBody>
      </p:sp>
      <p:sp>
        <p:nvSpPr>
          <p:cNvPr id="5" name="Metin Yer Tutucusu 4"/>
          <p:cNvSpPr>
            <a:spLocks noGrp="1"/>
          </p:cNvSpPr>
          <p:nvPr>
            <p:ph type="body" sz="quarter" idx="10"/>
          </p:nvPr>
        </p:nvSpPr>
        <p:spPr/>
        <p:txBody>
          <a:bodyPr/>
          <a:lstStyle/>
          <a:p>
            <a:endParaRPr lang="tr-TR"/>
          </a:p>
        </p:txBody>
      </p:sp>
    </p:spTree>
    <p:extLst>
      <p:ext uri="{BB962C8B-B14F-4D97-AF65-F5344CB8AC3E}">
        <p14:creationId xmlns:p14="http://schemas.microsoft.com/office/powerpoint/2010/main" val="83831120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937427"/>
      </p:ext>
    </p:extLst>
  </p:cSld>
  <p:clrMapOvr>
    <a:masterClrMapping/>
  </p:clrMapOvr>
  <p:transition>
    <p:fade/>
  </p:transition>
</p:sld>
</file>

<file path=ppt/theme/theme1.xml><?xml version="1.0" encoding="utf-8"?>
<a:theme xmlns:a="http://schemas.openxmlformats.org/drawingml/2006/main" name="ender.DL.2019">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labalık">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docProps/app.xml><?xml version="1.0" encoding="utf-8"?>
<Properties xmlns="http://schemas.openxmlformats.org/officeDocument/2006/extended-properties" xmlns:vt="http://schemas.openxmlformats.org/officeDocument/2006/docPropsVTypes">
  <Template>ender.PDF</Template>
  <TotalTime>97</TotalTime>
  <Words>1269</Words>
  <Application>Microsoft Office PowerPoint</Application>
  <PresentationFormat>Ekran Gösterisi (4:3)</PresentationFormat>
  <Paragraphs>108</Paragraphs>
  <Slides>28</Slides>
  <Notes>0</Notes>
  <HiddenSlides>0</HiddenSlides>
  <MMClips>0</MMClips>
  <ScaleCrop>false</ScaleCrop>
  <HeadingPairs>
    <vt:vector size="4" baseType="variant">
      <vt:variant>
        <vt:lpstr>Tema</vt:lpstr>
      </vt:variant>
      <vt:variant>
        <vt:i4>1</vt:i4>
      </vt:variant>
      <vt:variant>
        <vt:lpstr>Slayt Başlıkları</vt:lpstr>
      </vt:variant>
      <vt:variant>
        <vt:i4>28</vt:i4>
      </vt:variant>
    </vt:vector>
  </HeadingPairs>
  <TitlesOfParts>
    <vt:vector size="29" baseType="lpstr">
      <vt:lpstr>ender.DL.2019</vt:lpstr>
      <vt:lpstr>2019 EULAR  Romatolojik Hastalıklarda Aşılama Önerileri</vt:lpstr>
      <vt:lpstr>PowerPoint Sunusu</vt:lpstr>
      <vt:lpstr>Genel Prensipler</vt:lpstr>
      <vt:lpstr>Genel Prensipler</vt:lpstr>
      <vt:lpstr>Genel Prensipler</vt:lpstr>
      <vt:lpstr>Genel Prensipler</vt:lpstr>
      <vt:lpstr>Genel Prensipler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Öneriler</vt:lpstr>
      <vt:lpstr>PowerPoint Sunusu</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2019 EULAR Romatolojik Hastalıklarda Aşılama Önerileri</dc:title>
  <dc:creator>Dr. Sertaç Ketenci</dc:creator>
  <cp:keywords>www.ftronline.com</cp:keywords>
  <cp:lastModifiedBy>Dr.Ender Salbaş</cp:lastModifiedBy>
  <cp:revision>15</cp:revision>
  <dcterms:created xsi:type="dcterms:W3CDTF">2020-05-21T10:11:40Z</dcterms:created>
  <dcterms:modified xsi:type="dcterms:W3CDTF">2020-06-10T12:06:04Z</dcterms:modified>
  <cp:category>2020 Mayıs Literatür</cp:category>
</cp:coreProperties>
</file>